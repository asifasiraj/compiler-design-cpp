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Literaturnaya Bold" charset="1" panose="02020803070505020403"/>
      <p:regular r:id="rId27"/>
    </p:embeddedFont>
    <p:embeddedFont>
      <p:font typeface="Literaturnaya" charset="1" panose="02020503060505020403"/>
      <p:regular r:id="rId28"/>
    </p:embeddedFont>
    <p:embeddedFont>
      <p:font typeface="Arimo" charset="1" panose="020B06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18" Target="../media/image31.png" Type="http://schemas.openxmlformats.org/officeDocument/2006/relationships/image"/><Relationship Id="rId19" Target="../media/image32.sv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33.png" Type="http://schemas.openxmlformats.org/officeDocument/2006/relationships/image"/><Relationship Id="rId21" Target="../media/image34.svg" Type="http://schemas.openxmlformats.org/officeDocument/2006/relationships/image"/><Relationship Id="rId22" Target="../media/image35.png" Type="http://schemas.openxmlformats.org/officeDocument/2006/relationships/image"/><Relationship Id="rId23" Target="../media/image36.svg" Type="http://schemas.openxmlformats.org/officeDocument/2006/relationships/image"/><Relationship Id="rId24" Target="../media/image37.png" Type="http://schemas.openxmlformats.org/officeDocument/2006/relationships/image"/><Relationship Id="rId25" Target="../media/image38.svg" Type="http://schemas.openxmlformats.org/officeDocument/2006/relationships/image"/><Relationship Id="rId3" Target="../media/image4.jpe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55.png" Type="http://schemas.openxmlformats.org/officeDocument/2006/relationships/image"/><Relationship Id="rId21" Target="../media/image56.svg" Type="http://schemas.openxmlformats.org/officeDocument/2006/relationships/image"/><Relationship Id="rId22" Target="../media/image57.png" Type="http://schemas.openxmlformats.org/officeDocument/2006/relationships/image"/><Relationship Id="rId23" Target="../media/image58.svg" Type="http://schemas.openxmlformats.org/officeDocument/2006/relationships/image"/><Relationship Id="rId24" Target="../media/image59.png" Type="http://schemas.openxmlformats.org/officeDocument/2006/relationships/image"/><Relationship Id="rId25" Target="../media/image60.svg" Type="http://schemas.openxmlformats.org/officeDocument/2006/relationships/image"/><Relationship Id="rId26" Target="../media/image61.png" Type="http://schemas.openxmlformats.org/officeDocument/2006/relationships/image"/><Relationship Id="rId27" Target="../media/image62.svg" Type="http://schemas.openxmlformats.org/officeDocument/2006/relationships/image"/><Relationship Id="rId28" Target="../media/image63.png" Type="http://schemas.openxmlformats.org/officeDocument/2006/relationships/image"/><Relationship Id="rId29" Target="../media/image64.svg" Type="http://schemas.openxmlformats.org/officeDocument/2006/relationships/image"/><Relationship Id="rId3" Target="../media/image4.jpeg" Type="http://schemas.openxmlformats.org/officeDocument/2006/relationships/image"/><Relationship Id="rId30" Target="../media/image65.png" Type="http://schemas.openxmlformats.org/officeDocument/2006/relationships/image"/><Relationship Id="rId31" Target="../media/image66.svg" Type="http://schemas.openxmlformats.org/officeDocument/2006/relationships/image"/><Relationship Id="rId32" Target="../media/image67.png" Type="http://schemas.openxmlformats.org/officeDocument/2006/relationships/image"/><Relationship Id="rId33" Target="../media/image68.svg" Type="http://schemas.openxmlformats.org/officeDocument/2006/relationships/image"/><Relationship Id="rId34" Target="../media/image69.png" Type="http://schemas.openxmlformats.org/officeDocument/2006/relationships/image"/><Relationship Id="rId35" Target="../media/image70.svg" Type="http://schemas.openxmlformats.org/officeDocument/2006/relationships/image"/><Relationship Id="rId36" Target="../media/image71.png" Type="http://schemas.openxmlformats.org/officeDocument/2006/relationships/image"/><Relationship Id="rId37" Target="../media/image72.svg" Type="http://schemas.openxmlformats.org/officeDocument/2006/relationships/image"/><Relationship Id="rId38" Target="../media/image73.png" Type="http://schemas.openxmlformats.org/officeDocument/2006/relationships/image"/><Relationship Id="rId39" Target="../media/image74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12" Target="../media/image83.png" Type="http://schemas.openxmlformats.org/officeDocument/2006/relationships/image"/><Relationship Id="rId13" Target="../media/image84.svg" Type="http://schemas.openxmlformats.org/officeDocument/2006/relationships/image"/><Relationship Id="rId14" Target="../media/image85.png" Type="http://schemas.openxmlformats.org/officeDocument/2006/relationships/image"/><Relationship Id="rId15" Target="../media/image86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18" Target="../media/image89.png" Type="http://schemas.openxmlformats.org/officeDocument/2006/relationships/image"/><Relationship Id="rId19" Target="../media/image90.sv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91.png" Type="http://schemas.openxmlformats.org/officeDocument/2006/relationships/image"/><Relationship Id="rId21" Target="../media/image92.svg" Type="http://schemas.openxmlformats.org/officeDocument/2006/relationships/image"/><Relationship Id="rId22" Target="../media/image93.png" Type="http://schemas.openxmlformats.org/officeDocument/2006/relationships/image"/><Relationship Id="rId23" Target="../media/image94.svg" Type="http://schemas.openxmlformats.org/officeDocument/2006/relationships/image"/><Relationship Id="rId24" Target="../media/image95.png" Type="http://schemas.openxmlformats.org/officeDocument/2006/relationships/image"/><Relationship Id="rId25" Target="../media/image96.svg" Type="http://schemas.openxmlformats.org/officeDocument/2006/relationships/image"/><Relationship Id="rId26" Target="../media/image97.png" Type="http://schemas.openxmlformats.org/officeDocument/2006/relationships/image"/><Relationship Id="rId27" Target="../media/image98.svg" Type="http://schemas.openxmlformats.org/officeDocument/2006/relationships/image"/><Relationship Id="rId28" Target="../media/image99.png" Type="http://schemas.openxmlformats.org/officeDocument/2006/relationships/image"/><Relationship Id="rId29" Target="../media/image100.svg" Type="http://schemas.openxmlformats.org/officeDocument/2006/relationships/image"/><Relationship Id="rId3" Target="../media/image4.jpeg" Type="http://schemas.openxmlformats.org/officeDocument/2006/relationships/image"/><Relationship Id="rId30" Target="../media/image101.png" Type="http://schemas.openxmlformats.org/officeDocument/2006/relationships/image"/><Relationship Id="rId31" Target="../media/image102.svg" Type="http://schemas.openxmlformats.org/officeDocument/2006/relationships/image"/><Relationship Id="rId32" Target="../media/image103.png" Type="http://schemas.openxmlformats.org/officeDocument/2006/relationships/image"/><Relationship Id="rId33" Target="../media/image104.svg" Type="http://schemas.openxmlformats.org/officeDocument/2006/relationships/image"/><Relationship Id="rId34" Target="../media/image105.png" Type="http://schemas.openxmlformats.org/officeDocument/2006/relationships/image"/><Relationship Id="rId35" Target="../media/image106.svg" Type="http://schemas.openxmlformats.org/officeDocument/2006/relationships/image"/><Relationship Id="rId36" Target="../media/image107.png" Type="http://schemas.openxmlformats.org/officeDocument/2006/relationships/image"/><Relationship Id="rId37" Target="../media/image108.svg" Type="http://schemas.openxmlformats.org/officeDocument/2006/relationships/image"/><Relationship Id="rId38" Target="../media/image109.png" Type="http://schemas.openxmlformats.org/officeDocument/2006/relationships/image"/><Relationship Id="rId39" Target="../media/image110.svg" Type="http://schemas.openxmlformats.org/officeDocument/2006/relationships/image"/><Relationship Id="rId4" Target="../media/image75.png" Type="http://schemas.openxmlformats.org/officeDocument/2006/relationships/image"/><Relationship Id="rId40" Target="../media/image111.png" Type="http://schemas.openxmlformats.org/officeDocument/2006/relationships/image"/><Relationship Id="rId41" Target="../media/image112.svg" Type="http://schemas.openxmlformats.org/officeDocument/2006/relationships/image"/><Relationship Id="rId42" Target="../media/image113.png" Type="http://schemas.openxmlformats.org/officeDocument/2006/relationships/image"/><Relationship Id="rId43" Target="../media/image114.sv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2.svg" Type="http://schemas.openxmlformats.org/officeDocument/2006/relationships/image"/><Relationship Id="rId12" Target="../media/image123.png" Type="http://schemas.openxmlformats.org/officeDocument/2006/relationships/image"/><Relationship Id="rId13" Target="../media/image124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4.jpeg" Type="http://schemas.openxmlformats.org/officeDocument/2006/relationships/image"/><Relationship Id="rId4" Target="../media/image115.png" Type="http://schemas.openxmlformats.org/officeDocument/2006/relationships/image"/><Relationship Id="rId5" Target="../media/image116.svg" Type="http://schemas.openxmlformats.org/officeDocument/2006/relationships/image"/><Relationship Id="rId6" Target="../media/image117.png" Type="http://schemas.openxmlformats.org/officeDocument/2006/relationships/image"/><Relationship Id="rId7" Target="../media/image118.svg" Type="http://schemas.openxmlformats.org/officeDocument/2006/relationships/image"/><Relationship Id="rId8" Target="../media/image119.png" Type="http://schemas.openxmlformats.org/officeDocument/2006/relationships/image"/><Relationship Id="rId9" Target="../media/image1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png" Type="http://schemas.openxmlformats.org/officeDocument/2006/relationships/image"/><Relationship Id="rId11" Target="../media/image132.svg" Type="http://schemas.openxmlformats.org/officeDocument/2006/relationships/image"/><Relationship Id="rId12" Target="../media/image133.png" Type="http://schemas.openxmlformats.org/officeDocument/2006/relationships/image"/><Relationship Id="rId13" Target="../media/image134.svg" Type="http://schemas.openxmlformats.org/officeDocument/2006/relationships/image"/><Relationship Id="rId14" Target="../media/image135.png" Type="http://schemas.openxmlformats.org/officeDocument/2006/relationships/image"/><Relationship Id="rId15" Target="../media/image136.svg" Type="http://schemas.openxmlformats.org/officeDocument/2006/relationships/image"/><Relationship Id="rId16" Target="../media/image137.png" Type="http://schemas.openxmlformats.org/officeDocument/2006/relationships/image"/><Relationship Id="rId17" Target="../media/image138.svg" Type="http://schemas.openxmlformats.org/officeDocument/2006/relationships/image"/><Relationship Id="rId18" Target="../media/image139.png" Type="http://schemas.openxmlformats.org/officeDocument/2006/relationships/image"/><Relationship Id="rId19" Target="../media/image140.svg" Type="http://schemas.openxmlformats.org/officeDocument/2006/relationships/image"/><Relationship Id="rId2" Target="../notesSlides/notesSlide12.xml" Type="http://schemas.openxmlformats.org/officeDocument/2006/relationships/notesSlide"/><Relationship Id="rId20" Target="../media/image141.png" Type="http://schemas.openxmlformats.org/officeDocument/2006/relationships/image"/><Relationship Id="rId21" Target="../media/image142.svg" Type="http://schemas.openxmlformats.org/officeDocument/2006/relationships/image"/><Relationship Id="rId22" Target="../media/image143.png" Type="http://schemas.openxmlformats.org/officeDocument/2006/relationships/image"/><Relationship Id="rId23" Target="../media/image144.svg" Type="http://schemas.openxmlformats.org/officeDocument/2006/relationships/image"/><Relationship Id="rId3" Target="../media/image4.jpeg" Type="http://schemas.openxmlformats.org/officeDocument/2006/relationships/image"/><Relationship Id="rId4" Target="../media/image125.png" Type="http://schemas.openxmlformats.org/officeDocument/2006/relationships/image"/><Relationship Id="rId5" Target="../media/image126.svg" Type="http://schemas.openxmlformats.org/officeDocument/2006/relationships/image"/><Relationship Id="rId6" Target="../media/image127.png" Type="http://schemas.openxmlformats.org/officeDocument/2006/relationships/image"/><Relationship Id="rId7" Target="../media/image128.svg" Type="http://schemas.openxmlformats.org/officeDocument/2006/relationships/image"/><Relationship Id="rId8" Target="../media/image129.png" Type="http://schemas.openxmlformats.org/officeDocument/2006/relationships/image"/><Relationship Id="rId9" Target="../media/image13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1.png" Type="http://schemas.openxmlformats.org/officeDocument/2006/relationships/image"/><Relationship Id="rId11" Target="../media/image152.svg" Type="http://schemas.openxmlformats.org/officeDocument/2006/relationships/image"/><Relationship Id="rId12" Target="../media/image153.png" Type="http://schemas.openxmlformats.org/officeDocument/2006/relationships/image"/><Relationship Id="rId13" Target="../media/image154.svg" Type="http://schemas.openxmlformats.org/officeDocument/2006/relationships/image"/><Relationship Id="rId14" Target="../media/image155.png" Type="http://schemas.openxmlformats.org/officeDocument/2006/relationships/image"/><Relationship Id="rId15" Target="../media/image156.svg" Type="http://schemas.openxmlformats.org/officeDocument/2006/relationships/image"/><Relationship Id="rId16" Target="../media/image157.png" Type="http://schemas.openxmlformats.org/officeDocument/2006/relationships/image"/><Relationship Id="rId17" Target="../media/image158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4.jpeg" Type="http://schemas.openxmlformats.org/officeDocument/2006/relationships/image"/><Relationship Id="rId4" Target="../media/image145.png" Type="http://schemas.openxmlformats.org/officeDocument/2006/relationships/image"/><Relationship Id="rId5" Target="../media/image146.svg" Type="http://schemas.openxmlformats.org/officeDocument/2006/relationships/image"/><Relationship Id="rId6" Target="../media/image147.png" Type="http://schemas.openxmlformats.org/officeDocument/2006/relationships/image"/><Relationship Id="rId7" Target="../media/image148.svg" Type="http://schemas.openxmlformats.org/officeDocument/2006/relationships/image"/><Relationship Id="rId8" Target="../media/image149.png" Type="http://schemas.openxmlformats.org/officeDocument/2006/relationships/image"/><Relationship Id="rId9" Target="../media/image15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4.jpeg" Type="http://schemas.openxmlformats.org/officeDocument/2006/relationships/image"/><Relationship Id="rId4" Target="../media/image159.png" Type="http://schemas.openxmlformats.org/officeDocument/2006/relationships/image"/><Relationship Id="rId5" Target="../media/image160.svg" Type="http://schemas.openxmlformats.org/officeDocument/2006/relationships/image"/><Relationship Id="rId6" Target="../media/image16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8.png" Type="http://schemas.openxmlformats.org/officeDocument/2006/relationships/image"/><Relationship Id="rId11" Target="../media/image169.svg" Type="http://schemas.openxmlformats.org/officeDocument/2006/relationships/image"/><Relationship Id="rId12" Target="../media/image170.png" Type="http://schemas.openxmlformats.org/officeDocument/2006/relationships/image"/><Relationship Id="rId13" Target="../media/image171.svg" Type="http://schemas.openxmlformats.org/officeDocument/2006/relationships/image"/><Relationship Id="rId14" Target="../media/image172.png" Type="http://schemas.openxmlformats.org/officeDocument/2006/relationships/image"/><Relationship Id="rId15" Target="../media/image173.svg" Type="http://schemas.openxmlformats.org/officeDocument/2006/relationships/image"/><Relationship Id="rId16" Target="../media/image174.png" Type="http://schemas.openxmlformats.org/officeDocument/2006/relationships/image"/><Relationship Id="rId17" Target="../media/image175.svg" Type="http://schemas.openxmlformats.org/officeDocument/2006/relationships/image"/><Relationship Id="rId18" Target="../media/image176.png" Type="http://schemas.openxmlformats.org/officeDocument/2006/relationships/image"/><Relationship Id="rId19" Target="../media/image177.svg" Type="http://schemas.openxmlformats.org/officeDocument/2006/relationships/image"/><Relationship Id="rId2" Target="../notesSlides/notesSlide16.xml" Type="http://schemas.openxmlformats.org/officeDocument/2006/relationships/notesSlide"/><Relationship Id="rId20" Target="../media/image178.png" Type="http://schemas.openxmlformats.org/officeDocument/2006/relationships/image"/><Relationship Id="rId21" Target="../media/image179.svg" Type="http://schemas.openxmlformats.org/officeDocument/2006/relationships/image"/><Relationship Id="rId3" Target="../media/image4.jpeg" Type="http://schemas.openxmlformats.org/officeDocument/2006/relationships/image"/><Relationship Id="rId4" Target="../media/image162.png" Type="http://schemas.openxmlformats.org/officeDocument/2006/relationships/image"/><Relationship Id="rId5" Target="../media/image163.svg" Type="http://schemas.openxmlformats.org/officeDocument/2006/relationships/image"/><Relationship Id="rId6" Target="../media/image164.png" Type="http://schemas.openxmlformats.org/officeDocument/2006/relationships/image"/><Relationship Id="rId7" Target="../media/image165.svg" Type="http://schemas.openxmlformats.org/officeDocument/2006/relationships/image"/><Relationship Id="rId8" Target="../media/image166.png" Type="http://schemas.openxmlformats.org/officeDocument/2006/relationships/image"/><Relationship Id="rId9" Target="../media/image16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4.jpeg" Type="http://schemas.openxmlformats.org/officeDocument/2006/relationships/image"/><Relationship Id="rId4" Target="../media/image180.png" Type="http://schemas.openxmlformats.org/officeDocument/2006/relationships/image"/><Relationship Id="rId5" Target="../media/image18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182.png" Type="http://schemas.openxmlformats.org/officeDocument/2006/relationships/image"/><Relationship Id="rId5" Target="../media/image183.svg" Type="http://schemas.openxmlformats.org/officeDocument/2006/relationships/image"/><Relationship Id="rId6" Target="../media/image4.jpeg" Type="http://schemas.openxmlformats.org/officeDocument/2006/relationships/image"/><Relationship Id="rId7" Target="../media/image184.png" Type="http://schemas.openxmlformats.org/officeDocument/2006/relationships/image"/><Relationship Id="rId8" Target="../media/image18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as2.ftcdn.net/3e5338944d45e5a2ad1e01d4e724fa4a4ae1fbdb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-3368" t="0" r="-336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172A">
                    <a:alpha val="95000"/>
                  </a:srgbClr>
                </a:gs>
                <a:gs pos="50000">
                  <a:srgbClr val="0F172A">
                    <a:alpha val="85000"/>
                  </a:srgbClr>
                </a:gs>
                <a:gs pos="100000">
                  <a:srgbClr val="0F172A">
                    <a:alpha val="70000"/>
                  </a:srgbClr>
                </a:gs>
              </a:gsLst>
              <a:lin ang="3638535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9595" y="1776889"/>
            <a:ext cx="4241482" cy="598170"/>
          </a:xfrm>
          <a:custGeom>
            <a:avLst/>
            <a:gdLst/>
            <a:ahLst/>
            <a:cxnLst/>
            <a:rect r="r" b="b" t="t" l="l"/>
            <a:pathLst>
              <a:path h="598170" w="4241482">
                <a:moveTo>
                  <a:pt x="0" y="0"/>
                </a:moveTo>
                <a:lnTo>
                  <a:pt x="4241483" y="0"/>
                </a:lnTo>
                <a:lnTo>
                  <a:pt x="4241483" y="598170"/>
                </a:lnTo>
                <a:lnTo>
                  <a:pt x="0" y="598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68680" y="2018824"/>
            <a:ext cx="114300" cy="114300"/>
            <a:chOff x="0" y="0"/>
            <a:chExt cx="152400" cy="15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4430" y="1904524"/>
            <a:ext cx="3471862" cy="342900"/>
            <a:chOff x="0" y="0"/>
            <a:chExt cx="4629150" cy="45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29150" cy="457200"/>
            </a:xfrm>
            <a:custGeom>
              <a:avLst/>
              <a:gdLst/>
              <a:ahLst/>
              <a:cxnLst/>
              <a:rect r="r" b="b" t="t" l="l"/>
              <a:pathLst>
                <a:path h="457200" w="4629150">
                  <a:moveTo>
                    <a:pt x="0" y="0"/>
                  </a:moveTo>
                  <a:lnTo>
                    <a:pt x="4629150" y="0"/>
                  </a:lnTo>
                  <a:lnTo>
                    <a:pt x="46291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7286" r="0" b="-1472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46291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COMPILER DESIGN — CT-465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1500" y="2716054"/>
            <a:ext cx="17659350" cy="2571750"/>
            <a:chOff x="0" y="0"/>
            <a:chExt cx="23545800" cy="342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458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23545800">
                  <a:moveTo>
                    <a:pt x="0" y="0"/>
                  </a:moveTo>
                  <a:lnTo>
                    <a:pt x="23545800" y="0"/>
                  </a:lnTo>
                  <a:lnTo>
                    <a:pt x="235458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3797" r="0" b="-837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3545800" cy="3429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Lightweight</a:t>
              </a:r>
              <a:r>
                <a:rPr lang="en-US" sz="81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 Compiler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1500" y="5516404"/>
            <a:ext cx="11144250" cy="557212"/>
            <a:chOff x="0" y="0"/>
            <a:chExt cx="14859000" cy="7429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859000" cy="742950"/>
            </a:xfrm>
            <a:custGeom>
              <a:avLst/>
              <a:gdLst/>
              <a:ahLst/>
              <a:cxnLst/>
              <a:rect r="r" b="b" t="t" l="l"/>
              <a:pathLst>
                <a:path h="742950" w="14859000">
                  <a:moveTo>
                    <a:pt x="0" y="0"/>
                  </a:moveTo>
                  <a:lnTo>
                    <a:pt x="14859000" y="0"/>
                  </a:lnTo>
                  <a:lnTo>
                    <a:pt x="148590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14859000" cy="866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270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Design &amp; Implementation of a Full-Pipeline C++ Subset Compiler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69595" y="6757511"/>
            <a:ext cx="2198370" cy="883920"/>
          </a:xfrm>
          <a:custGeom>
            <a:avLst/>
            <a:gdLst/>
            <a:ahLst/>
            <a:cxnLst/>
            <a:rect r="r" b="b" t="t" l="l"/>
            <a:pathLst>
              <a:path h="883920" w="2198370">
                <a:moveTo>
                  <a:pt x="0" y="0"/>
                </a:moveTo>
                <a:lnTo>
                  <a:pt x="2198370" y="0"/>
                </a:lnTo>
                <a:lnTo>
                  <a:pt x="219837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5108" y="7056415"/>
            <a:ext cx="250031" cy="285750"/>
          </a:xfrm>
          <a:custGeom>
            <a:avLst/>
            <a:gdLst/>
            <a:ahLst/>
            <a:cxnLst/>
            <a:rect r="r" b="b" t="t" l="l"/>
            <a:pathLst>
              <a:path h="285750" w="250031">
                <a:moveTo>
                  <a:pt x="0" y="0"/>
                </a:moveTo>
                <a:lnTo>
                  <a:pt x="250031" y="0"/>
                </a:lnTo>
                <a:lnTo>
                  <a:pt x="250031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40168" y="6942296"/>
            <a:ext cx="1285875" cy="285750"/>
            <a:chOff x="0" y="0"/>
            <a:chExt cx="1714500" cy="38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14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714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JavaScript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40168" y="7228046"/>
            <a:ext cx="1271588" cy="228600"/>
            <a:chOff x="0" y="0"/>
            <a:chExt cx="1695450" cy="304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95450" cy="304800"/>
            </a:xfrm>
            <a:custGeom>
              <a:avLst/>
              <a:gdLst/>
              <a:ahLst/>
              <a:cxnLst/>
              <a:rect r="r" b="b" t="t" l="l"/>
              <a:pathLst>
                <a:path h="304800" w="1695450">
                  <a:moveTo>
                    <a:pt x="0" y="0"/>
                  </a:moveTo>
                  <a:lnTo>
                    <a:pt x="1695450" y="0"/>
                  </a:lnTo>
                  <a:lnTo>
                    <a:pt x="1695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385" r="0" b="-5838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6954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Implementation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222603" y="6757511"/>
            <a:ext cx="2384108" cy="883920"/>
          </a:xfrm>
          <a:custGeom>
            <a:avLst/>
            <a:gdLst/>
            <a:ahLst/>
            <a:cxnLst/>
            <a:rect r="r" b="b" t="t" l="l"/>
            <a:pathLst>
              <a:path h="883920" w="2384108">
                <a:moveTo>
                  <a:pt x="0" y="0"/>
                </a:moveTo>
                <a:lnTo>
                  <a:pt x="2384107" y="0"/>
                </a:lnTo>
                <a:lnTo>
                  <a:pt x="2384107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500257" y="705641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3993175" y="6942296"/>
            <a:ext cx="1471612" cy="285750"/>
            <a:chOff x="0" y="0"/>
            <a:chExt cx="1962150" cy="38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62150" cy="381000"/>
            </a:xfrm>
            <a:custGeom>
              <a:avLst/>
              <a:gdLst/>
              <a:ahLst/>
              <a:cxnLst/>
              <a:rect r="r" b="b" t="t" l="l"/>
              <a:pathLst>
                <a:path h="381000" w="1962150">
                  <a:moveTo>
                    <a:pt x="0" y="0"/>
                  </a:moveTo>
                  <a:lnTo>
                    <a:pt x="1962150" y="0"/>
                  </a:lnTo>
                  <a:lnTo>
                    <a:pt x="1962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0347" r="0" b="-5034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9621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6 Phases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993175" y="7228046"/>
            <a:ext cx="1457325" cy="228600"/>
            <a:chOff x="0" y="0"/>
            <a:chExt cx="1943100" cy="304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3100" cy="304800"/>
            </a:xfrm>
            <a:custGeom>
              <a:avLst/>
              <a:gdLst/>
              <a:ahLst/>
              <a:cxnLst/>
              <a:rect r="r" b="b" t="t" l="l"/>
              <a:pathLst>
                <a:path h="304800" w="1943100">
                  <a:moveTo>
                    <a:pt x="0" y="0"/>
                  </a:moveTo>
                  <a:lnTo>
                    <a:pt x="1943100" y="0"/>
                  </a:lnTo>
                  <a:lnTo>
                    <a:pt x="19431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4217" r="0" b="-7421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9431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Complete Pipeline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6066358" y="6757511"/>
            <a:ext cx="2526983" cy="883920"/>
          </a:xfrm>
          <a:custGeom>
            <a:avLst/>
            <a:gdLst/>
            <a:ahLst/>
            <a:cxnLst/>
            <a:rect r="r" b="b" t="t" l="l"/>
            <a:pathLst>
              <a:path h="883920" w="2526983">
                <a:moveTo>
                  <a:pt x="0" y="0"/>
                </a:moveTo>
                <a:lnTo>
                  <a:pt x="2526983" y="0"/>
                </a:lnTo>
                <a:lnTo>
                  <a:pt x="2526983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344002" y="705641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6836931" y="6942296"/>
            <a:ext cx="1614488" cy="285750"/>
            <a:chOff x="0" y="0"/>
            <a:chExt cx="2152650" cy="381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52650" cy="381000"/>
            </a:xfrm>
            <a:custGeom>
              <a:avLst/>
              <a:gdLst/>
              <a:ahLst/>
              <a:cxnLst/>
              <a:rect r="r" b="b" t="t" l="l"/>
              <a:pathLst>
                <a:path h="381000" w="2152650">
                  <a:moveTo>
                    <a:pt x="0" y="0"/>
                  </a:moveTo>
                  <a:lnTo>
                    <a:pt x="2152650" y="0"/>
                  </a:lnTo>
                  <a:lnTo>
                    <a:pt x="21526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0090" r="0" b="-600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1526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Web IDE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36931" y="7228046"/>
            <a:ext cx="1600200" cy="228600"/>
            <a:chOff x="0" y="0"/>
            <a:chExt cx="2133600" cy="304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33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21336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Interactive Interface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71500" y="8852535"/>
            <a:ext cx="17145000" cy="11430"/>
            <a:chOff x="0" y="0"/>
            <a:chExt cx="22860000" cy="152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860000" cy="15240"/>
            </a:xfrm>
            <a:custGeom>
              <a:avLst/>
              <a:gdLst/>
              <a:ahLst/>
              <a:cxnLst/>
              <a:rect r="r" b="b" t="t" l="l"/>
              <a:pathLst>
                <a:path h="1524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15240"/>
                  </a:lnTo>
                  <a:lnTo>
                    <a:pt x="0" y="15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BDF8">
                <a:alpha val="392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71500" y="9144181"/>
            <a:ext cx="1343025" cy="285750"/>
            <a:chOff x="0" y="0"/>
            <a:chExt cx="1790700" cy="38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90700" cy="381000"/>
            </a:xfrm>
            <a:custGeom>
              <a:avLst/>
              <a:gdLst/>
              <a:ahLst/>
              <a:cxnLst/>
              <a:rect r="r" b="b" t="t" l="l"/>
              <a:pathLst>
                <a:path h="381000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579" r="0" b="-4157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7907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Areeba Batool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71500" y="9487081"/>
            <a:ext cx="1328738" cy="228600"/>
            <a:chOff x="0" y="0"/>
            <a:chExt cx="1771650" cy="304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71650" cy="304800"/>
            </a:xfrm>
            <a:custGeom>
              <a:avLst/>
              <a:gdLst/>
              <a:ahLst/>
              <a:cxnLst/>
              <a:rect r="r" b="b" t="t" l="l"/>
              <a:pathLst>
                <a:path h="304800" w="1771650">
                  <a:moveTo>
                    <a:pt x="0" y="0"/>
                  </a:moveTo>
                  <a:lnTo>
                    <a:pt x="1771650" y="0"/>
                  </a:lnTo>
                  <a:lnTo>
                    <a:pt x="17716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3256" r="0" b="-6325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7716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CT-22059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266712" y="9144181"/>
            <a:ext cx="1828800" cy="285750"/>
            <a:chOff x="0" y="0"/>
            <a:chExt cx="2438400" cy="381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4384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Syeda Shinza Wasif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266712" y="9487081"/>
            <a:ext cx="1814512" cy="228600"/>
            <a:chOff x="0" y="0"/>
            <a:chExt cx="2419350" cy="304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19350" cy="304800"/>
            </a:xfrm>
            <a:custGeom>
              <a:avLst/>
              <a:gdLst/>
              <a:ahLst/>
              <a:cxnLst/>
              <a:rect r="r" b="b" t="t" l="l"/>
              <a:pathLst>
                <a:path h="304800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4662" r="0" b="-10466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4193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CT-22063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455195" y="9144181"/>
            <a:ext cx="971550" cy="285750"/>
            <a:chOff x="0" y="0"/>
            <a:chExt cx="1295400" cy="381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95400" cy="381000"/>
            </a:xfrm>
            <a:custGeom>
              <a:avLst/>
              <a:gdLst/>
              <a:ahLst/>
              <a:cxnLst/>
              <a:rect r="r" b="b" t="t" l="l"/>
              <a:pathLst>
                <a:path h="381000" w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2954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Asifa Siraj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455195" y="9487081"/>
            <a:ext cx="957262" cy="228600"/>
            <a:chOff x="0" y="0"/>
            <a:chExt cx="1276350" cy="304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76350" cy="304800"/>
            </a:xfrm>
            <a:custGeom>
              <a:avLst/>
              <a:gdLst/>
              <a:ahLst/>
              <a:cxnLst/>
              <a:rect r="r" b="b" t="t" l="l"/>
              <a:pathLst>
                <a:path h="304800" w="1276350">
                  <a:moveTo>
                    <a:pt x="0" y="0"/>
                  </a:moveTo>
                  <a:lnTo>
                    <a:pt x="1276350" y="0"/>
                  </a:lnTo>
                  <a:lnTo>
                    <a:pt x="12763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593" r="0" b="-3159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2763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CT-22070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34218" y="9086850"/>
            <a:ext cx="5386388" cy="285750"/>
            <a:chOff x="0" y="0"/>
            <a:chExt cx="7181850" cy="381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81850" cy="381000"/>
            </a:xfrm>
            <a:custGeom>
              <a:avLst/>
              <a:gdLst/>
              <a:ahLst/>
              <a:cxnLst/>
              <a:rect r="r" b="b" t="t" l="l"/>
              <a:pathLst>
                <a:path h="381000" w="7181850">
                  <a:moveTo>
                    <a:pt x="0" y="0"/>
                  </a:moveTo>
                  <a:lnTo>
                    <a:pt x="7181850" y="0"/>
                  </a:lnTo>
                  <a:lnTo>
                    <a:pt x="7181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7292" r="0" b="-31729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181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Department of Computer Science &amp; Information Technology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34218" y="9429750"/>
            <a:ext cx="5386388" cy="285750"/>
            <a:chOff x="0" y="0"/>
            <a:chExt cx="7181850" cy="381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181850" cy="381000"/>
            </a:xfrm>
            <a:custGeom>
              <a:avLst/>
              <a:gdLst/>
              <a:ahLst/>
              <a:cxnLst/>
              <a:rect r="r" b="b" t="t" l="l"/>
              <a:pathLst>
                <a:path h="381000" w="7181850">
                  <a:moveTo>
                    <a:pt x="0" y="0"/>
                  </a:moveTo>
                  <a:lnTo>
                    <a:pt x="7181850" y="0"/>
                  </a:lnTo>
                  <a:lnTo>
                    <a:pt x="7181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7292" r="0" b="-31729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181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68"/>
                </a:lnSpc>
              </a:pPr>
              <a:r>
                <a:rPr lang="en-US" sz="15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45012" cy="285750"/>
            <a:chOff x="0" y="0"/>
            <a:chExt cx="229933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Presentation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971550"/>
            <a:ext cx="17487900" cy="685800"/>
            <a:chOff x="0" y="0"/>
            <a:chExt cx="233172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1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23825"/>
              <a:ext cx="23317200" cy="79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Table of Contents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0075" y="2000250"/>
            <a:ext cx="8372475" cy="1800225"/>
            <a:chOff x="0" y="0"/>
            <a:chExt cx="11163300" cy="2400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0075" y="2000250"/>
            <a:ext cx="57150" cy="1800225"/>
            <a:chOff x="0" y="0"/>
            <a:chExt cx="76200" cy="2400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222885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1741" y="2371725"/>
            <a:ext cx="442912" cy="400050"/>
            <a:chOff x="0" y="0"/>
            <a:chExt cx="59055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0550" cy="533400"/>
            </a:xfrm>
            <a:custGeom>
              <a:avLst/>
              <a:gdLst/>
              <a:ahLst/>
              <a:cxnLst/>
              <a:rect r="r" b="b" t="t" l="l"/>
              <a:pathLst>
                <a:path h="5334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905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71650" y="2228850"/>
            <a:ext cx="7100888" cy="400050"/>
            <a:chOff x="0" y="0"/>
            <a:chExt cx="946785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Problem Statement &amp; Learning Outcomes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71650" y="2686050"/>
            <a:ext cx="7072312" cy="328612"/>
            <a:chOff x="0" y="0"/>
            <a:chExt cx="9429750" cy="438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Project overview, motivation, learning outcomes, and scope definition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44025" y="2000250"/>
            <a:ext cx="8372475" cy="1800225"/>
            <a:chOff x="0" y="0"/>
            <a:chExt cx="11163300" cy="24003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44025" y="2000250"/>
            <a:ext cx="57150" cy="1800225"/>
            <a:chOff x="0" y="0"/>
            <a:chExt cx="76200" cy="24003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0" y="222885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69793" y="2371725"/>
            <a:ext cx="485775" cy="400050"/>
            <a:chOff x="0" y="0"/>
            <a:chExt cx="647700" cy="533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477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15600" y="2228850"/>
            <a:ext cx="7100888" cy="400050"/>
            <a:chOff x="0" y="0"/>
            <a:chExt cx="946785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Language Features &amp; Design Decisions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15600" y="2686050"/>
            <a:ext cx="7072312" cy="328612"/>
            <a:chOff x="0" y="0"/>
            <a:chExt cx="9429750" cy="4381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Supported constructs, data types, operators, and intentional exclusions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00075" y="3971925"/>
            <a:ext cx="8372475" cy="1800225"/>
            <a:chOff x="0" y="0"/>
            <a:chExt cx="11163300" cy="2400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00075" y="3971925"/>
            <a:ext cx="57150" cy="1800225"/>
            <a:chOff x="0" y="0"/>
            <a:chExt cx="76200" cy="2400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57250" y="4200525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A78BFA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24595" y="4343400"/>
            <a:ext cx="500062" cy="400050"/>
            <a:chOff x="0" y="0"/>
            <a:chExt cx="666750" cy="533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66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71650" y="4200525"/>
            <a:ext cx="7100888" cy="400050"/>
            <a:chOff x="0" y="0"/>
            <a:chExt cx="946785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Compiler Architecture &amp; Pipeline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71650" y="4657725"/>
            <a:ext cx="7072312" cy="328612"/>
            <a:chOff x="0" y="0"/>
            <a:chExt cx="9429750" cy="4381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Complete 6-phase pipeline from source code to virtual machine execution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44025" y="3971925"/>
            <a:ext cx="8372475" cy="1800225"/>
            <a:chOff x="0" y="0"/>
            <a:chExt cx="11163300" cy="24003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344025" y="3971925"/>
            <a:ext cx="57150" cy="1800225"/>
            <a:chOff x="0" y="0"/>
            <a:chExt cx="76200" cy="24003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601200" y="4200525"/>
            <a:ext cx="685800" cy="685800"/>
            <a:chOff x="0" y="0"/>
            <a:chExt cx="91440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472B6">
                <a:alpha val="784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768726" y="4343400"/>
            <a:ext cx="500062" cy="400050"/>
            <a:chOff x="0" y="0"/>
            <a:chExt cx="666750" cy="533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66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472B6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515600" y="4200525"/>
            <a:ext cx="7100888" cy="400050"/>
            <a:chOff x="0" y="0"/>
            <a:chExt cx="9467850" cy="533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Lexical &amp; Syntax Analysis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515600" y="4657725"/>
            <a:ext cx="7072312" cy="328612"/>
            <a:chOff x="0" y="0"/>
            <a:chExt cx="9429750" cy="4381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DFA-based lexer, recursive descent parser, and AST construction details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0075" y="5943600"/>
            <a:ext cx="8372475" cy="1800225"/>
            <a:chOff x="0" y="0"/>
            <a:chExt cx="11163300" cy="24003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00075" y="5943600"/>
            <a:ext cx="57150" cy="1800225"/>
            <a:chOff x="0" y="0"/>
            <a:chExt cx="76200" cy="24003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57250" y="6172200"/>
            <a:ext cx="685800" cy="685800"/>
            <a:chOff x="0" y="0"/>
            <a:chExt cx="91440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B923C">
                <a:alpha val="784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26557" y="6315075"/>
            <a:ext cx="485775" cy="400050"/>
            <a:chOff x="0" y="0"/>
            <a:chExt cx="647700" cy="533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6477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B923C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771650" y="6172200"/>
            <a:ext cx="7100888" cy="400050"/>
            <a:chOff x="0" y="0"/>
            <a:chExt cx="9467850" cy="533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Semantic Analysis &amp; IR Generation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771650" y="6629400"/>
            <a:ext cx="7072312" cy="328612"/>
            <a:chOff x="0" y="0"/>
            <a:chExt cx="9429750" cy="4381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Single-pass design, scoped symbol tables, and Three-Address Code generation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44025" y="5943600"/>
            <a:ext cx="8372475" cy="1800225"/>
            <a:chOff x="0" y="0"/>
            <a:chExt cx="11163300" cy="24003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344025" y="5943600"/>
            <a:ext cx="57150" cy="1800225"/>
            <a:chOff x="0" y="0"/>
            <a:chExt cx="76200" cy="24003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601200" y="6172200"/>
            <a:ext cx="685800" cy="685800"/>
            <a:chOff x="0" y="0"/>
            <a:chExt cx="914400" cy="914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2D3EE">
                <a:alpha val="784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67468" y="6315075"/>
            <a:ext cx="500062" cy="400050"/>
            <a:chOff x="0" y="0"/>
            <a:chExt cx="666750" cy="533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666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06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515600" y="6172200"/>
            <a:ext cx="7100888" cy="400050"/>
            <a:chOff x="0" y="0"/>
            <a:chExt cx="9467850" cy="533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Code Generation &amp; Virtual Machine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515600" y="6629400"/>
            <a:ext cx="7072312" cy="328612"/>
            <a:chOff x="0" y="0"/>
            <a:chExt cx="9429750" cy="43815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x86-64 pseudo-assembly generation and in-memory VM execution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00075" y="7915275"/>
            <a:ext cx="8372475" cy="1800225"/>
            <a:chOff x="0" y="0"/>
            <a:chExt cx="11163300" cy="24003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00075" y="7915275"/>
            <a:ext cx="57150" cy="1800225"/>
            <a:chOff x="0" y="0"/>
            <a:chExt cx="76200" cy="24003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857250" y="8143875"/>
            <a:ext cx="685800" cy="685800"/>
            <a:chOff x="0" y="0"/>
            <a:chExt cx="91440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ADE80">
                <a:alpha val="784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35844" y="8286750"/>
            <a:ext cx="471488" cy="400050"/>
            <a:chOff x="0" y="0"/>
            <a:chExt cx="628650" cy="533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28650" cy="533400"/>
            </a:xfrm>
            <a:custGeom>
              <a:avLst/>
              <a:gdLst/>
              <a:ahLst/>
              <a:cxnLst/>
              <a:rect r="r" b="b" t="t" l="l"/>
              <a:pathLst>
                <a:path h="533400" w="628650">
                  <a:moveTo>
                    <a:pt x="0" y="0"/>
                  </a:moveTo>
                  <a:lnTo>
                    <a:pt x="628650" y="0"/>
                  </a:lnTo>
                  <a:lnTo>
                    <a:pt x="628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863" t="0" r="-5886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6286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4ADE80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07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771650" y="8143875"/>
            <a:ext cx="7100888" cy="400050"/>
            <a:chOff x="0" y="0"/>
            <a:chExt cx="9467850" cy="533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Testing, Performance &amp; Results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771650" y="8601075"/>
            <a:ext cx="7072312" cy="328612"/>
            <a:chOff x="0" y="0"/>
            <a:chExt cx="9429750" cy="43815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Validation results, performance benchmarks, and future work directions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44025" y="7915275"/>
            <a:ext cx="8372475" cy="1800225"/>
            <a:chOff x="0" y="0"/>
            <a:chExt cx="11163300" cy="24003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344025" y="7915275"/>
            <a:ext cx="57150" cy="1800225"/>
            <a:chOff x="0" y="0"/>
            <a:chExt cx="76200" cy="24003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601200" y="8143875"/>
            <a:ext cx="685800" cy="685800"/>
            <a:chOff x="0" y="0"/>
            <a:chExt cx="914400" cy="9144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87171">
                <a:alpha val="784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765154" y="8286750"/>
            <a:ext cx="500062" cy="400050"/>
            <a:chOff x="0" y="0"/>
            <a:chExt cx="666750" cy="5334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57150"/>
              <a:ext cx="666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87171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08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515600" y="8143875"/>
            <a:ext cx="7100888" cy="400050"/>
            <a:chOff x="0" y="0"/>
            <a:chExt cx="9467850" cy="5334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Assumptions, Demo &amp; Conclusion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515600" y="8601075"/>
            <a:ext cx="7072312" cy="328612"/>
            <a:chOff x="0" y="0"/>
            <a:chExt cx="9429750" cy="43815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Design assumptions, live demo, and Q&amp;A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59300" cy="342900"/>
            <a:chOff x="0" y="0"/>
            <a:chExt cx="230124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3012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Project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97155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Problem Statement &amp; Learning Outcomes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69595" y="1769745"/>
            <a:ext cx="10199370" cy="2998470"/>
          </a:xfrm>
          <a:custGeom>
            <a:avLst/>
            <a:gdLst/>
            <a:ahLst/>
            <a:cxnLst/>
            <a:rect r="r" b="b" t="t" l="l"/>
            <a:pathLst>
              <a:path h="2998470" w="10199370">
                <a:moveTo>
                  <a:pt x="0" y="0"/>
                </a:moveTo>
                <a:lnTo>
                  <a:pt x="10199370" y="0"/>
                </a:lnTo>
                <a:lnTo>
                  <a:pt x="10199370" y="2998470"/>
                </a:lnTo>
                <a:lnTo>
                  <a:pt x="0" y="2998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7249" y="206883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40168" y="2011680"/>
            <a:ext cx="2314575" cy="400050"/>
            <a:chOff x="0" y="0"/>
            <a:chExt cx="308610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86100" cy="533400"/>
            </a:xfrm>
            <a:custGeom>
              <a:avLst/>
              <a:gdLst/>
              <a:ahLst/>
              <a:cxnLst/>
              <a:rect r="r" b="b" t="t" l="l"/>
              <a:pathLst>
                <a:path h="5334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734" r="0" b="-6273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30861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Problem Statement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1530" y="2583180"/>
            <a:ext cx="9829800" cy="742950"/>
            <a:chOff x="0" y="0"/>
            <a:chExt cx="13106400" cy="990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06400" cy="990600"/>
            </a:xfrm>
            <a:custGeom>
              <a:avLst/>
              <a:gdLst/>
              <a:ahLst/>
              <a:cxnLst/>
              <a:rect r="r" b="b" t="t" l="l"/>
              <a:pathLst>
                <a:path h="990600" w="13106400">
                  <a:moveTo>
                    <a:pt x="0" y="0"/>
                  </a:moveTo>
                  <a:lnTo>
                    <a:pt x="13106400" y="0"/>
                  </a:lnTo>
                  <a:lnTo>
                    <a:pt x="131064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802" r="0" b="-20780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131064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Design and implement a compiler for a simplified programming language incorporating appropriate functionalities to translate high-level code into an executable format.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0105" y="3497580"/>
            <a:ext cx="9686925" cy="1028700"/>
            <a:chOff x="0" y="0"/>
            <a:chExt cx="12915900" cy="137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159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915900">
                  <a:moveTo>
                    <a:pt x="76200" y="0"/>
                  </a:moveTo>
                  <a:lnTo>
                    <a:pt x="12763500" y="0"/>
                  </a:lnTo>
                  <a:cubicBezTo>
                    <a:pt x="12847701" y="0"/>
                    <a:pt x="12915900" y="68199"/>
                    <a:pt x="12915900" y="152400"/>
                  </a:cubicBezTo>
                  <a:lnTo>
                    <a:pt x="12915900" y="1219200"/>
                  </a:lnTo>
                  <a:cubicBezTo>
                    <a:pt x="12915900" y="1303401"/>
                    <a:pt x="12847701" y="1371600"/>
                    <a:pt x="12763500" y="1371600"/>
                  </a:cubicBez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0105" y="3497580"/>
            <a:ext cx="57150" cy="1028700"/>
            <a:chOff x="0" y="0"/>
            <a:chExt cx="7620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0130" y="3669030"/>
            <a:ext cx="9429750" cy="697306"/>
            <a:chOff x="0" y="0"/>
            <a:chExt cx="12573000" cy="9297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73000" cy="929742"/>
            </a:xfrm>
            <a:custGeom>
              <a:avLst/>
              <a:gdLst/>
              <a:ahLst/>
              <a:cxnLst/>
              <a:rect r="r" b="b" t="t" l="l"/>
              <a:pathLst>
                <a:path h="929742" w="12573000">
                  <a:moveTo>
                    <a:pt x="0" y="0"/>
                  </a:moveTo>
                  <a:lnTo>
                    <a:pt x="12573000" y="0"/>
                  </a:lnTo>
                  <a:lnTo>
                    <a:pt x="12573000" y="929742"/>
                  </a:lnTo>
                  <a:lnTo>
                    <a:pt x="0" y="9297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323" r="0" b="-2126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2573000" cy="1005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Our compiler</a:t>
              </a:r>
              <a:r>
                <a:rPr lang="en-US" sz="180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aims to develop a </a:t>
              </a:r>
              <a:r>
                <a:rPr lang="en-US" sz="180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lightweight programming language for embedded systems</a:t>
              </a:r>
              <a:r>
                <a:rPr lang="en-US" sz="180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. The language supports integer/boolean variables, conditionals, loops, and user-defined functions.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69595" y="4993005"/>
            <a:ext cx="10199370" cy="2169795"/>
          </a:xfrm>
          <a:custGeom>
            <a:avLst/>
            <a:gdLst/>
            <a:ahLst/>
            <a:cxnLst/>
            <a:rect r="r" b="b" t="t" l="l"/>
            <a:pathLst>
              <a:path h="2169795" w="10199370">
                <a:moveTo>
                  <a:pt x="0" y="0"/>
                </a:moveTo>
                <a:lnTo>
                  <a:pt x="10199370" y="0"/>
                </a:lnTo>
                <a:lnTo>
                  <a:pt x="10199370" y="2169795"/>
                </a:lnTo>
                <a:lnTo>
                  <a:pt x="0" y="21697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82968" y="5292090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40168" y="5234940"/>
            <a:ext cx="1800225" cy="400050"/>
            <a:chOff x="0" y="0"/>
            <a:chExt cx="240030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00300" cy="533400"/>
            </a:xfrm>
            <a:custGeom>
              <a:avLst/>
              <a:gdLst/>
              <a:ahLst/>
              <a:cxnLst/>
              <a:rect r="r" b="b" t="t" l="l"/>
              <a:pathLst>
                <a:path h="53340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24003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Key Innovation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1530" y="5806440"/>
            <a:ext cx="9829800" cy="1114425"/>
            <a:chOff x="0" y="0"/>
            <a:chExt cx="13106400" cy="1485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064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3106400">
                  <a:moveTo>
                    <a:pt x="0" y="0"/>
                  </a:moveTo>
                  <a:lnTo>
                    <a:pt x="13106400" y="0"/>
                  </a:lnTo>
                  <a:lnTo>
                    <a:pt x="131064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868" r="0" b="-12186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1310640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 </a:t>
              </a:r>
              <a:r>
                <a:rPr lang="en-US" sz="180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single-pass architecture</a:t>
              </a:r>
              <a:r>
                <a:rPr lang="en-US" sz="1800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that combines semantic analysis and IR generation into one AST traversal, </a:t>
              </a:r>
              <a:r>
                <a:rPr lang="en-US" sz="180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reducing memory usage by 50%</a:t>
              </a:r>
              <a:r>
                <a:rPr lang="en-US" sz="1800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compared to traditional multi-pass designs. Critical for embedded system targets where memory is constrained.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69595" y="7387590"/>
            <a:ext cx="10199370" cy="2484120"/>
          </a:xfrm>
          <a:custGeom>
            <a:avLst/>
            <a:gdLst/>
            <a:ahLst/>
            <a:cxnLst/>
            <a:rect r="r" b="b" t="t" l="l"/>
            <a:pathLst>
              <a:path h="2484120" w="10199370">
                <a:moveTo>
                  <a:pt x="0" y="0"/>
                </a:moveTo>
                <a:lnTo>
                  <a:pt x="10199370" y="0"/>
                </a:lnTo>
                <a:lnTo>
                  <a:pt x="10199370" y="2484120"/>
                </a:lnTo>
                <a:lnTo>
                  <a:pt x="0" y="24841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29389" y="7686675"/>
            <a:ext cx="321469" cy="285750"/>
          </a:xfrm>
          <a:custGeom>
            <a:avLst/>
            <a:gdLst/>
            <a:ahLst/>
            <a:cxnLst/>
            <a:rect r="r" b="b" t="t" l="l"/>
            <a:pathLst>
              <a:path h="285750" w="321469">
                <a:moveTo>
                  <a:pt x="0" y="0"/>
                </a:moveTo>
                <a:lnTo>
                  <a:pt x="321469" y="0"/>
                </a:lnTo>
                <a:lnTo>
                  <a:pt x="321469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340168" y="7629525"/>
            <a:ext cx="1700212" cy="400050"/>
            <a:chOff x="0" y="0"/>
            <a:chExt cx="2266950" cy="533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66950" cy="533400"/>
            </a:xfrm>
            <a:custGeom>
              <a:avLst/>
              <a:gdLst/>
              <a:ahLst/>
              <a:cxnLst/>
              <a:rect r="r" b="b" t="t" l="l"/>
              <a:pathLst>
                <a:path h="533400" w="2266950">
                  <a:moveTo>
                    <a:pt x="0" y="0"/>
                  </a:moveTo>
                  <a:lnTo>
                    <a:pt x="2266950" y="0"/>
                  </a:lnTo>
                  <a:lnTo>
                    <a:pt x="2266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22669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Project Scope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40105" y="8258175"/>
            <a:ext cx="228600" cy="228600"/>
            <a:chOff x="0" y="0"/>
            <a:chExt cx="304800" cy="304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11580" y="8201025"/>
            <a:ext cx="2600325" cy="342900"/>
            <a:chOff x="0" y="0"/>
            <a:chExt cx="3467100" cy="457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67100" cy="457200"/>
            </a:xfrm>
            <a:custGeom>
              <a:avLst/>
              <a:gdLst/>
              <a:ahLst/>
              <a:cxnLst/>
              <a:rect r="r" b="b" t="t" l="l"/>
              <a:pathLst>
                <a:path h="457200" w="3467100">
                  <a:moveTo>
                    <a:pt x="0" y="0"/>
                  </a:moveTo>
                  <a:lnTo>
                    <a:pt x="3467100" y="0"/>
                  </a:lnTo>
                  <a:lnTo>
                    <a:pt x="34671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61" r="0" b="-9776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34671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Full 6-phase pipeline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11580" y="8543925"/>
            <a:ext cx="2586038" cy="285750"/>
            <a:chOff x="0" y="0"/>
            <a:chExt cx="3448050" cy="381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48050" cy="381000"/>
            </a:xfrm>
            <a:custGeom>
              <a:avLst/>
              <a:gdLst/>
              <a:ahLst/>
              <a:cxnLst/>
              <a:rect r="r" b="b" t="t" l="l"/>
              <a:pathLst>
                <a:path h="381000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39" r="0" b="-12633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448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Source text to VM execution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783580" y="8258175"/>
            <a:ext cx="228600" cy="228600"/>
            <a:chOff x="0" y="0"/>
            <a:chExt cx="304800" cy="304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155055" y="8201025"/>
            <a:ext cx="2214562" cy="342900"/>
            <a:chOff x="0" y="0"/>
            <a:chExt cx="2952750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52750" cy="457200"/>
            </a:xfrm>
            <a:custGeom>
              <a:avLst/>
              <a:gdLst/>
              <a:ahLst/>
              <a:cxnLst/>
              <a:rect r="r" b="b" t="t" l="l"/>
              <a:pathLst>
                <a:path h="457200" w="2952750">
                  <a:moveTo>
                    <a:pt x="0" y="0"/>
                  </a:moveTo>
                  <a:lnTo>
                    <a:pt x="2952750" y="0"/>
                  </a:lnTo>
                  <a:lnTo>
                    <a:pt x="29527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840" r="0" b="-7584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76200"/>
              <a:ext cx="29527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15+ semantic checks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155055" y="8543925"/>
            <a:ext cx="2200275" cy="285750"/>
            <a:chOff x="0" y="0"/>
            <a:chExt cx="2933700" cy="381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33700" cy="381000"/>
            </a:xfrm>
            <a:custGeom>
              <a:avLst/>
              <a:gdLst/>
              <a:ahLst/>
              <a:cxnLst/>
              <a:rect r="r" b="b" t="t" l="l"/>
              <a:pathLst>
                <a:path h="381000" w="2933700">
                  <a:moveTo>
                    <a:pt x="0" y="0"/>
                  </a:moveTo>
                  <a:lnTo>
                    <a:pt x="2933700" y="0"/>
                  </a:lnTo>
                  <a:lnTo>
                    <a:pt x="29337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9337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Type &amp; scope validation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40105" y="9058275"/>
            <a:ext cx="228600" cy="228600"/>
            <a:chOff x="0" y="0"/>
            <a:chExt cx="304800" cy="304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11580" y="9001125"/>
            <a:ext cx="2514600" cy="342900"/>
            <a:chOff x="0" y="0"/>
            <a:chExt cx="3352800" cy="457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35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33528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TAC IR generation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11580" y="9344025"/>
            <a:ext cx="2500312" cy="285750"/>
            <a:chOff x="0" y="0"/>
            <a:chExt cx="3333750" cy="381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33750" cy="381000"/>
            </a:xfrm>
            <a:custGeom>
              <a:avLst/>
              <a:gdLst/>
              <a:ahLst/>
              <a:cxnLst/>
              <a:rect r="r" b="b" t="t" l="l"/>
              <a:pathLst>
                <a:path h="381000" w="3333750">
                  <a:moveTo>
                    <a:pt x="0" y="0"/>
                  </a:moveTo>
                  <a:lnTo>
                    <a:pt x="3333750" y="0"/>
                  </a:lnTo>
                  <a:lnTo>
                    <a:pt x="3333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3337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Three-address code output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783580" y="9058275"/>
            <a:ext cx="228600" cy="228600"/>
            <a:chOff x="0" y="0"/>
            <a:chExt cx="304800" cy="304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155055" y="9001125"/>
            <a:ext cx="2686050" cy="342900"/>
            <a:chOff x="0" y="0"/>
            <a:chExt cx="3581400" cy="457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581400" cy="457200"/>
            </a:xfrm>
            <a:custGeom>
              <a:avLst/>
              <a:gdLst/>
              <a:ahLst/>
              <a:cxnLst/>
              <a:rect r="r" b="b" t="t" l="l"/>
              <a:pathLst>
                <a:path h="457200" w="3581400">
                  <a:moveTo>
                    <a:pt x="0" y="0"/>
                  </a:moveTo>
                  <a:lnTo>
                    <a:pt x="3581400" y="0"/>
                  </a:lnTo>
                  <a:lnTo>
                    <a:pt x="3581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3581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x86-64 assembly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55055" y="9344025"/>
            <a:ext cx="2671762" cy="285750"/>
            <a:chOff x="0" y="0"/>
            <a:chExt cx="3562350" cy="381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562350" cy="381000"/>
            </a:xfrm>
            <a:custGeom>
              <a:avLst/>
              <a:gdLst/>
              <a:ahLst/>
              <a:cxnLst/>
              <a:rect r="r" b="b" t="t" l="l"/>
              <a:pathLst>
                <a:path h="381000" w="3562350">
                  <a:moveTo>
                    <a:pt x="0" y="0"/>
                  </a:moveTo>
                  <a:lnTo>
                    <a:pt x="3562350" y="0"/>
                  </a:lnTo>
                  <a:lnTo>
                    <a:pt x="3562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185" r="0" b="-13218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562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Pseudo-assembly generation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0993755" y="1769745"/>
            <a:ext cx="6727507" cy="5513070"/>
          </a:xfrm>
          <a:custGeom>
            <a:avLst/>
            <a:gdLst/>
            <a:ahLst/>
            <a:cxnLst/>
            <a:rect r="r" b="b" t="t" l="l"/>
            <a:pathLst>
              <a:path h="5513070" w="6727507">
                <a:moveTo>
                  <a:pt x="0" y="0"/>
                </a:moveTo>
                <a:lnTo>
                  <a:pt x="6727507" y="0"/>
                </a:lnTo>
                <a:lnTo>
                  <a:pt x="6727507" y="5513070"/>
                </a:lnTo>
                <a:lnTo>
                  <a:pt x="0" y="55130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1255340" y="2083117"/>
            <a:ext cx="289322" cy="257175"/>
          </a:xfrm>
          <a:custGeom>
            <a:avLst/>
            <a:gdLst/>
            <a:ahLst/>
            <a:cxnLst/>
            <a:rect r="r" b="b" t="t" l="l"/>
            <a:pathLst>
              <a:path h="257175" w="289322">
                <a:moveTo>
                  <a:pt x="0" y="0"/>
                </a:moveTo>
                <a:lnTo>
                  <a:pt x="289322" y="0"/>
                </a:lnTo>
                <a:lnTo>
                  <a:pt x="289322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1564302" y="2011680"/>
            <a:ext cx="6043612" cy="400050"/>
            <a:chOff x="0" y="0"/>
            <a:chExt cx="8058150" cy="533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058150" cy="533400"/>
            </a:xfrm>
            <a:custGeom>
              <a:avLst/>
              <a:gdLst/>
              <a:ahLst/>
              <a:cxnLst/>
              <a:rect r="r" b="b" t="t" l="l"/>
              <a:pathLst>
                <a:path h="533400" w="8058150">
                  <a:moveTo>
                    <a:pt x="0" y="0"/>
                  </a:moveTo>
                  <a:lnTo>
                    <a:pt x="8058150" y="0"/>
                  </a:lnTo>
                  <a:lnTo>
                    <a:pt x="80581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363" r="0" b="-24436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80581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Learning Outcomes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235690" y="2583180"/>
            <a:ext cx="6243638" cy="1028700"/>
            <a:chOff x="0" y="0"/>
            <a:chExt cx="8324850" cy="1371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3248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324850">
                  <a:moveTo>
                    <a:pt x="152400" y="0"/>
                  </a:moveTo>
                  <a:lnTo>
                    <a:pt x="8172450" y="0"/>
                  </a:lnTo>
                  <a:cubicBezTo>
                    <a:pt x="8256651" y="0"/>
                    <a:pt x="8324850" y="68199"/>
                    <a:pt x="8324850" y="152400"/>
                  </a:cubicBezTo>
                  <a:lnTo>
                    <a:pt x="8324850" y="1219200"/>
                  </a:lnTo>
                  <a:cubicBezTo>
                    <a:pt x="8324850" y="1303401"/>
                    <a:pt x="8256651" y="1371600"/>
                    <a:pt x="8172450" y="1371600"/>
                  </a:cubicBezTo>
                  <a:lnTo>
                    <a:pt x="152400" y="1371600"/>
                  </a:lnTo>
                  <a:cubicBezTo>
                    <a:pt x="68199" y="1371600"/>
                    <a:pt x="0" y="1303401"/>
                    <a:pt x="0" y="1219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407140" y="2783024"/>
            <a:ext cx="614362" cy="285750"/>
            <a:chOff x="0" y="0"/>
            <a:chExt cx="819150" cy="381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9150" cy="381000"/>
            </a:xfrm>
            <a:custGeom>
              <a:avLst/>
              <a:gdLst/>
              <a:ahLst/>
              <a:cxnLst/>
              <a:rect r="r" b="b" t="t" l="l"/>
              <a:pathLst>
                <a:path h="381000" w="819150">
                  <a:moveTo>
                    <a:pt x="0" y="0"/>
                  </a:moveTo>
                  <a:lnTo>
                    <a:pt x="819150" y="0"/>
                  </a:lnTo>
                  <a:lnTo>
                    <a:pt x="819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76" t="0" r="-9676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8191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CLO 1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541047" y="2754630"/>
            <a:ext cx="1757362" cy="342900"/>
            <a:chOff x="0" y="0"/>
            <a:chExt cx="2343150" cy="457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343150" cy="457200"/>
            </a:xfrm>
            <a:custGeom>
              <a:avLst/>
              <a:gdLst/>
              <a:ahLst/>
              <a:cxnLst/>
              <a:rect r="r" b="b" t="t" l="l"/>
              <a:pathLst>
                <a:path h="457200" w="2343150">
                  <a:moveTo>
                    <a:pt x="76200" y="0"/>
                  </a:moveTo>
                  <a:lnTo>
                    <a:pt x="2266950" y="0"/>
                  </a:lnTo>
                  <a:cubicBezTo>
                    <a:pt x="2308987" y="0"/>
                    <a:pt x="2343150" y="34163"/>
                    <a:pt x="2343150" y="76200"/>
                  </a:cubicBezTo>
                  <a:lnTo>
                    <a:pt x="2343150" y="381000"/>
                  </a:lnTo>
                  <a:cubicBezTo>
                    <a:pt x="2343150" y="423037"/>
                    <a:pt x="2308987" y="457200"/>
                    <a:pt x="226695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5541047" y="2754630"/>
            <a:ext cx="1843088" cy="342900"/>
            <a:chOff x="0" y="0"/>
            <a:chExt cx="2457450" cy="457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57450" cy="457200"/>
            </a:xfrm>
            <a:custGeom>
              <a:avLst/>
              <a:gdLst/>
              <a:ahLst/>
              <a:cxnLst/>
              <a:rect r="r" b="b" t="t" l="l"/>
              <a:pathLst>
                <a:path h="457200" w="2457450">
                  <a:moveTo>
                    <a:pt x="0" y="0"/>
                  </a:moveTo>
                  <a:lnTo>
                    <a:pt x="2457450" y="0"/>
                  </a:lnTo>
                  <a:lnTo>
                    <a:pt x="24574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245745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4D39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Design &amp; Implement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407140" y="3154499"/>
            <a:ext cx="6000750" cy="285750"/>
            <a:chOff x="0" y="0"/>
            <a:chExt cx="8001000" cy="381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00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8001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Full 6-phase pipeline from source text to VM execution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235690" y="3725999"/>
            <a:ext cx="6243638" cy="1028700"/>
            <a:chOff x="0" y="0"/>
            <a:chExt cx="8324850" cy="1371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3248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324850">
                  <a:moveTo>
                    <a:pt x="152400" y="0"/>
                  </a:moveTo>
                  <a:lnTo>
                    <a:pt x="8172450" y="0"/>
                  </a:lnTo>
                  <a:cubicBezTo>
                    <a:pt x="8256651" y="0"/>
                    <a:pt x="8324850" y="68199"/>
                    <a:pt x="8324850" y="152400"/>
                  </a:cubicBezTo>
                  <a:lnTo>
                    <a:pt x="8324850" y="1219200"/>
                  </a:lnTo>
                  <a:cubicBezTo>
                    <a:pt x="8324850" y="1303401"/>
                    <a:pt x="8256651" y="1371600"/>
                    <a:pt x="8172450" y="1371600"/>
                  </a:cubicBezTo>
                  <a:lnTo>
                    <a:pt x="152400" y="1371600"/>
                  </a:lnTo>
                  <a:cubicBezTo>
                    <a:pt x="68199" y="1371600"/>
                    <a:pt x="0" y="1303401"/>
                    <a:pt x="0" y="1219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1407140" y="3925853"/>
            <a:ext cx="685800" cy="285750"/>
            <a:chOff x="0" y="0"/>
            <a:chExt cx="914400" cy="3810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" cy="381000"/>
            </a:xfrm>
            <a:custGeom>
              <a:avLst/>
              <a:gdLst/>
              <a:ahLst/>
              <a:cxnLst/>
              <a:rect r="r" b="b" t="t" l="l"/>
              <a:pathLst>
                <a:path h="3810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9144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CPA-2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5755179" y="3897449"/>
            <a:ext cx="1543050" cy="342900"/>
            <a:chOff x="0" y="0"/>
            <a:chExt cx="2057400" cy="457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57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057400">
                  <a:moveTo>
                    <a:pt x="76200" y="0"/>
                  </a:moveTo>
                  <a:lnTo>
                    <a:pt x="1981200" y="0"/>
                  </a:lnTo>
                  <a:cubicBezTo>
                    <a:pt x="2023237" y="0"/>
                    <a:pt x="2057400" y="34163"/>
                    <a:pt x="2057400" y="76200"/>
                  </a:cubicBezTo>
                  <a:lnTo>
                    <a:pt x="2057400" y="381000"/>
                  </a:lnTo>
                  <a:cubicBezTo>
                    <a:pt x="2057400" y="423037"/>
                    <a:pt x="2023237" y="457200"/>
                    <a:pt x="198120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5755179" y="3897449"/>
            <a:ext cx="1628775" cy="342900"/>
            <a:chOff x="0" y="0"/>
            <a:chExt cx="2171700" cy="4572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171700" cy="457200"/>
            </a:xfrm>
            <a:custGeom>
              <a:avLst/>
              <a:gdLst/>
              <a:ahLst/>
              <a:cxnLst/>
              <a:rect r="r" b="b" t="t" l="l"/>
              <a:pathLst>
                <a:path h="457200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21717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4D39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Depth of Analysis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407140" y="4297328"/>
            <a:ext cx="6000750" cy="285750"/>
            <a:chOff x="0" y="0"/>
            <a:chExt cx="8001000" cy="381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00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8001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CFG, FSM, symbol table, IR — abstract modeling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235690" y="4868828"/>
            <a:ext cx="6243638" cy="1028700"/>
            <a:chOff x="0" y="0"/>
            <a:chExt cx="8324850" cy="1371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3248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324850">
                  <a:moveTo>
                    <a:pt x="152400" y="0"/>
                  </a:moveTo>
                  <a:lnTo>
                    <a:pt x="8172450" y="0"/>
                  </a:lnTo>
                  <a:cubicBezTo>
                    <a:pt x="8256651" y="0"/>
                    <a:pt x="8324850" y="68199"/>
                    <a:pt x="8324850" y="152400"/>
                  </a:cubicBezTo>
                  <a:lnTo>
                    <a:pt x="8324850" y="1219200"/>
                  </a:lnTo>
                  <a:cubicBezTo>
                    <a:pt x="8324850" y="1303401"/>
                    <a:pt x="8256651" y="1371600"/>
                    <a:pt x="8172450" y="1371600"/>
                  </a:cubicBezTo>
                  <a:lnTo>
                    <a:pt x="152400" y="1371600"/>
                  </a:lnTo>
                  <a:cubicBezTo>
                    <a:pt x="68199" y="1371600"/>
                    <a:pt x="0" y="1303401"/>
                    <a:pt x="0" y="1219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407140" y="5068672"/>
            <a:ext cx="685800" cy="285750"/>
            <a:chOff x="0" y="0"/>
            <a:chExt cx="914400" cy="3810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14400" cy="381000"/>
            </a:xfrm>
            <a:custGeom>
              <a:avLst/>
              <a:gdLst/>
              <a:ahLst/>
              <a:cxnLst/>
              <a:rect r="r" b="b" t="t" l="l"/>
              <a:pathLst>
                <a:path h="3810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9144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CPA-3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543733" y="5040278"/>
            <a:ext cx="1757362" cy="342900"/>
            <a:chOff x="0" y="0"/>
            <a:chExt cx="2343150" cy="4572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43150" cy="457200"/>
            </a:xfrm>
            <a:custGeom>
              <a:avLst/>
              <a:gdLst/>
              <a:ahLst/>
              <a:cxnLst/>
              <a:rect r="r" b="b" t="t" l="l"/>
              <a:pathLst>
                <a:path h="457200" w="2343150">
                  <a:moveTo>
                    <a:pt x="76200" y="0"/>
                  </a:moveTo>
                  <a:lnTo>
                    <a:pt x="2266950" y="0"/>
                  </a:lnTo>
                  <a:cubicBezTo>
                    <a:pt x="2308987" y="0"/>
                    <a:pt x="2343150" y="34163"/>
                    <a:pt x="2343150" y="76200"/>
                  </a:cubicBezTo>
                  <a:lnTo>
                    <a:pt x="2343150" y="381000"/>
                  </a:lnTo>
                  <a:cubicBezTo>
                    <a:pt x="2343150" y="423037"/>
                    <a:pt x="2308987" y="457200"/>
                    <a:pt x="226695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5543733" y="5040278"/>
            <a:ext cx="1843088" cy="342900"/>
            <a:chOff x="0" y="0"/>
            <a:chExt cx="2457450" cy="4572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57450" cy="457200"/>
            </a:xfrm>
            <a:custGeom>
              <a:avLst/>
              <a:gdLst/>
              <a:ahLst/>
              <a:cxnLst/>
              <a:rect r="r" b="b" t="t" l="l"/>
              <a:pathLst>
                <a:path h="457200" w="2457450">
                  <a:moveTo>
                    <a:pt x="0" y="0"/>
                  </a:moveTo>
                  <a:lnTo>
                    <a:pt x="2457450" y="0"/>
                  </a:lnTo>
                  <a:lnTo>
                    <a:pt x="24574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245745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4D39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Depth of Knowledge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1407140" y="5440147"/>
            <a:ext cx="6000750" cy="285750"/>
            <a:chOff x="0" y="0"/>
            <a:chExt cx="8001000" cy="3810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00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8001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Recursive descent, scoped tables, TAC IR, x86-64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235690" y="6011647"/>
            <a:ext cx="6243638" cy="1028700"/>
            <a:chOff x="0" y="0"/>
            <a:chExt cx="8324850" cy="13716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3248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324850">
                  <a:moveTo>
                    <a:pt x="152400" y="0"/>
                  </a:moveTo>
                  <a:lnTo>
                    <a:pt x="8172450" y="0"/>
                  </a:lnTo>
                  <a:cubicBezTo>
                    <a:pt x="8256651" y="0"/>
                    <a:pt x="8324850" y="68199"/>
                    <a:pt x="8324850" y="152400"/>
                  </a:cubicBezTo>
                  <a:lnTo>
                    <a:pt x="8324850" y="1219200"/>
                  </a:lnTo>
                  <a:cubicBezTo>
                    <a:pt x="8324850" y="1303401"/>
                    <a:pt x="8256651" y="1371600"/>
                    <a:pt x="8172450" y="1371600"/>
                  </a:cubicBezTo>
                  <a:lnTo>
                    <a:pt x="152400" y="1371600"/>
                  </a:lnTo>
                  <a:cubicBezTo>
                    <a:pt x="68199" y="1371600"/>
                    <a:pt x="0" y="1303401"/>
                    <a:pt x="0" y="1219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407140" y="6211491"/>
            <a:ext cx="700088" cy="285750"/>
            <a:chOff x="0" y="0"/>
            <a:chExt cx="933450" cy="3810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9334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CPA-9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5906988" y="6183097"/>
            <a:ext cx="1400175" cy="342900"/>
            <a:chOff x="0" y="0"/>
            <a:chExt cx="1866900" cy="4572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8669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66900">
                  <a:moveTo>
                    <a:pt x="76200" y="0"/>
                  </a:moveTo>
                  <a:lnTo>
                    <a:pt x="1790700" y="0"/>
                  </a:lnTo>
                  <a:cubicBezTo>
                    <a:pt x="1832737" y="0"/>
                    <a:pt x="1866900" y="34163"/>
                    <a:pt x="1866900" y="76200"/>
                  </a:cubicBezTo>
                  <a:lnTo>
                    <a:pt x="1866900" y="381000"/>
                  </a:lnTo>
                  <a:cubicBezTo>
                    <a:pt x="1866900" y="423037"/>
                    <a:pt x="1832737" y="457200"/>
                    <a:pt x="179070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5906988" y="6183097"/>
            <a:ext cx="1485900" cy="342900"/>
            <a:chOff x="0" y="0"/>
            <a:chExt cx="1981200" cy="4572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981200" cy="457200"/>
            </a:xfrm>
            <a:custGeom>
              <a:avLst/>
              <a:gdLst/>
              <a:ahLst/>
              <a:cxnLst/>
              <a:rect r="r" b="b" t="t" l="l"/>
              <a:pathLst>
                <a:path h="4572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19812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4D39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Requirement ID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407140" y="6582966"/>
            <a:ext cx="6000750" cy="285750"/>
            <a:chOff x="0" y="0"/>
            <a:chExt cx="8001000" cy="3810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800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8001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Identified from ill-defined real-world constraints</a:t>
              </a:r>
            </a:p>
          </p:txBody>
        </p:sp>
      </p:grpSp>
      <p:sp>
        <p:nvSpPr>
          <p:cNvPr name="Freeform 125" id="125"/>
          <p:cNvSpPr/>
          <p:nvPr/>
        </p:nvSpPr>
        <p:spPr>
          <a:xfrm flipH="false" flipV="false" rot="0">
            <a:off x="10993755" y="7506891"/>
            <a:ext cx="2126932" cy="1169670"/>
          </a:xfrm>
          <a:custGeom>
            <a:avLst/>
            <a:gdLst/>
            <a:ahLst/>
            <a:cxnLst/>
            <a:rect r="r" b="b" t="t" l="l"/>
            <a:pathLst>
              <a:path h="1169670" w="2126932">
                <a:moveTo>
                  <a:pt x="0" y="0"/>
                </a:moveTo>
                <a:lnTo>
                  <a:pt x="2126933" y="0"/>
                </a:lnTo>
                <a:lnTo>
                  <a:pt x="2126933" y="1169670"/>
                </a:lnTo>
                <a:lnTo>
                  <a:pt x="0" y="116967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6" id="126"/>
          <p:cNvGrpSpPr/>
          <p:nvPr/>
        </p:nvGrpSpPr>
        <p:grpSpPr>
          <a:xfrm rot="0">
            <a:off x="11092815" y="7691676"/>
            <a:ext cx="1928812" cy="518655"/>
            <a:chOff x="0" y="0"/>
            <a:chExt cx="2571750" cy="6915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571750" cy="691540"/>
            </a:xfrm>
            <a:custGeom>
              <a:avLst/>
              <a:gdLst/>
              <a:ahLst/>
              <a:cxnLst/>
              <a:rect r="r" b="b" t="t" l="l"/>
              <a:pathLst>
                <a:path h="69154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691540"/>
                  </a:lnTo>
                  <a:lnTo>
                    <a:pt x="0" y="6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86" r="0" b="-16537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2571750" cy="7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1,218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1128534" y="8205845"/>
            <a:ext cx="1857375" cy="285750"/>
            <a:chOff x="0" y="0"/>
            <a:chExt cx="2476500" cy="3810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4765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2476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Lines of JS</a:t>
              </a:r>
            </a:p>
          </p:txBody>
        </p:sp>
      </p:grpSp>
      <p:sp>
        <p:nvSpPr>
          <p:cNvPr name="Freeform 132" id="132"/>
          <p:cNvSpPr/>
          <p:nvPr/>
        </p:nvSpPr>
        <p:spPr>
          <a:xfrm flipH="false" flipV="false" rot="0">
            <a:off x="13291185" y="7506891"/>
            <a:ext cx="2126932" cy="1169670"/>
          </a:xfrm>
          <a:custGeom>
            <a:avLst/>
            <a:gdLst/>
            <a:ahLst/>
            <a:cxnLst/>
            <a:rect r="r" b="b" t="t" l="l"/>
            <a:pathLst>
              <a:path h="1169670" w="2126932">
                <a:moveTo>
                  <a:pt x="0" y="0"/>
                </a:moveTo>
                <a:lnTo>
                  <a:pt x="2126933" y="0"/>
                </a:lnTo>
                <a:lnTo>
                  <a:pt x="2126933" y="1169670"/>
                </a:lnTo>
                <a:lnTo>
                  <a:pt x="0" y="116967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3390245" y="7691676"/>
            <a:ext cx="1928812" cy="457200"/>
            <a:chOff x="0" y="0"/>
            <a:chExt cx="2571750" cy="6096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571750" cy="609600"/>
            </a:xfrm>
            <a:custGeom>
              <a:avLst/>
              <a:gdLst/>
              <a:ahLst/>
              <a:cxnLst/>
              <a:rect r="r" b="b" t="t" l="l"/>
              <a:pathLst>
                <a:path h="60960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257175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30+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3425964" y="8205845"/>
            <a:ext cx="1857375" cy="285750"/>
            <a:chOff x="0" y="0"/>
            <a:chExt cx="2476500" cy="3810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4765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2476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Token Types</a:t>
              </a:r>
            </a:p>
          </p:txBody>
        </p:sp>
      </p:grpSp>
      <p:sp>
        <p:nvSpPr>
          <p:cNvPr name="Freeform 139" id="139"/>
          <p:cNvSpPr/>
          <p:nvPr/>
        </p:nvSpPr>
        <p:spPr>
          <a:xfrm flipH="false" flipV="false" rot="0">
            <a:off x="15588615" y="7506891"/>
            <a:ext cx="2126932" cy="1169670"/>
          </a:xfrm>
          <a:custGeom>
            <a:avLst/>
            <a:gdLst/>
            <a:ahLst/>
            <a:cxnLst/>
            <a:rect r="r" b="b" t="t" l="l"/>
            <a:pathLst>
              <a:path h="1169670" w="2126932">
                <a:moveTo>
                  <a:pt x="0" y="0"/>
                </a:moveTo>
                <a:lnTo>
                  <a:pt x="2126932" y="0"/>
                </a:lnTo>
                <a:lnTo>
                  <a:pt x="2126932" y="1169670"/>
                </a:lnTo>
                <a:lnTo>
                  <a:pt x="0" y="116967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0" id="140"/>
          <p:cNvGrpSpPr/>
          <p:nvPr/>
        </p:nvGrpSpPr>
        <p:grpSpPr>
          <a:xfrm rot="0">
            <a:off x="15687675" y="7691676"/>
            <a:ext cx="1928812" cy="457200"/>
            <a:chOff x="0" y="0"/>
            <a:chExt cx="2571750" cy="6096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571750" cy="609600"/>
            </a:xfrm>
            <a:custGeom>
              <a:avLst/>
              <a:gdLst/>
              <a:ahLst/>
              <a:cxnLst/>
              <a:rect r="r" b="b" t="t" l="l"/>
              <a:pathLst>
                <a:path h="60960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28575"/>
              <a:ext cx="257175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20+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5723394" y="8205845"/>
            <a:ext cx="1857375" cy="285750"/>
            <a:chOff x="0" y="0"/>
            <a:chExt cx="2476500" cy="3810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476500" cy="381000"/>
            </a:xfrm>
            <a:custGeom>
              <a:avLst/>
              <a:gdLst/>
              <a:ahLst/>
              <a:cxnLst/>
              <a:rect r="r" b="b" t="t" l="l"/>
              <a:pathLst>
                <a:path h="381000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2476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AST Node Types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551" y="519551"/>
            <a:ext cx="17339824" cy="259775"/>
            <a:chOff x="0" y="0"/>
            <a:chExt cx="23119766" cy="3463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19772" cy="346364"/>
            </a:xfrm>
            <a:custGeom>
              <a:avLst/>
              <a:gdLst/>
              <a:ahLst/>
              <a:cxnLst/>
              <a:rect r="r" b="b" t="t" l="l"/>
              <a:pathLst>
                <a:path h="346364" w="23119772">
                  <a:moveTo>
                    <a:pt x="0" y="0"/>
                  </a:moveTo>
                  <a:lnTo>
                    <a:pt x="23119772" y="0"/>
                  </a:lnTo>
                  <a:lnTo>
                    <a:pt x="23119772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0624" r="0" b="-12506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119766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b="true" sz="1432" spc="72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Language Features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9551" y="831275"/>
            <a:ext cx="17482699" cy="519551"/>
            <a:chOff x="0" y="0"/>
            <a:chExt cx="23310266" cy="6927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10272" cy="692728"/>
            </a:xfrm>
            <a:custGeom>
              <a:avLst/>
              <a:gdLst/>
              <a:ahLst/>
              <a:cxnLst/>
              <a:rect r="r" b="b" t="t" l="l"/>
              <a:pathLst>
                <a:path h="692728" w="23310272">
                  <a:moveTo>
                    <a:pt x="0" y="0"/>
                  </a:moveTo>
                  <a:lnTo>
                    <a:pt x="23310272" y="0"/>
                  </a:lnTo>
                  <a:lnTo>
                    <a:pt x="23310272" y="692728"/>
                  </a:lnTo>
                  <a:lnTo>
                    <a:pt x="0" y="6927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5670" r="0" b="-60567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310266" cy="645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77"/>
                </a:lnSpc>
              </a:pPr>
              <a:r>
                <a:rPr lang="en-US" sz="368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Supported Constructs &amp; Design Decisions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17122" y="1504255"/>
            <a:ext cx="8520198" cy="6506966"/>
          </a:xfrm>
          <a:custGeom>
            <a:avLst/>
            <a:gdLst/>
            <a:ahLst/>
            <a:cxnLst/>
            <a:rect r="r" b="b" t="t" l="l"/>
            <a:pathLst>
              <a:path h="6506966" w="8520198">
                <a:moveTo>
                  <a:pt x="0" y="0"/>
                </a:moveTo>
                <a:lnTo>
                  <a:pt x="8520198" y="0"/>
                </a:lnTo>
                <a:lnTo>
                  <a:pt x="8520198" y="6506965"/>
                </a:lnTo>
                <a:lnTo>
                  <a:pt x="0" y="6506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0230" y="1776851"/>
            <a:ext cx="259775" cy="259775"/>
          </a:xfrm>
          <a:custGeom>
            <a:avLst/>
            <a:gdLst/>
            <a:ahLst/>
            <a:cxnLst/>
            <a:rect r="r" b="b" t="t" l="l"/>
            <a:pathLst>
              <a:path h="259775" w="259775">
                <a:moveTo>
                  <a:pt x="0" y="0"/>
                </a:moveTo>
                <a:lnTo>
                  <a:pt x="259775" y="0"/>
                </a:lnTo>
                <a:lnTo>
                  <a:pt x="259775" y="259775"/>
                </a:lnTo>
                <a:lnTo>
                  <a:pt x="0" y="259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18333" y="1724892"/>
            <a:ext cx="2156117" cy="363684"/>
            <a:chOff x="0" y="0"/>
            <a:chExt cx="2874823" cy="484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74818" cy="484910"/>
            </a:xfrm>
            <a:custGeom>
              <a:avLst/>
              <a:gdLst/>
              <a:ahLst/>
              <a:cxnLst/>
              <a:rect r="r" b="b" t="t" l="l"/>
              <a:pathLst>
                <a:path h="484910" w="2874818">
                  <a:moveTo>
                    <a:pt x="0" y="0"/>
                  </a:moveTo>
                  <a:lnTo>
                    <a:pt x="2874818" y="0"/>
                  </a:lnTo>
                  <a:lnTo>
                    <a:pt x="2874818" y="484910"/>
                  </a:lnTo>
                  <a:lnTo>
                    <a:pt x="0" y="484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518" r="0" b="-6551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874823" cy="542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184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Supported Features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7749" y="2270417"/>
            <a:ext cx="311725" cy="311725"/>
            <a:chOff x="0" y="0"/>
            <a:chExt cx="415633" cy="4156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5544" cy="415544"/>
            </a:xfrm>
            <a:custGeom>
              <a:avLst/>
              <a:gdLst/>
              <a:ahLst/>
              <a:cxnLst/>
              <a:rect r="r" b="b" t="t" l="l"/>
              <a:pathLst>
                <a:path h="415544" w="415544">
                  <a:moveTo>
                    <a:pt x="69215" y="0"/>
                  </a:moveTo>
                  <a:lnTo>
                    <a:pt x="346329" y="0"/>
                  </a:lnTo>
                  <a:cubicBezTo>
                    <a:pt x="384556" y="0"/>
                    <a:pt x="415544" y="30988"/>
                    <a:pt x="415544" y="69215"/>
                  </a:cubicBezTo>
                  <a:lnTo>
                    <a:pt x="415544" y="346329"/>
                  </a:lnTo>
                  <a:cubicBezTo>
                    <a:pt x="415544" y="384556"/>
                    <a:pt x="384556" y="415544"/>
                    <a:pt x="346329" y="415544"/>
                  </a:cubicBezTo>
                  <a:lnTo>
                    <a:pt x="69215" y="415544"/>
                  </a:lnTo>
                  <a:cubicBezTo>
                    <a:pt x="30988" y="415671"/>
                    <a:pt x="0" y="384556"/>
                    <a:pt x="0" y="346329"/>
                  </a:cubicBezTo>
                  <a:lnTo>
                    <a:pt x="0" y="69215"/>
                  </a:lnTo>
                  <a:cubicBezTo>
                    <a:pt x="0" y="30988"/>
                    <a:pt x="30988" y="0"/>
                    <a:pt x="69215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25427" y="2348351"/>
            <a:ext cx="136379" cy="155867"/>
          </a:xfrm>
          <a:custGeom>
            <a:avLst/>
            <a:gdLst/>
            <a:ahLst/>
            <a:cxnLst/>
            <a:rect r="r" b="b" t="t" l="l"/>
            <a:pathLst>
              <a:path h="155867" w="136379">
                <a:moveTo>
                  <a:pt x="0" y="0"/>
                </a:moveTo>
                <a:lnTo>
                  <a:pt x="136379" y="0"/>
                </a:lnTo>
                <a:lnTo>
                  <a:pt x="136379" y="155867"/>
                </a:lnTo>
                <a:lnTo>
                  <a:pt x="0" y="1558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53392" y="2244433"/>
            <a:ext cx="1584617" cy="259775"/>
            <a:chOff x="0" y="0"/>
            <a:chExt cx="2112823" cy="3463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2818" cy="346364"/>
            </a:xfrm>
            <a:custGeom>
              <a:avLst/>
              <a:gdLst/>
              <a:ahLst/>
              <a:cxnLst/>
              <a:rect r="r" b="b" t="t" l="l"/>
              <a:pathLst>
                <a:path h="346364" w="2112818">
                  <a:moveTo>
                    <a:pt x="0" y="0"/>
                  </a:moveTo>
                  <a:lnTo>
                    <a:pt x="2112818" y="0"/>
                  </a:lnTo>
                  <a:lnTo>
                    <a:pt x="2112818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58" r="0" b="-6885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12823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Data Types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3392" y="2504208"/>
            <a:ext cx="1571625" cy="207816"/>
            <a:chOff x="0" y="0"/>
            <a:chExt cx="2095500" cy="2770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5500" cy="277090"/>
            </a:xfrm>
            <a:custGeom>
              <a:avLst/>
              <a:gdLst/>
              <a:ahLst/>
              <a:cxnLst/>
              <a:rect r="r" b="b" t="t" l="l"/>
              <a:pathLst>
                <a:path h="277090" w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277090"/>
                  </a:lnTo>
                  <a:lnTo>
                    <a:pt x="0" y="277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356" r="0" b="-9735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095500" cy="296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227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int, bool, string literals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31775" y="2270417"/>
            <a:ext cx="311725" cy="311725"/>
            <a:chOff x="0" y="0"/>
            <a:chExt cx="415633" cy="4156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5544" cy="415544"/>
            </a:xfrm>
            <a:custGeom>
              <a:avLst/>
              <a:gdLst/>
              <a:ahLst/>
              <a:cxnLst/>
              <a:rect r="r" b="b" t="t" l="l"/>
              <a:pathLst>
                <a:path h="415544" w="415544">
                  <a:moveTo>
                    <a:pt x="69215" y="0"/>
                  </a:moveTo>
                  <a:lnTo>
                    <a:pt x="346329" y="0"/>
                  </a:lnTo>
                  <a:cubicBezTo>
                    <a:pt x="384556" y="0"/>
                    <a:pt x="415544" y="30988"/>
                    <a:pt x="415544" y="69215"/>
                  </a:cubicBezTo>
                  <a:lnTo>
                    <a:pt x="415544" y="346329"/>
                  </a:lnTo>
                  <a:cubicBezTo>
                    <a:pt x="415544" y="384556"/>
                    <a:pt x="384556" y="415544"/>
                    <a:pt x="346329" y="415544"/>
                  </a:cubicBezTo>
                  <a:lnTo>
                    <a:pt x="69215" y="415544"/>
                  </a:lnTo>
                  <a:cubicBezTo>
                    <a:pt x="30988" y="415671"/>
                    <a:pt x="0" y="384556"/>
                    <a:pt x="0" y="346329"/>
                  </a:cubicBezTo>
                  <a:lnTo>
                    <a:pt x="0" y="69215"/>
                  </a:lnTo>
                  <a:cubicBezTo>
                    <a:pt x="0" y="30988"/>
                    <a:pt x="30988" y="0"/>
                    <a:pt x="69215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4929188" y="2348351"/>
            <a:ext cx="116900" cy="155867"/>
          </a:xfrm>
          <a:custGeom>
            <a:avLst/>
            <a:gdLst/>
            <a:ahLst/>
            <a:cxnLst/>
            <a:rect r="r" b="b" t="t" l="l"/>
            <a:pathLst>
              <a:path h="155867" w="116900">
                <a:moveTo>
                  <a:pt x="0" y="0"/>
                </a:moveTo>
                <a:lnTo>
                  <a:pt x="116900" y="0"/>
                </a:lnTo>
                <a:lnTo>
                  <a:pt x="116900" y="155867"/>
                </a:lnTo>
                <a:lnTo>
                  <a:pt x="0" y="1558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5247408" y="2244433"/>
            <a:ext cx="1922316" cy="259775"/>
            <a:chOff x="0" y="0"/>
            <a:chExt cx="2563089" cy="3463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3090" cy="346364"/>
            </a:xfrm>
            <a:custGeom>
              <a:avLst/>
              <a:gdLst/>
              <a:ahLst/>
              <a:cxnLst/>
              <a:rect r="r" b="b" t="t" l="l"/>
              <a:pathLst>
                <a:path h="346364" w="2563090">
                  <a:moveTo>
                    <a:pt x="0" y="0"/>
                  </a:moveTo>
                  <a:lnTo>
                    <a:pt x="2563090" y="0"/>
                  </a:lnTo>
                  <a:lnTo>
                    <a:pt x="2563090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8" r="0" b="-9418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63089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Arithmetic Ops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247408" y="2504208"/>
            <a:ext cx="1909324" cy="207816"/>
            <a:chOff x="0" y="0"/>
            <a:chExt cx="2545766" cy="2770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5772" cy="277090"/>
            </a:xfrm>
            <a:custGeom>
              <a:avLst/>
              <a:gdLst/>
              <a:ahLst/>
              <a:cxnLst/>
              <a:rect r="r" b="b" t="t" l="l"/>
              <a:pathLst>
                <a:path h="277090" w="2545772">
                  <a:moveTo>
                    <a:pt x="0" y="0"/>
                  </a:moveTo>
                  <a:lnTo>
                    <a:pt x="2545772" y="0"/>
                  </a:lnTo>
                  <a:lnTo>
                    <a:pt x="2545772" y="277090"/>
                  </a:lnTo>
                  <a:lnTo>
                    <a:pt x="0" y="277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19" r="0" b="-12901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545766" cy="296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227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+, -, *, /, % with precedence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37749" y="2841755"/>
            <a:ext cx="311725" cy="311725"/>
            <a:chOff x="0" y="0"/>
            <a:chExt cx="415633" cy="4156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5544" cy="415544"/>
            </a:xfrm>
            <a:custGeom>
              <a:avLst/>
              <a:gdLst/>
              <a:ahLst/>
              <a:cxnLst/>
              <a:rect r="r" b="b" t="t" l="l"/>
              <a:pathLst>
                <a:path h="415544" w="415544">
                  <a:moveTo>
                    <a:pt x="69215" y="0"/>
                  </a:moveTo>
                  <a:lnTo>
                    <a:pt x="346329" y="0"/>
                  </a:lnTo>
                  <a:cubicBezTo>
                    <a:pt x="384556" y="0"/>
                    <a:pt x="415544" y="30988"/>
                    <a:pt x="415544" y="69215"/>
                  </a:cubicBezTo>
                  <a:lnTo>
                    <a:pt x="415544" y="346329"/>
                  </a:lnTo>
                  <a:cubicBezTo>
                    <a:pt x="415544" y="384556"/>
                    <a:pt x="384556" y="415544"/>
                    <a:pt x="346329" y="415544"/>
                  </a:cubicBezTo>
                  <a:lnTo>
                    <a:pt x="69215" y="415544"/>
                  </a:lnTo>
                  <a:cubicBezTo>
                    <a:pt x="30988" y="415671"/>
                    <a:pt x="0" y="384556"/>
                    <a:pt x="0" y="346329"/>
                  </a:cubicBezTo>
                  <a:lnTo>
                    <a:pt x="0" y="69215"/>
                  </a:lnTo>
                  <a:cubicBezTo>
                    <a:pt x="0" y="30988"/>
                    <a:pt x="30988" y="0"/>
                    <a:pt x="69215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796204" y="2919689"/>
            <a:ext cx="194824" cy="155867"/>
          </a:xfrm>
          <a:custGeom>
            <a:avLst/>
            <a:gdLst/>
            <a:ahLst/>
            <a:cxnLst/>
            <a:rect r="r" b="b" t="t" l="l"/>
            <a:pathLst>
              <a:path h="155867" w="194824">
                <a:moveTo>
                  <a:pt x="0" y="0"/>
                </a:moveTo>
                <a:lnTo>
                  <a:pt x="194825" y="0"/>
                </a:lnTo>
                <a:lnTo>
                  <a:pt x="194825" y="155867"/>
                </a:lnTo>
                <a:lnTo>
                  <a:pt x="0" y="1558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53392" y="2815780"/>
            <a:ext cx="1714500" cy="259775"/>
            <a:chOff x="0" y="0"/>
            <a:chExt cx="2286000" cy="3463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86000" cy="346364"/>
            </a:xfrm>
            <a:custGeom>
              <a:avLst/>
              <a:gdLst/>
              <a:ahLst/>
              <a:cxnLst/>
              <a:rect r="r" b="b" t="t" l="l"/>
              <a:pathLst>
                <a:path h="346364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0" r="0" b="-7860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286000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Comparison &amp; Logic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53392" y="3075546"/>
            <a:ext cx="1701508" cy="207816"/>
            <a:chOff x="0" y="0"/>
            <a:chExt cx="2268677" cy="27708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68682" cy="277090"/>
            </a:xfrm>
            <a:custGeom>
              <a:avLst/>
              <a:gdLst/>
              <a:ahLst/>
              <a:cxnLst/>
              <a:rect r="r" b="b" t="t" l="l"/>
              <a:pathLst>
                <a:path h="277090" w="2268682">
                  <a:moveTo>
                    <a:pt x="0" y="0"/>
                  </a:moveTo>
                  <a:lnTo>
                    <a:pt x="2268682" y="0"/>
                  </a:lnTo>
                  <a:lnTo>
                    <a:pt x="2268682" y="277090"/>
                  </a:lnTo>
                  <a:lnTo>
                    <a:pt x="0" y="277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534" r="0" b="-10953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2268677" cy="296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227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==, !=, &lt;, &gt;, &amp;&amp;, ||, !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831775" y="2841755"/>
            <a:ext cx="311725" cy="311725"/>
            <a:chOff x="0" y="0"/>
            <a:chExt cx="415633" cy="41563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5544" cy="415544"/>
            </a:xfrm>
            <a:custGeom>
              <a:avLst/>
              <a:gdLst/>
              <a:ahLst/>
              <a:cxnLst/>
              <a:rect r="r" b="b" t="t" l="l"/>
              <a:pathLst>
                <a:path h="415544" w="415544">
                  <a:moveTo>
                    <a:pt x="69215" y="0"/>
                  </a:moveTo>
                  <a:lnTo>
                    <a:pt x="346329" y="0"/>
                  </a:lnTo>
                  <a:cubicBezTo>
                    <a:pt x="384556" y="0"/>
                    <a:pt x="415544" y="30988"/>
                    <a:pt x="415544" y="69215"/>
                  </a:cubicBezTo>
                  <a:lnTo>
                    <a:pt x="415544" y="346329"/>
                  </a:lnTo>
                  <a:cubicBezTo>
                    <a:pt x="415544" y="384556"/>
                    <a:pt x="384556" y="415544"/>
                    <a:pt x="346329" y="415544"/>
                  </a:cubicBezTo>
                  <a:lnTo>
                    <a:pt x="69215" y="415544"/>
                  </a:lnTo>
                  <a:cubicBezTo>
                    <a:pt x="30988" y="415671"/>
                    <a:pt x="0" y="384556"/>
                    <a:pt x="0" y="346329"/>
                  </a:cubicBezTo>
                  <a:lnTo>
                    <a:pt x="0" y="69215"/>
                  </a:lnTo>
                  <a:cubicBezTo>
                    <a:pt x="0" y="30988"/>
                    <a:pt x="30988" y="0"/>
                    <a:pt x="69215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4919443" y="2919689"/>
            <a:ext cx="136379" cy="155867"/>
          </a:xfrm>
          <a:custGeom>
            <a:avLst/>
            <a:gdLst/>
            <a:ahLst/>
            <a:cxnLst/>
            <a:rect r="r" b="b" t="t" l="l"/>
            <a:pathLst>
              <a:path h="155867" w="136379">
                <a:moveTo>
                  <a:pt x="0" y="0"/>
                </a:moveTo>
                <a:lnTo>
                  <a:pt x="136379" y="0"/>
                </a:lnTo>
                <a:lnTo>
                  <a:pt x="136379" y="155867"/>
                </a:lnTo>
                <a:lnTo>
                  <a:pt x="0" y="1558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5247408" y="2815780"/>
            <a:ext cx="1623574" cy="259775"/>
            <a:chOff x="0" y="0"/>
            <a:chExt cx="2164766" cy="34636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64772" cy="346364"/>
            </a:xfrm>
            <a:custGeom>
              <a:avLst/>
              <a:gdLst/>
              <a:ahLst/>
              <a:cxnLst/>
              <a:rect r="r" b="b" t="t" l="l"/>
              <a:pathLst>
                <a:path h="346364" w="2164772">
                  <a:moveTo>
                    <a:pt x="0" y="0"/>
                  </a:moveTo>
                  <a:lnTo>
                    <a:pt x="2164772" y="0"/>
                  </a:lnTo>
                  <a:lnTo>
                    <a:pt x="2164772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0" r="0" b="-7178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164766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Control Structures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247408" y="3075546"/>
            <a:ext cx="1610592" cy="207816"/>
            <a:chOff x="0" y="0"/>
            <a:chExt cx="2147456" cy="2770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47454" cy="277090"/>
            </a:xfrm>
            <a:custGeom>
              <a:avLst/>
              <a:gdLst/>
              <a:ahLst/>
              <a:cxnLst/>
              <a:rect r="r" b="b" t="t" l="l"/>
              <a:pathLst>
                <a:path h="277090" w="2147454">
                  <a:moveTo>
                    <a:pt x="0" y="0"/>
                  </a:moveTo>
                  <a:lnTo>
                    <a:pt x="2147454" y="0"/>
                  </a:lnTo>
                  <a:lnTo>
                    <a:pt x="2147454" y="277090"/>
                  </a:lnTo>
                  <a:lnTo>
                    <a:pt x="0" y="277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147456" cy="296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227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if/else, while, for loops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37749" y="3413093"/>
            <a:ext cx="311725" cy="311725"/>
            <a:chOff x="0" y="0"/>
            <a:chExt cx="415633" cy="41563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5544" cy="415544"/>
            </a:xfrm>
            <a:custGeom>
              <a:avLst/>
              <a:gdLst/>
              <a:ahLst/>
              <a:cxnLst/>
              <a:rect r="r" b="b" t="t" l="l"/>
              <a:pathLst>
                <a:path h="415544" w="415544">
                  <a:moveTo>
                    <a:pt x="69215" y="0"/>
                  </a:moveTo>
                  <a:lnTo>
                    <a:pt x="346329" y="0"/>
                  </a:lnTo>
                  <a:cubicBezTo>
                    <a:pt x="384556" y="0"/>
                    <a:pt x="415544" y="30988"/>
                    <a:pt x="415544" y="69215"/>
                  </a:cubicBezTo>
                  <a:lnTo>
                    <a:pt x="415544" y="346329"/>
                  </a:lnTo>
                  <a:cubicBezTo>
                    <a:pt x="415544" y="384556"/>
                    <a:pt x="384556" y="415544"/>
                    <a:pt x="346329" y="415544"/>
                  </a:cubicBezTo>
                  <a:lnTo>
                    <a:pt x="69215" y="415544"/>
                  </a:lnTo>
                  <a:cubicBezTo>
                    <a:pt x="30988" y="415671"/>
                    <a:pt x="0" y="384556"/>
                    <a:pt x="0" y="346329"/>
                  </a:cubicBezTo>
                  <a:lnTo>
                    <a:pt x="0" y="69215"/>
                  </a:lnTo>
                  <a:cubicBezTo>
                    <a:pt x="0" y="30988"/>
                    <a:pt x="30988" y="0"/>
                    <a:pt x="69215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815683" y="3491017"/>
            <a:ext cx="155867" cy="155867"/>
          </a:xfrm>
          <a:custGeom>
            <a:avLst/>
            <a:gdLst/>
            <a:ahLst/>
            <a:cxnLst/>
            <a:rect r="r" b="b" t="t" l="l"/>
            <a:pathLst>
              <a:path h="155867" w="155867">
                <a:moveTo>
                  <a:pt x="0" y="0"/>
                </a:moveTo>
                <a:lnTo>
                  <a:pt x="155867" y="0"/>
                </a:lnTo>
                <a:lnTo>
                  <a:pt x="155867" y="155867"/>
                </a:lnTo>
                <a:lnTo>
                  <a:pt x="0" y="15586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153392" y="3387119"/>
            <a:ext cx="2260025" cy="259775"/>
            <a:chOff x="0" y="0"/>
            <a:chExt cx="3013367" cy="34636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13364" cy="346364"/>
            </a:xfrm>
            <a:custGeom>
              <a:avLst/>
              <a:gdLst/>
              <a:ahLst/>
              <a:cxnLst/>
              <a:rect r="r" b="b" t="t" l="l"/>
              <a:pathLst>
                <a:path h="346364" w="3013364">
                  <a:moveTo>
                    <a:pt x="0" y="0"/>
                  </a:moveTo>
                  <a:lnTo>
                    <a:pt x="3013364" y="0"/>
                  </a:lnTo>
                  <a:lnTo>
                    <a:pt x="3013364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2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013367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Functions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53392" y="3646884"/>
            <a:ext cx="2247033" cy="207816"/>
            <a:chOff x="0" y="0"/>
            <a:chExt cx="2996044" cy="27708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996046" cy="277090"/>
            </a:xfrm>
            <a:custGeom>
              <a:avLst/>
              <a:gdLst/>
              <a:ahLst/>
              <a:cxnLst/>
              <a:rect r="r" b="b" t="t" l="l"/>
              <a:pathLst>
                <a:path h="277090" w="2996046">
                  <a:moveTo>
                    <a:pt x="0" y="0"/>
                  </a:moveTo>
                  <a:lnTo>
                    <a:pt x="2996046" y="0"/>
                  </a:lnTo>
                  <a:lnTo>
                    <a:pt x="2996046" y="277090"/>
                  </a:lnTo>
                  <a:lnTo>
                    <a:pt x="0" y="277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682" r="0" b="-16068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2996044" cy="296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227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Typed params, return, recursion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831775" y="3413093"/>
            <a:ext cx="311725" cy="311725"/>
            <a:chOff x="0" y="0"/>
            <a:chExt cx="415633" cy="41563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5544" cy="415544"/>
            </a:xfrm>
            <a:custGeom>
              <a:avLst/>
              <a:gdLst/>
              <a:ahLst/>
              <a:cxnLst/>
              <a:rect r="r" b="b" t="t" l="l"/>
              <a:pathLst>
                <a:path h="415544" w="415544">
                  <a:moveTo>
                    <a:pt x="69215" y="0"/>
                  </a:moveTo>
                  <a:lnTo>
                    <a:pt x="346329" y="0"/>
                  </a:lnTo>
                  <a:cubicBezTo>
                    <a:pt x="384556" y="0"/>
                    <a:pt x="415544" y="30988"/>
                    <a:pt x="415544" y="69215"/>
                  </a:cubicBezTo>
                  <a:lnTo>
                    <a:pt x="415544" y="346329"/>
                  </a:lnTo>
                  <a:cubicBezTo>
                    <a:pt x="415544" y="384556"/>
                    <a:pt x="384556" y="415544"/>
                    <a:pt x="346329" y="415544"/>
                  </a:cubicBezTo>
                  <a:lnTo>
                    <a:pt x="69215" y="415544"/>
                  </a:lnTo>
                  <a:cubicBezTo>
                    <a:pt x="30988" y="415671"/>
                    <a:pt x="0" y="384556"/>
                    <a:pt x="0" y="346329"/>
                  </a:cubicBezTo>
                  <a:lnTo>
                    <a:pt x="0" y="69215"/>
                  </a:lnTo>
                  <a:cubicBezTo>
                    <a:pt x="0" y="30988"/>
                    <a:pt x="30988" y="0"/>
                    <a:pt x="69215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sp>
        <p:nvSpPr>
          <p:cNvPr name="Freeform 60" id="60"/>
          <p:cNvSpPr/>
          <p:nvPr/>
        </p:nvSpPr>
        <p:spPr>
          <a:xfrm flipH="false" flipV="false" rot="0">
            <a:off x="4909699" y="3491017"/>
            <a:ext cx="155867" cy="155867"/>
          </a:xfrm>
          <a:custGeom>
            <a:avLst/>
            <a:gdLst/>
            <a:ahLst/>
            <a:cxnLst/>
            <a:rect r="r" b="b" t="t" l="l"/>
            <a:pathLst>
              <a:path h="155867" w="155867">
                <a:moveTo>
                  <a:pt x="0" y="0"/>
                </a:moveTo>
                <a:lnTo>
                  <a:pt x="155867" y="0"/>
                </a:lnTo>
                <a:lnTo>
                  <a:pt x="155867" y="155867"/>
                </a:lnTo>
                <a:lnTo>
                  <a:pt x="0" y="1558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5247408" y="3387119"/>
            <a:ext cx="2156117" cy="259775"/>
            <a:chOff x="0" y="0"/>
            <a:chExt cx="2874823" cy="34636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874818" cy="346364"/>
            </a:xfrm>
            <a:custGeom>
              <a:avLst/>
              <a:gdLst/>
              <a:ahLst/>
              <a:cxnLst/>
              <a:rect r="r" b="b" t="t" l="l"/>
              <a:pathLst>
                <a:path h="346364" w="2874818">
                  <a:moveTo>
                    <a:pt x="0" y="0"/>
                  </a:moveTo>
                  <a:lnTo>
                    <a:pt x="2874818" y="0"/>
                  </a:lnTo>
                  <a:lnTo>
                    <a:pt x="2874818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25" r="0" b="-11172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874823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Variable Scoping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247408" y="3646884"/>
            <a:ext cx="2143125" cy="207816"/>
            <a:chOff x="0" y="0"/>
            <a:chExt cx="2857500" cy="27708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857500" cy="277090"/>
            </a:xfrm>
            <a:custGeom>
              <a:avLst/>
              <a:gdLst/>
              <a:ahLst/>
              <a:cxnLst/>
              <a:rect r="r" b="b" t="t" l="l"/>
              <a:pathLst>
                <a:path h="277090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277090"/>
                  </a:lnTo>
                  <a:lnTo>
                    <a:pt x="0" y="277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940" r="0" b="-15093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2857500" cy="296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227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Block-scoped with shadowing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37749" y="3984422"/>
            <a:ext cx="311725" cy="311725"/>
            <a:chOff x="0" y="0"/>
            <a:chExt cx="415633" cy="41563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15544" cy="415544"/>
            </a:xfrm>
            <a:custGeom>
              <a:avLst/>
              <a:gdLst/>
              <a:ahLst/>
              <a:cxnLst/>
              <a:rect r="r" b="b" t="t" l="l"/>
              <a:pathLst>
                <a:path h="415544" w="415544">
                  <a:moveTo>
                    <a:pt x="69215" y="0"/>
                  </a:moveTo>
                  <a:lnTo>
                    <a:pt x="346329" y="0"/>
                  </a:lnTo>
                  <a:cubicBezTo>
                    <a:pt x="384556" y="0"/>
                    <a:pt x="415544" y="30988"/>
                    <a:pt x="415544" y="69215"/>
                  </a:cubicBezTo>
                  <a:lnTo>
                    <a:pt x="415544" y="346329"/>
                  </a:lnTo>
                  <a:cubicBezTo>
                    <a:pt x="415544" y="384556"/>
                    <a:pt x="384556" y="415544"/>
                    <a:pt x="346329" y="415544"/>
                  </a:cubicBezTo>
                  <a:lnTo>
                    <a:pt x="69215" y="415544"/>
                  </a:lnTo>
                  <a:cubicBezTo>
                    <a:pt x="30988" y="415671"/>
                    <a:pt x="0" y="384556"/>
                    <a:pt x="0" y="346329"/>
                  </a:cubicBezTo>
                  <a:lnTo>
                    <a:pt x="0" y="69215"/>
                  </a:lnTo>
                  <a:cubicBezTo>
                    <a:pt x="0" y="30988"/>
                    <a:pt x="30988" y="0"/>
                    <a:pt x="69215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815683" y="4062355"/>
            <a:ext cx="155867" cy="155867"/>
          </a:xfrm>
          <a:custGeom>
            <a:avLst/>
            <a:gdLst/>
            <a:ahLst/>
            <a:cxnLst/>
            <a:rect r="r" b="b" t="t" l="l"/>
            <a:pathLst>
              <a:path h="155867" w="155867">
                <a:moveTo>
                  <a:pt x="0" y="0"/>
                </a:moveTo>
                <a:lnTo>
                  <a:pt x="155867" y="0"/>
                </a:lnTo>
                <a:lnTo>
                  <a:pt x="155867" y="155867"/>
                </a:lnTo>
                <a:lnTo>
                  <a:pt x="0" y="1558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153392" y="3958447"/>
            <a:ext cx="2221059" cy="296632"/>
            <a:chOff x="0" y="0"/>
            <a:chExt cx="2961411" cy="39551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961410" cy="395506"/>
            </a:xfrm>
            <a:custGeom>
              <a:avLst/>
              <a:gdLst/>
              <a:ahLst/>
              <a:cxnLst/>
              <a:rect r="r" b="b" t="t" l="l"/>
              <a:pathLst>
                <a:path h="395506" w="2961410">
                  <a:moveTo>
                    <a:pt x="0" y="0"/>
                  </a:moveTo>
                  <a:lnTo>
                    <a:pt x="2961410" y="0"/>
                  </a:lnTo>
                  <a:lnTo>
                    <a:pt x="2961410" y="395506"/>
                  </a:lnTo>
                  <a:lnTo>
                    <a:pt x="0" y="3955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09" r="0" b="-8968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961411" cy="43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Built-in print()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53392" y="4218222"/>
            <a:ext cx="2208066" cy="207816"/>
            <a:chOff x="0" y="0"/>
            <a:chExt cx="2944089" cy="27708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944090" cy="277090"/>
            </a:xfrm>
            <a:custGeom>
              <a:avLst/>
              <a:gdLst/>
              <a:ahLst/>
              <a:cxnLst/>
              <a:rect r="r" b="b" t="t" l="l"/>
              <a:pathLst>
                <a:path h="277090" w="2944090">
                  <a:moveTo>
                    <a:pt x="0" y="0"/>
                  </a:moveTo>
                  <a:lnTo>
                    <a:pt x="2944090" y="0"/>
                  </a:lnTo>
                  <a:lnTo>
                    <a:pt x="2944090" y="277090"/>
                  </a:lnTo>
                  <a:lnTo>
                    <a:pt x="0" y="277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9" r="0" b="-15702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2944089" cy="296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227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Multi-argument console output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831775" y="3984422"/>
            <a:ext cx="311725" cy="311725"/>
            <a:chOff x="0" y="0"/>
            <a:chExt cx="415633" cy="41563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15544" cy="415544"/>
            </a:xfrm>
            <a:custGeom>
              <a:avLst/>
              <a:gdLst/>
              <a:ahLst/>
              <a:cxnLst/>
              <a:rect r="r" b="b" t="t" l="l"/>
              <a:pathLst>
                <a:path h="415544" w="415544">
                  <a:moveTo>
                    <a:pt x="69215" y="0"/>
                  </a:moveTo>
                  <a:lnTo>
                    <a:pt x="346329" y="0"/>
                  </a:lnTo>
                  <a:cubicBezTo>
                    <a:pt x="384556" y="0"/>
                    <a:pt x="415544" y="30988"/>
                    <a:pt x="415544" y="69215"/>
                  </a:cubicBezTo>
                  <a:lnTo>
                    <a:pt x="415544" y="346329"/>
                  </a:lnTo>
                  <a:cubicBezTo>
                    <a:pt x="415544" y="384556"/>
                    <a:pt x="384556" y="415544"/>
                    <a:pt x="346329" y="415544"/>
                  </a:cubicBezTo>
                  <a:lnTo>
                    <a:pt x="69215" y="415544"/>
                  </a:lnTo>
                  <a:cubicBezTo>
                    <a:pt x="30988" y="415671"/>
                    <a:pt x="0" y="384556"/>
                    <a:pt x="0" y="346329"/>
                  </a:cubicBezTo>
                  <a:lnTo>
                    <a:pt x="0" y="69215"/>
                  </a:lnTo>
                  <a:cubicBezTo>
                    <a:pt x="0" y="30988"/>
                    <a:pt x="30988" y="0"/>
                    <a:pt x="69215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909699" y="4062355"/>
            <a:ext cx="155867" cy="155867"/>
            <a:chOff x="0" y="0"/>
            <a:chExt cx="207823" cy="20782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-77" y="0"/>
              <a:ext cx="207849" cy="207796"/>
            </a:xfrm>
            <a:custGeom>
              <a:avLst/>
              <a:gdLst/>
              <a:ahLst/>
              <a:cxnLst/>
              <a:rect r="r" b="b" t="t" l="l"/>
              <a:pathLst>
                <a:path h="207796" w="207849">
                  <a:moveTo>
                    <a:pt x="207849" y="97409"/>
                  </a:moveTo>
                  <a:cubicBezTo>
                    <a:pt x="207849" y="151130"/>
                    <a:pt x="161367" y="194818"/>
                    <a:pt x="103963" y="194818"/>
                  </a:cubicBezTo>
                  <a:cubicBezTo>
                    <a:pt x="88850" y="194818"/>
                    <a:pt x="74626" y="191770"/>
                    <a:pt x="61672" y="186436"/>
                  </a:cubicBezTo>
                  <a:lnTo>
                    <a:pt x="13666" y="207010"/>
                  </a:lnTo>
                  <a:cubicBezTo>
                    <a:pt x="9856" y="208661"/>
                    <a:pt x="5411" y="207645"/>
                    <a:pt x="2617" y="204597"/>
                  </a:cubicBezTo>
                  <a:cubicBezTo>
                    <a:pt x="-177" y="201549"/>
                    <a:pt x="-812" y="197104"/>
                    <a:pt x="1093" y="193421"/>
                  </a:cubicBezTo>
                  <a:lnTo>
                    <a:pt x="20905" y="155956"/>
                  </a:lnTo>
                  <a:cubicBezTo>
                    <a:pt x="7824" y="139700"/>
                    <a:pt x="77" y="119507"/>
                    <a:pt x="77" y="97409"/>
                  </a:cubicBezTo>
                  <a:cubicBezTo>
                    <a:pt x="77" y="43688"/>
                    <a:pt x="46559" y="0"/>
                    <a:pt x="103963" y="0"/>
                  </a:cubicBezTo>
                  <a:cubicBezTo>
                    <a:pt x="161367" y="0"/>
                    <a:pt x="207849" y="43688"/>
                    <a:pt x="207849" y="97409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247408" y="3958447"/>
            <a:ext cx="1467717" cy="259775"/>
            <a:chOff x="0" y="0"/>
            <a:chExt cx="1956956" cy="34636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956954" cy="346364"/>
            </a:xfrm>
            <a:custGeom>
              <a:avLst/>
              <a:gdLst/>
              <a:ahLst/>
              <a:cxnLst/>
              <a:rect r="r" b="b" t="t" l="l"/>
              <a:pathLst>
                <a:path h="346364" w="1956954">
                  <a:moveTo>
                    <a:pt x="0" y="0"/>
                  </a:moveTo>
                  <a:lnTo>
                    <a:pt x="1956954" y="0"/>
                  </a:lnTo>
                  <a:lnTo>
                    <a:pt x="1956954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89" r="0" b="-6009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956956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Comments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247408" y="4218222"/>
            <a:ext cx="1454725" cy="207816"/>
            <a:chOff x="0" y="0"/>
            <a:chExt cx="1939633" cy="27708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39636" cy="277090"/>
            </a:xfrm>
            <a:custGeom>
              <a:avLst/>
              <a:gdLst/>
              <a:ahLst/>
              <a:cxnLst/>
              <a:rect r="r" b="b" t="t" l="l"/>
              <a:pathLst>
                <a:path h="277090" w="1939636">
                  <a:moveTo>
                    <a:pt x="0" y="0"/>
                  </a:moveTo>
                  <a:lnTo>
                    <a:pt x="1939636" y="0"/>
                  </a:lnTo>
                  <a:lnTo>
                    <a:pt x="1939636" y="277090"/>
                  </a:lnTo>
                  <a:lnTo>
                    <a:pt x="0" y="277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1939633" cy="296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227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// line and /* block */</a:t>
              </a: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517122" y="8163535"/>
            <a:ext cx="8520198" cy="1831048"/>
          </a:xfrm>
          <a:custGeom>
            <a:avLst/>
            <a:gdLst/>
            <a:ahLst/>
            <a:cxnLst/>
            <a:rect r="r" b="b" t="t" l="l"/>
            <a:pathLst>
              <a:path h="1831048" w="8520198">
                <a:moveTo>
                  <a:pt x="0" y="0"/>
                </a:moveTo>
                <a:lnTo>
                  <a:pt x="8520198" y="0"/>
                </a:lnTo>
                <a:lnTo>
                  <a:pt x="8520198" y="1831047"/>
                </a:lnTo>
                <a:lnTo>
                  <a:pt x="0" y="18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770230" y="8436121"/>
            <a:ext cx="259775" cy="259775"/>
          </a:xfrm>
          <a:custGeom>
            <a:avLst/>
            <a:gdLst/>
            <a:ahLst/>
            <a:cxnLst/>
            <a:rect r="r" b="b" t="t" l="l"/>
            <a:pathLst>
              <a:path h="259775" w="259775">
                <a:moveTo>
                  <a:pt x="0" y="0"/>
                </a:moveTo>
                <a:lnTo>
                  <a:pt x="259775" y="0"/>
                </a:lnTo>
                <a:lnTo>
                  <a:pt x="259775" y="259775"/>
                </a:lnTo>
                <a:lnTo>
                  <a:pt x="0" y="25977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1218333" y="8384162"/>
            <a:ext cx="2389908" cy="363684"/>
            <a:chOff x="0" y="0"/>
            <a:chExt cx="3186544" cy="48491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86546" cy="484910"/>
            </a:xfrm>
            <a:custGeom>
              <a:avLst/>
              <a:gdLst/>
              <a:ahLst/>
              <a:cxnLst/>
              <a:rect r="r" b="b" t="t" l="l"/>
              <a:pathLst>
                <a:path h="484910" w="3186546">
                  <a:moveTo>
                    <a:pt x="0" y="0"/>
                  </a:moveTo>
                  <a:lnTo>
                    <a:pt x="3186546" y="0"/>
                  </a:lnTo>
                  <a:lnTo>
                    <a:pt x="3186546" y="484910"/>
                  </a:lnTo>
                  <a:lnTo>
                    <a:pt x="0" y="484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3186544" cy="542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184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Intentionally Excluded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735330" y="8901284"/>
            <a:ext cx="2220716" cy="389315"/>
          </a:xfrm>
          <a:custGeom>
            <a:avLst/>
            <a:gdLst/>
            <a:ahLst/>
            <a:cxnLst/>
            <a:rect r="r" b="b" t="t" l="l"/>
            <a:pathLst>
              <a:path h="389315" w="2220716">
                <a:moveTo>
                  <a:pt x="0" y="0"/>
                </a:moveTo>
                <a:lnTo>
                  <a:pt x="2220716" y="0"/>
                </a:lnTo>
                <a:lnTo>
                  <a:pt x="2220716" y="389315"/>
                </a:lnTo>
                <a:lnTo>
                  <a:pt x="0" y="38931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737749" y="8903713"/>
            <a:ext cx="2286000" cy="363684"/>
            <a:chOff x="0" y="0"/>
            <a:chExt cx="3048000" cy="4849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48000" cy="484910"/>
            </a:xfrm>
            <a:custGeom>
              <a:avLst/>
              <a:gdLst/>
              <a:ahLst/>
              <a:cxnLst/>
              <a:rect r="r" b="b" t="t" l="l"/>
              <a:pathLst>
                <a:path h="48491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84910"/>
                  </a:lnTo>
                  <a:lnTo>
                    <a:pt x="0" y="484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048000" cy="523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87171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Floating-point numbers</a:t>
              </a: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3048610" y="8901284"/>
            <a:ext cx="1727140" cy="389315"/>
          </a:xfrm>
          <a:custGeom>
            <a:avLst/>
            <a:gdLst/>
            <a:ahLst/>
            <a:cxnLst/>
            <a:rect r="r" b="b" t="t" l="l"/>
            <a:pathLst>
              <a:path h="389315" w="1727140">
                <a:moveTo>
                  <a:pt x="0" y="0"/>
                </a:moveTo>
                <a:lnTo>
                  <a:pt x="1727139" y="0"/>
                </a:lnTo>
                <a:lnTo>
                  <a:pt x="1727139" y="389315"/>
                </a:lnTo>
                <a:lnTo>
                  <a:pt x="0" y="38931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3051029" y="8903713"/>
            <a:ext cx="1792434" cy="363684"/>
            <a:chOff x="0" y="0"/>
            <a:chExt cx="2389911" cy="48491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389910" cy="484910"/>
            </a:xfrm>
            <a:custGeom>
              <a:avLst/>
              <a:gdLst/>
              <a:ahLst/>
              <a:cxnLst/>
              <a:rect r="r" b="b" t="t" l="l"/>
              <a:pathLst>
                <a:path h="484910" w="2389910">
                  <a:moveTo>
                    <a:pt x="0" y="0"/>
                  </a:moveTo>
                  <a:lnTo>
                    <a:pt x="2389910" y="0"/>
                  </a:lnTo>
                  <a:lnTo>
                    <a:pt x="2389910" y="484910"/>
                  </a:lnTo>
                  <a:lnTo>
                    <a:pt x="0" y="484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33" r="0" b="-46033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389911" cy="523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87171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Arrays &amp; pointers</a:t>
              </a: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4874971" y="8901284"/>
            <a:ext cx="2324614" cy="389315"/>
          </a:xfrm>
          <a:custGeom>
            <a:avLst/>
            <a:gdLst/>
            <a:ahLst/>
            <a:cxnLst/>
            <a:rect r="r" b="b" t="t" l="l"/>
            <a:pathLst>
              <a:path h="389315" w="2324614">
                <a:moveTo>
                  <a:pt x="0" y="0"/>
                </a:moveTo>
                <a:lnTo>
                  <a:pt x="2324615" y="0"/>
                </a:lnTo>
                <a:lnTo>
                  <a:pt x="2324615" y="389315"/>
                </a:lnTo>
                <a:lnTo>
                  <a:pt x="0" y="38931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4877400" y="8903713"/>
            <a:ext cx="2389908" cy="363684"/>
            <a:chOff x="0" y="0"/>
            <a:chExt cx="3186544" cy="4849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186546" cy="484910"/>
            </a:xfrm>
            <a:custGeom>
              <a:avLst/>
              <a:gdLst/>
              <a:ahLst/>
              <a:cxnLst/>
              <a:rect r="r" b="b" t="t" l="l"/>
              <a:pathLst>
                <a:path h="484910" w="3186546">
                  <a:moveTo>
                    <a:pt x="0" y="0"/>
                  </a:moveTo>
                  <a:lnTo>
                    <a:pt x="3186546" y="0"/>
                  </a:lnTo>
                  <a:lnTo>
                    <a:pt x="3186546" y="484910"/>
                  </a:lnTo>
                  <a:lnTo>
                    <a:pt x="0" y="484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186544" cy="523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87171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Module system / imports</a:t>
              </a: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735330" y="9389659"/>
            <a:ext cx="2519448" cy="389315"/>
          </a:xfrm>
          <a:custGeom>
            <a:avLst/>
            <a:gdLst/>
            <a:ahLst/>
            <a:cxnLst/>
            <a:rect r="r" b="b" t="t" l="l"/>
            <a:pathLst>
              <a:path h="389315" w="2519448">
                <a:moveTo>
                  <a:pt x="0" y="0"/>
                </a:moveTo>
                <a:lnTo>
                  <a:pt x="2519448" y="0"/>
                </a:lnTo>
                <a:lnTo>
                  <a:pt x="2519448" y="389316"/>
                </a:lnTo>
                <a:lnTo>
                  <a:pt x="0" y="38931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4" id="104"/>
          <p:cNvGrpSpPr/>
          <p:nvPr/>
        </p:nvGrpSpPr>
        <p:grpSpPr>
          <a:xfrm rot="0">
            <a:off x="747274" y="9392088"/>
            <a:ext cx="2584742" cy="363684"/>
            <a:chOff x="0" y="0"/>
            <a:chExt cx="3446323" cy="48491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446318" cy="484910"/>
            </a:xfrm>
            <a:custGeom>
              <a:avLst/>
              <a:gdLst/>
              <a:ahLst/>
              <a:cxnLst/>
              <a:rect r="r" b="b" t="t" l="l"/>
              <a:pathLst>
                <a:path h="484910" w="3446318">
                  <a:moveTo>
                    <a:pt x="0" y="0"/>
                  </a:moveTo>
                  <a:lnTo>
                    <a:pt x="3446318" y="0"/>
                  </a:lnTo>
                  <a:lnTo>
                    <a:pt x="3446318" y="484910"/>
                  </a:lnTo>
                  <a:lnTo>
                    <a:pt x="0" y="484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82" r="0" b="-884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446323" cy="523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87171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input() runtime (lexed only)</a:t>
              </a:r>
            </a:p>
          </p:txBody>
        </p:sp>
      </p:grpSp>
      <p:sp>
        <p:nvSpPr>
          <p:cNvPr name="Freeform 107" id="107"/>
          <p:cNvSpPr/>
          <p:nvPr/>
        </p:nvSpPr>
        <p:spPr>
          <a:xfrm flipH="false" flipV="false" rot="0">
            <a:off x="9245479" y="1504255"/>
            <a:ext cx="8520198" cy="6844665"/>
          </a:xfrm>
          <a:custGeom>
            <a:avLst/>
            <a:gdLst/>
            <a:ahLst/>
            <a:cxnLst/>
            <a:rect r="r" b="b" t="t" l="l"/>
            <a:pathLst>
              <a:path h="6844665" w="8520198">
                <a:moveTo>
                  <a:pt x="0" y="0"/>
                </a:moveTo>
                <a:lnTo>
                  <a:pt x="8520199" y="0"/>
                </a:lnTo>
                <a:lnTo>
                  <a:pt x="8520199" y="6844665"/>
                </a:lnTo>
                <a:lnTo>
                  <a:pt x="0" y="684466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8" id="108"/>
          <p:cNvGrpSpPr/>
          <p:nvPr/>
        </p:nvGrpSpPr>
        <p:grpSpPr>
          <a:xfrm rot="0">
            <a:off x="9258300" y="1517075"/>
            <a:ext cx="8494566" cy="576701"/>
            <a:chOff x="0" y="0"/>
            <a:chExt cx="11326089" cy="76893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325987" cy="768985"/>
            </a:xfrm>
            <a:custGeom>
              <a:avLst/>
              <a:gdLst/>
              <a:ahLst/>
              <a:cxnLst/>
              <a:rect r="r" b="b" t="t" l="l"/>
              <a:pathLst>
                <a:path h="768985" w="11325987">
                  <a:moveTo>
                    <a:pt x="207772" y="0"/>
                  </a:moveTo>
                  <a:lnTo>
                    <a:pt x="11118215" y="0"/>
                  </a:lnTo>
                  <a:cubicBezTo>
                    <a:pt x="11233023" y="0"/>
                    <a:pt x="11325987" y="93091"/>
                    <a:pt x="11325987" y="207772"/>
                  </a:cubicBezTo>
                  <a:lnTo>
                    <a:pt x="11325987" y="768985"/>
                  </a:lnTo>
                  <a:lnTo>
                    <a:pt x="0" y="768985"/>
                  </a:lnTo>
                  <a:lnTo>
                    <a:pt x="0" y="207772"/>
                  </a:lnTo>
                  <a:cubicBezTo>
                    <a:pt x="0" y="93091"/>
                    <a:pt x="93091" y="0"/>
                    <a:pt x="207772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258300" y="2093766"/>
            <a:ext cx="8494566" cy="10392"/>
            <a:chOff x="0" y="0"/>
            <a:chExt cx="11326089" cy="1385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326114" cy="13843"/>
            </a:xfrm>
            <a:custGeom>
              <a:avLst/>
              <a:gdLst/>
              <a:ahLst/>
              <a:cxnLst/>
              <a:rect r="r" b="b" t="t" l="l"/>
              <a:pathLst>
                <a:path h="13843" w="11326114">
                  <a:moveTo>
                    <a:pt x="0" y="0"/>
                  </a:moveTo>
                  <a:lnTo>
                    <a:pt x="11326114" y="0"/>
                  </a:lnTo>
                  <a:lnTo>
                    <a:pt x="11326114" y="13843"/>
                  </a:lnTo>
                  <a:lnTo>
                    <a:pt x="0" y="138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BDF8">
                <a:alpha val="3922"/>
              </a:srgbClr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466116" y="1724892"/>
            <a:ext cx="155867" cy="155867"/>
            <a:chOff x="0" y="0"/>
            <a:chExt cx="207823" cy="207823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07772" cy="207772"/>
            </a:xfrm>
            <a:custGeom>
              <a:avLst/>
              <a:gdLst/>
              <a:ahLst/>
              <a:cxnLst/>
              <a:rect r="r" b="b" t="t" l="l"/>
              <a:pathLst>
                <a:path h="207772" w="207772">
                  <a:moveTo>
                    <a:pt x="103886" y="0"/>
                  </a:moveTo>
                  <a:cubicBezTo>
                    <a:pt x="161290" y="0"/>
                    <a:pt x="207772" y="46609"/>
                    <a:pt x="207772" y="103886"/>
                  </a:cubicBezTo>
                  <a:cubicBezTo>
                    <a:pt x="207772" y="161163"/>
                    <a:pt x="161163" y="207772"/>
                    <a:pt x="103886" y="207772"/>
                  </a:cubicBezTo>
                  <a:cubicBezTo>
                    <a:pt x="46609" y="207772"/>
                    <a:pt x="0" y="161290"/>
                    <a:pt x="0" y="103886"/>
                  </a:cubicBezTo>
                  <a:cubicBezTo>
                    <a:pt x="0" y="46482"/>
                    <a:pt x="46609" y="0"/>
                    <a:pt x="103886" y="0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725892" y="1724892"/>
            <a:ext cx="155867" cy="155867"/>
            <a:chOff x="0" y="0"/>
            <a:chExt cx="207823" cy="207823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07772" cy="207772"/>
            </a:xfrm>
            <a:custGeom>
              <a:avLst/>
              <a:gdLst/>
              <a:ahLst/>
              <a:cxnLst/>
              <a:rect r="r" b="b" t="t" l="l"/>
              <a:pathLst>
                <a:path h="207772" w="207772">
                  <a:moveTo>
                    <a:pt x="103886" y="0"/>
                  </a:moveTo>
                  <a:cubicBezTo>
                    <a:pt x="161290" y="0"/>
                    <a:pt x="207772" y="46609"/>
                    <a:pt x="207772" y="103886"/>
                  </a:cubicBezTo>
                  <a:cubicBezTo>
                    <a:pt x="207772" y="161163"/>
                    <a:pt x="161163" y="207772"/>
                    <a:pt x="103886" y="207772"/>
                  </a:cubicBezTo>
                  <a:cubicBezTo>
                    <a:pt x="46609" y="207772"/>
                    <a:pt x="0" y="161290"/>
                    <a:pt x="0" y="103886"/>
                  </a:cubicBezTo>
                  <a:cubicBezTo>
                    <a:pt x="0" y="46482"/>
                    <a:pt x="46609" y="0"/>
                    <a:pt x="103886" y="0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985667" y="1724892"/>
            <a:ext cx="155867" cy="155867"/>
            <a:chOff x="0" y="0"/>
            <a:chExt cx="207823" cy="20782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07772" cy="207772"/>
            </a:xfrm>
            <a:custGeom>
              <a:avLst/>
              <a:gdLst/>
              <a:ahLst/>
              <a:cxnLst/>
              <a:rect r="r" b="b" t="t" l="l"/>
              <a:pathLst>
                <a:path h="207772" w="207772">
                  <a:moveTo>
                    <a:pt x="103886" y="0"/>
                  </a:moveTo>
                  <a:cubicBezTo>
                    <a:pt x="161290" y="0"/>
                    <a:pt x="207772" y="46609"/>
                    <a:pt x="207772" y="103886"/>
                  </a:cubicBezTo>
                  <a:cubicBezTo>
                    <a:pt x="207772" y="161163"/>
                    <a:pt x="161163" y="207772"/>
                    <a:pt x="103886" y="207772"/>
                  </a:cubicBezTo>
                  <a:cubicBezTo>
                    <a:pt x="46609" y="207772"/>
                    <a:pt x="0" y="161290"/>
                    <a:pt x="0" y="103886"/>
                  </a:cubicBezTo>
                  <a:cubicBezTo>
                    <a:pt x="0" y="46482"/>
                    <a:pt x="46609" y="0"/>
                    <a:pt x="103886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349351" y="1672933"/>
            <a:ext cx="1104033" cy="259775"/>
            <a:chOff x="0" y="0"/>
            <a:chExt cx="1472044" cy="346367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472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472046">
                  <a:moveTo>
                    <a:pt x="0" y="0"/>
                  </a:moveTo>
                  <a:lnTo>
                    <a:pt x="1472046" y="0"/>
                  </a:lnTo>
                  <a:lnTo>
                    <a:pt x="1472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0" r="0" b="-32811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1472044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factorial.cpp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466116" y="2306784"/>
            <a:ext cx="8169850" cy="259775"/>
            <a:chOff x="0" y="0"/>
            <a:chExt cx="10893133" cy="346367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893136" cy="346364"/>
            </a:xfrm>
            <a:custGeom>
              <a:avLst/>
              <a:gdLst/>
              <a:ahLst/>
              <a:cxnLst/>
              <a:rect r="r" b="b" t="t" l="l"/>
              <a:pathLst>
                <a:path h="346364" w="10893136">
                  <a:moveTo>
                    <a:pt x="0" y="0"/>
                  </a:moveTo>
                  <a:lnTo>
                    <a:pt x="10893136" y="0"/>
                  </a:lnTo>
                  <a:lnTo>
                    <a:pt x="1089313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03" r="0" b="-56280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10893133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int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758362" y="2244433"/>
            <a:ext cx="8169850" cy="389663"/>
            <a:chOff x="0" y="0"/>
            <a:chExt cx="10893133" cy="51955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0893136" cy="519546"/>
            </a:xfrm>
            <a:custGeom>
              <a:avLst/>
              <a:gdLst/>
              <a:ahLst/>
              <a:cxnLst/>
              <a:rect r="r" b="b" t="t" l="l"/>
              <a:pathLst>
                <a:path h="519546" w="10893136">
                  <a:moveTo>
                    <a:pt x="0" y="0"/>
                  </a:moveTo>
                  <a:lnTo>
                    <a:pt x="10893136" y="0"/>
                  </a:lnTo>
                  <a:lnTo>
                    <a:pt x="10893136" y="519546"/>
                  </a:lnTo>
                  <a:lnTo>
                    <a:pt x="0" y="5195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5202" r="0" b="-341869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10893133" cy="567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factorial( </a:t>
              </a:r>
              <a:r>
                <a:rPr lang="en-US" sz="1432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int</a:t>
              </a: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 n) {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673933" y="2826325"/>
            <a:ext cx="7962033" cy="259775"/>
            <a:chOff x="0" y="0"/>
            <a:chExt cx="10616044" cy="346367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if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673933" y="3086100"/>
            <a:ext cx="7962033" cy="259775"/>
            <a:chOff x="0" y="0"/>
            <a:chExt cx="10616044" cy="346367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(n &lt;= </a:t>
              </a:r>
              <a:r>
                <a:rPr lang="en-US" sz="1432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 ) {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881749" y="3345875"/>
            <a:ext cx="7754217" cy="259775"/>
            <a:chOff x="0" y="0"/>
            <a:chExt cx="10338956" cy="346367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0338954" cy="346364"/>
            </a:xfrm>
            <a:custGeom>
              <a:avLst/>
              <a:gdLst/>
              <a:ahLst/>
              <a:cxnLst/>
              <a:rect r="r" b="b" t="t" l="l"/>
              <a:pathLst>
                <a:path h="346364" w="10338954">
                  <a:moveTo>
                    <a:pt x="0" y="0"/>
                  </a:moveTo>
                  <a:lnTo>
                    <a:pt x="10338954" y="0"/>
                  </a:lnTo>
                  <a:lnTo>
                    <a:pt x="10338954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627" r="0" b="-531628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47625"/>
              <a:ext cx="10338956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return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881749" y="3605651"/>
            <a:ext cx="7754217" cy="259775"/>
            <a:chOff x="0" y="0"/>
            <a:chExt cx="10338956" cy="346367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0338954" cy="346364"/>
            </a:xfrm>
            <a:custGeom>
              <a:avLst/>
              <a:gdLst/>
              <a:ahLst/>
              <a:cxnLst/>
              <a:rect r="r" b="b" t="t" l="l"/>
              <a:pathLst>
                <a:path h="346364" w="10338954">
                  <a:moveTo>
                    <a:pt x="0" y="0"/>
                  </a:moveTo>
                  <a:lnTo>
                    <a:pt x="10338954" y="0"/>
                  </a:lnTo>
                  <a:lnTo>
                    <a:pt x="10338954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627" r="0" b="-531628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47625"/>
              <a:ext cx="10338956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673933" y="3865416"/>
            <a:ext cx="7962033" cy="259775"/>
            <a:chOff x="0" y="0"/>
            <a:chExt cx="10616044" cy="346367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}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673933" y="4125192"/>
            <a:ext cx="7962033" cy="259775"/>
            <a:chOff x="0" y="0"/>
            <a:chExt cx="10616044" cy="346367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return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673933" y="4384967"/>
            <a:ext cx="7962033" cy="259775"/>
            <a:chOff x="0" y="0"/>
            <a:chExt cx="10616044" cy="346367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n * factorial(n - </a:t>
              </a:r>
              <a:r>
                <a:rPr lang="en-US" sz="1432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 );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466116" y="4644742"/>
            <a:ext cx="8169850" cy="259775"/>
            <a:chOff x="0" y="0"/>
            <a:chExt cx="10893133" cy="346367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0893136" cy="346364"/>
            </a:xfrm>
            <a:custGeom>
              <a:avLst/>
              <a:gdLst/>
              <a:ahLst/>
              <a:cxnLst/>
              <a:rect r="r" b="b" t="t" l="l"/>
              <a:pathLst>
                <a:path h="346364" w="10893136">
                  <a:moveTo>
                    <a:pt x="0" y="0"/>
                  </a:moveTo>
                  <a:lnTo>
                    <a:pt x="10893136" y="0"/>
                  </a:lnTo>
                  <a:lnTo>
                    <a:pt x="1089313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03" r="0" b="-562804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47625"/>
              <a:ext cx="10893133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}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9466116" y="5008416"/>
            <a:ext cx="8169850" cy="259775"/>
            <a:chOff x="0" y="0"/>
            <a:chExt cx="10893133" cy="346367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893136" cy="346364"/>
            </a:xfrm>
            <a:custGeom>
              <a:avLst/>
              <a:gdLst/>
              <a:ahLst/>
              <a:cxnLst/>
              <a:rect r="r" b="b" t="t" l="l"/>
              <a:pathLst>
                <a:path h="346364" w="10893136">
                  <a:moveTo>
                    <a:pt x="0" y="0"/>
                  </a:moveTo>
                  <a:lnTo>
                    <a:pt x="10893136" y="0"/>
                  </a:lnTo>
                  <a:lnTo>
                    <a:pt x="1089313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03" r="0" b="-562804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47625"/>
              <a:ext cx="10893133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int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466116" y="5268192"/>
            <a:ext cx="8169850" cy="259775"/>
            <a:chOff x="0" y="0"/>
            <a:chExt cx="10893133" cy="346367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0893136" cy="346364"/>
            </a:xfrm>
            <a:custGeom>
              <a:avLst/>
              <a:gdLst/>
              <a:ahLst/>
              <a:cxnLst/>
              <a:rect r="r" b="b" t="t" l="l"/>
              <a:pathLst>
                <a:path h="346364" w="10893136">
                  <a:moveTo>
                    <a:pt x="0" y="0"/>
                  </a:moveTo>
                  <a:lnTo>
                    <a:pt x="10893136" y="0"/>
                  </a:lnTo>
                  <a:lnTo>
                    <a:pt x="1089313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03" r="0" b="-562804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47625"/>
              <a:ext cx="10893133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main() {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9673933" y="5527967"/>
            <a:ext cx="7962033" cy="259775"/>
            <a:chOff x="0" y="0"/>
            <a:chExt cx="10616044" cy="346367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int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9673933" y="5787742"/>
            <a:ext cx="7962033" cy="259775"/>
            <a:chOff x="0" y="0"/>
            <a:chExt cx="10616044" cy="346367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i = </a:t>
              </a:r>
              <a:r>
                <a:rPr lang="en-US" sz="1432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 ;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9673933" y="6047508"/>
            <a:ext cx="7962033" cy="259775"/>
            <a:chOff x="0" y="0"/>
            <a:chExt cx="10616044" cy="346367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while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9673933" y="6307284"/>
            <a:ext cx="7962033" cy="259775"/>
            <a:chOff x="0" y="0"/>
            <a:chExt cx="10616044" cy="346367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(i &lt;= </a:t>
              </a:r>
              <a:r>
                <a:rPr lang="en-US" sz="1432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8</a:t>
              </a: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 ) {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9881749" y="6567059"/>
            <a:ext cx="7754217" cy="545217"/>
            <a:chOff x="0" y="0"/>
            <a:chExt cx="10338956" cy="726956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0338954" cy="726950"/>
            </a:xfrm>
            <a:custGeom>
              <a:avLst/>
              <a:gdLst/>
              <a:ahLst/>
              <a:cxnLst/>
              <a:rect r="r" b="b" t="t" l="l"/>
              <a:pathLst>
                <a:path h="726950" w="10338954">
                  <a:moveTo>
                    <a:pt x="0" y="0"/>
                  </a:moveTo>
                  <a:lnTo>
                    <a:pt x="10338954" y="0"/>
                  </a:lnTo>
                  <a:lnTo>
                    <a:pt x="10338954" y="726950"/>
                  </a:lnTo>
                  <a:lnTo>
                    <a:pt x="0" y="726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300" r="0" b="-200946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47625"/>
              <a:ext cx="10338956" cy="774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cout &lt;&lt; </a:t>
              </a:r>
              <a:r>
                <a:rPr lang="en-US" sz="1432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<![CDATA[i << "! = " << factorial(i) << endl;]]></a:t>
              </a:r>
            </a:p>
            <a:p>
              <a:pPr algn="l">
                <a:lnSpc>
                  <a:spcPts val="2062"/>
                </a:lnSpc>
              </a:pP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9881749" y="6826825"/>
            <a:ext cx="7754217" cy="259775"/>
            <a:chOff x="0" y="0"/>
            <a:chExt cx="10338956" cy="346367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10338954" cy="346364"/>
            </a:xfrm>
            <a:custGeom>
              <a:avLst/>
              <a:gdLst/>
              <a:ahLst/>
              <a:cxnLst/>
              <a:rect r="r" b="b" t="t" l="l"/>
              <a:pathLst>
                <a:path h="346364" w="10338954">
                  <a:moveTo>
                    <a:pt x="0" y="0"/>
                  </a:moveTo>
                  <a:lnTo>
                    <a:pt x="10338954" y="0"/>
                  </a:lnTo>
                  <a:lnTo>
                    <a:pt x="10338954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627" r="0" b="-531628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47625"/>
              <a:ext cx="10338956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i = i + </a:t>
              </a:r>
              <a:r>
                <a:rPr lang="en-US" sz="1432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 ;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9673933" y="7086600"/>
            <a:ext cx="7962033" cy="259775"/>
            <a:chOff x="0" y="0"/>
            <a:chExt cx="10616044" cy="346367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}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9673933" y="7346375"/>
            <a:ext cx="7962033" cy="259775"/>
            <a:chOff x="0" y="0"/>
            <a:chExt cx="10616044" cy="346367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return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9673933" y="7606151"/>
            <a:ext cx="7962033" cy="259775"/>
            <a:chOff x="0" y="0"/>
            <a:chExt cx="10616044" cy="346367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0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9673933" y="7865916"/>
            <a:ext cx="7962033" cy="259775"/>
            <a:chOff x="0" y="0"/>
            <a:chExt cx="10616044" cy="346367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10616046" cy="346364"/>
            </a:xfrm>
            <a:custGeom>
              <a:avLst/>
              <a:gdLst/>
              <a:ahLst/>
              <a:cxnLst/>
              <a:rect r="r" b="b" t="t" l="l"/>
              <a:pathLst>
                <a:path h="346364" w="10616046">
                  <a:moveTo>
                    <a:pt x="0" y="0"/>
                  </a:moveTo>
                  <a:lnTo>
                    <a:pt x="10616046" y="0"/>
                  </a:lnTo>
                  <a:lnTo>
                    <a:pt x="10616046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215" r="0" b="-547216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47625"/>
              <a:ext cx="10616044" cy="39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sz="143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}</a:t>
              </a:r>
            </a:p>
          </p:txBody>
        </p:sp>
      </p:grpSp>
      <p:sp>
        <p:nvSpPr>
          <p:cNvPr name="Freeform 187" id="187"/>
          <p:cNvSpPr/>
          <p:nvPr/>
        </p:nvSpPr>
        <p:spPr>
          <a:xfrm flipH="false" flipV="false" rot="0">
            <a:off x="9245479" y="8497338"/>
            <a:ext cx="8520198" cy="1506341"/>
          </a:xfrm>
          <a:custGeom>
            <a:avLst/>
            <a:gdLst/>
            <a:ahLst/>
            <a:cxnLst/>
            <a:rect r="r" b="b" t="t" l="l"/>
            <a:pathLst>
              <a:path h="1506341" w="8520198">
                <a:moveTo>
                  <a:pt x="0" y="0"/>
                </a:moveTo>
                <a:lnTo>
                  <a:pt x="8520199" y="0"/>
                </a:lnTo>
                <a:lnTo>
                  <a:pt x="8520199" y="1506341"/>
                </a:lnTo>
                <a:lnTo>
                  <a:pt x="0" y="150634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8" id="188"/>
          <p:cNvSpPr/>
          <p:nvPr/>
        </p:nvSpPr>
        <p:spPr>
          <a:xfrm flipH="false" flipV="false" rot="0">
            <a:off x="9498587" y="8769925"/>
            <a:ext cx="259775" cy="259775"/>
          </a:xfrm>
          <a:custGeom>
            <a:avLst/>
            <a:gdLst/>
            <a:ahLst/>
            <a:cxnLst/>
            <a:rect r="r" b="b" t="t" l="l"/>
            <a:pathLst>
              <a:path h="259775" w="259775">
                <a:moveTo>
                  <a:pt x="0" y="0"/>
                </a:moveTo>
                <a:lnTo>
                  <a:pt x="259775" y="0"/>
                </a:lnTo>
                <a:lnTo>
                  <a:pt x="259775" y="259775"/>
                </a:lnTo>
                <a:lnTo>
                  <a:pt x="0" y="25977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0">
            <a:off x="9946700" y="8717975"/>
            <a:ext cx="1844383" cy="363684"/>
            <a:chOff x="0" y="0"/>
            <a:chExt cx="2459177" cy="484911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459182" cy="484910"/>
            </a:xfrm>
            <a:custGeom>
              <a:avLst/>
              <a:gdLst/>
              <a:ahLst/>
              <a:cxnLst/>
              <a:rect r="r" b="b" t="t" l="l"/>
              <a:pathLst>
                <a:path h="484910" w="2459182">
                  <a:moveTo>
                    <a:pt x="0" y="0"/>
                  </a:moveTo>
                  <a:lnTo>
                    <a:pt x="2459182" y="0"/>
                  </a:lnTo>
                  <a:lnTo>
                    <a:pt x="2459182" y="484910"/>
                  </a:lnTo>
                  <a:lnTo>
                    <a:pt x="0" y="4849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16" r="0" b="-48816"/>
              </a:stretch>
            </a:blipFill>
          </p:spPr>
        </p:sp>
        <p:sp>
          <p:nvSpPr>
            <p:cNvPr name="TextBox 191" id="191"/>
            <p:cNvSpPr txBox="true"/>
            <p:nvPr/>
          </p:nvSpPr>
          <p:spPr>
            <a:xfrm>
              <a:off x="0" y="-57150"/>
              <a:ext cx="2459177" cy="542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184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Design Rationale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9466116" y="9185567"/>
            <a:ext cx="8169850" cy="597475"/>
            <a:chOff x="0" y="0"/>
            <a:chExt cx="10893133" cy="796633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0893136" cy="796636"/>
            </a:xfrm>
            <a:custGeom>
              <a:avLst/>
              <a:gdLst/>
              <a:ahLst/>
              <a:cxnLst/>
              <a:rect r="r" b="b" t="t" l="l"/>
              <a:pathLst>
                <a:path h="796636" w="10893136">
                  <a:moveTo>
                    <a:pt x="0" y="0"/>
                  </a:moveTo>
                  <a:lnTo>
                    <a:pt x="10893136" y="0"/>
                  </a:lnTo>
                  <a:lnTo>
                    <a:pt x="10893136" y="796636"/>
                  </a:lnTo>
                  <a:lnTo>
                    <a:pt x="0" y="7966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436" r="0" b="-216436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76200"/>
              <a:ext cx="10893133" cy="872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6"/>
                </a:lnSpc>
              </a:pPr>
              <a:r>
                <a:rPr lang="en-US" sz="1432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Features were selected to demonstrate </a:t>
              </a:r>
              <a:r>
                <a:rPr lang="en-US" sz="1432" b="true">
                  <a:solidFill>
                    <a:srgbClr val="FB923C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all core compiler phases</a:t>
              </a:r>
              <a:r>
                <a:rPr lang="en-US" sz="1432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while keeping the implementation focused. Exclusions simplify the problem for </a:t>
              </a:r>
              <a:r>
                <a:rPr lang="en-US" sz="1432" b="true">
                  <a:solidFill>
                    <a:srgbClr val="FB923C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educational clarity</a:t>
              </a:r>
              <a:r>
                <a:rPr lang="en-US" sz="1432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and </a:t>
              </a:r>
              <a:r>
                <a:rPr lang="en-US" sz="1432" b="true">
                  <a:solidFill>
                    <a:srgbClr val="FB923C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embedded system suitability</a:t>
              </a:r>
              <a:r>
                <a:rPr lang="en-US" sz="1432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551" y="519551"/>
            <a:ext cx="17339824" cy="259775"/>
            <a:chOff x="0" y="0"/>
            <a:chExt cx="23119766" cy="3463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19772" cy="346364"/>
            </a:xfrm>
            <a:custGeom>
              <a:avLst/>
              <a:gdLst/>
              <a:ahLst/>
              <a:cxnLst/>
              <a:rect r="r" b="b" t="t" l="l"/>
              <a:pathLst>
                <a:path h="346364" w="23119772">
                  <a:moveTo>
                    <a:pt x="0" y="0"/>
                  </a:moveTo>
                  <a:lnTo>
                    <a:pt x="23119772" y="0"/>
                  </a:lnTo>
                  <a:lnTo>
                    <a:pt x="23119772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0624" r="0" b="-12506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119766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b="true" sz="1432" spc="72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Language Features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9551" y="831275"/>
            <a:ext cx="17482699" cy="519551"/>
            <a:chOff x="0" y="0"/>
            <a:chExt cx="23310266" cy="6927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10272" cy="692728"/>
            </a:xfrm>
            <a:custGeom>
              <a:avLst/>
              <a:gdLst/>
              <a:ahLst/>
              <a:cxnLst/>
              <a:rect r="r" b="b" t="t" l="l"/>
              <a:pathLst>
                <a:path h="692728" w="23310272">
                  <a:moveTo>
                    <a:pt x="0" y="0"/>
                  </a:moveTo>
                  <a:lnTo>
                    <a:pt x="23310272" y="0"/>
                  </a:lnTo>
                  <a:lnTo>
                    <a:pt x="23310272" y="692728"/>
                  </a:lnTo>
                  <a:lnTo>
                    <a:pt x="0" y="6927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5670" r="0" b="-60567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310266" cy="645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77"/>
                </a:lnSpc>
              </a:pPr>
              <a:r>
                <a:rPr lang="en-US" sz="368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Compiler Principles &amp; Tools Applied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0075" y="2000250"/>
            <a:ext cx="8372475" cy="1800225"/>
            <a:chOff x="0" y="0"/>
            <a:chExt cx="11163300" cy="2400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0075" y="2000250"/>
            <a:ext cx="57150" cy="1800225"/>
            <a:chOff x="0" y="0"/>
            <a:chExt cx="76200" cy="2400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222885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1741" y="2371725"/>
            <a:ext cx="442912" cy="400050"/>
            <a:chOff x="0" y="0"/>
            <a:chExt cx="59055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0550" cy="533400"/>
            </a:xfrm>
            <a:custGeom>
              <a:avLst/>
              <a:gdLst/>
              <a:ahLst/>
              <a:cxnLst/>
              <a:rect r="r" b="b" t="t" l="l"/>
              <a:pathLst>
                <a:path h="5334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905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71650" y="2228850"/>
            <a:ext cx="7100888" cy="400050"/>
            <a:chOff x="0" y="0"/>
            <a:chExt cx="946785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Regular Expressions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71650" y="2686050"/>
            <a:ext cx="7072312" cy="336985"/>
            <a:chOff x="0" y="0"/>
            <a:chExt cx="9429750" cy="4493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29750" cy="449313"/>
            </a:xfrm>
            <a:custGeom>
              <a:avLst/>
              <a:gdLst/>
              <a:ahLst/>
              <a:cxnLst/>
              <a:rect r="r" b="b" t="t" l="l"/>
              <a:pathLst>
                <a:path h="449313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49313"/>
                  </a:lnTo>
                  <a:lnTo>
                    <a:pt x="0" y="449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175" r="0" b="-35769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9429750" cy="5350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1"/>
                </a:lnSpc>
              </a:pPr>
              <a:r>
                <a:rPr lang="en-US" sz="1774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Lexer patterns: /\d/ /[a-zA-Z_]/ /[a-zA-Z0-9_]/ describes token classes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44025" y="2000250"/>
            <a:ext cx="8372475" cy="1800225"/>
            <a:chOff x="0" y="0"/>
            <a:chExt cx="11163300" cy="24003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44025" y="2000250"/>
            <a:ext cx="57150" cy="1800225"/>
            <a:chOff x="0" y="0"/>
            <a:chExt cx="76200" cy="24003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0" y="222885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69793" y="2371725"/>
            <a:ext cx="485775" cy="400050"/>
            <a:chOff x="0" y="0"/>
            <a:chExt cx="647700" cy="533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477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15600" y="2228850"/>
            <a:ext cx="7100888" cy="400050"/>
            <a:chOff x="0" y="0"/>
            <a:chExt cx="946785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Scoped Symbol Table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15600" y="2686050"/>
            <a:ext cx="7072312" cy="328612"/>
            <a:chOff x="0" y="0"/>
            <a:chExt cx="9429750" cy="4381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SymbolTable chain (parent pointer), define/lookup/has  models block scoping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00075" y="3971925"/>
            <a:ext cx="8372475" cy="1800225"/>
            <a:chOff x="0" y="0"/>
            <a:chExt cx="11163300" cy="2400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00075" y="3971925"/>
            <a:ext cx="57150" cy="1800225"/>
            <a:chOff x="0" y="0"/>
            <a:chExt cx="76200" cy="2400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57250" y="4200525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A78BFA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24595" y="4343400"/>
            <a:ext cx="500062" cy="400050"/>
            <a:chOff x="0" y="0"/>
            <a:chExt cx="666750" cy="533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66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71650" y="4200525"/>
            <a:ext cx="7100888" cy="400050"/>
            <a:chOff x="0" y="0"/>
            <a:chExt cx="946785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DFA / FSM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71650" y="4657725"/>
            <a:ext cx="7072312" cy="328612"/>
            <a:chOff x="0" y="0"/>
            <a:chExt cx="9429750" cy="4381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CleanLexer.tokenize() implements a hand-coded DFA (states as code paths)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44025" y="3971925"/>
            <a:ext cx="8372475" cy="1800225"/>
            <a:chOff x="0" y="0"/>
            <a:chExt cx="11163300" cy="24003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344025" y="3971925"/>
            <a:ext cx="57150" cy="1800225"/>
            <a:chOff x="0" y="0"/>
            <a:chExt cx="76200" cy="24003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601200" y="4200525"/>
            <a:ext cx="685800" cy="685800"/>
            <a:chOff x="0" y="0"/>
            <a:chExt cx="91440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472B6">
                <a:alpha val="784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768726" y="4343400"/>
            <a:ext cx="500062" cy="400050"/>
            <a:chOff x="0" y="0"/>
            <a:chExt cx="666750" cy="533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66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472B6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515600" y="4200525"/>
            <a:ext cx="7100888" cy="400050"/>
            <a:chOff x="0" y="0"/>
            <a:chExt cx="9467850" cy="533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Type System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515600" y="4657725"/>
            <a:ext cx="7072312" cy="328612"/>
            <a:chOff x="0" y="0"/>
            <a:chExt cx="9429750" cy="4381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Static type checking: int/bool/string/void. lowerExpr returns {type, place}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0075" y="5943600"/>
            <a:ext cx="8372475" cy="1800225"/>
            <a:chOff x="0" y="0"/>
            <a:chExt cx="11163300" cy="24003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00075" y="5943600"/>
            <a:ext cx="57150" cy="1800225"/>
            <a:chOff x="0" y="0"/>
            <a:chExt cx="76200" cy="24003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57250" y="6172200"/>
            <a:ext cx="685800" cy="685800"/>
            <a:chOff x="0" y="0"/>
            <a:chExt cx="91440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B923C">
                <a:alpha val="784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26557" y="6315075"/>
            <a:ext cx="485775" cy="400050"/>
            <a:chOff x="0" y="0"/>
            <a:chExt cx="647700" cy="533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6477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B923C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771650" y="6172200"/>
            <a:ext cx="7100888" cy="400050"/>
            <a:chOff x="0" y="0"/>
            <a:chExt cx="9467850" cy="533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CFG / LL(1) Parsing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771650" y="6629400"/>
            <a:ext cx="7072312" cy="328612"/>
            <a:chOff x="0" y="0"/>
            <a:chExt cx="9429750" cy="4381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Parser uses recursive descent; each method = one grammar non-terminal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44025" y="5943600"/>
            <a:ext cx="8372475" cy="1800225"/>
            <a:chOff x="0" y="0"/>
            <a:chExt cx="11163300" cy="24003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344025" y="5943600"/>
            <a:ext cx="57150" cy="1800225"/>
            <a:chOff x="0" y="0"/>
            <a:chExt cx="76200" cy="24003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601200" y="6172200"/>
            <a:ext cx="685800" cy="685800"/>
            <a:chOff x="0" y="0"/>
            <a:chExt cx="914400" cy="914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2D3EE">
                <a:alpha val="784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67468" y="6315075"/>
            <a:ext cx="500062" cy="400050"/>
            <a:chOff x="0" y="0"/>
            <a:chExt cx="666750" cy="533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666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06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515600" y="6172200"/>
            <a:ext cx="7100888" cy="400050"/>
            <a:chOff x="0" y="0"/>
            <a:chExt cx="9467850" cy="533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Three-Address Code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515600" y="6629400"/>
            <a:ext cx="7072312" cy="328612"/>
            <a:chOff x="0" y="0"/>
            <a:chExt cx="9429750" cy="43815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IRGen emits TAC: result = arg1 OP arg2. Temps t1, t2... flatten nested exprs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00075" y="7915275"/>
            <a:ext cx="8372475" cy="1800225"/>
            <a:chOff x="0" y="0"/>
            <a:chExt cx="11163300" cy="24003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00075" y="7915275"/>
            <a:ext cx="57150" cy="1800225"/>
            <a:chOff x="0" y="0"/>
            <a:chExt cx="76200" cy="24003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857250" y="8143875"/>
            <a:ext cx="685800" cy="685800"/>
            <a:chOff x="0" y="0"/>
            <a:chExt cx="91440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ADE80">
                <a:alpha val="784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35844" y="8286750"/>
            <a:ext cx="471488" cy="400050"/>
            <a:chOff x="0" y="0"/>
            <a:chExt cx="628650" cy="533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28650" cy="533400"/>
            </a:xfrm>
            <a:custGeom>
              <a:avLst/>
              <a:gdLst/>
              <a:ahLst/>
              <a:cxnLst/>
              <a:rect r="r" b="b" t="t" l="l"/>
              <a:pathLst>
                <a:path h="533400" w="628650">
                  <a:moveTo>
                    <a:pt x="0" y="0"/>
                  </a:moveTo>
                  <a:lnTo>
                    <a:pt x="628650" y="0"/>
                  </a:lnTo>
                  <a:lnTo>
                    <a:pt x="628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863" t="0" r="-5886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6286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4ADE80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07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771650" y="8143875"/>
            <a:ext cx="7100888" cy="400050"/>
            <a:chOff x="0" y="0"/>
            <a:chExt cx="9467850" cy="533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AST Construction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771650" y="8601075"/>
            <a:ext cx="7072312" cy="328612"/>
            <a:chOff x="0" y="0"/>
            <a:chExt cx="9429750" cy="43815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22 AST node types: ProgramNode, FuncDeclNode, IfNode, BinOpNode, etc.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44025" y="7915275"/>
            <a:ext cx="8372475" cy="1800225"/>
            <a:chOff x="0" y="0"/>
            <a:chExt cx="11163300" cy="24003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11633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2489"/>
                    <a:pt x="11163300" y="228600"/>
                  </a:cubicBezTo>
                  <a:lnTo>
                    <a:pt x="11163300" y="2171700"/>
                  </a:lnTo>
                  <a:cubicBezTo>
                    <a:pt x="11163300" y="2297811"/>
                    <a:pt x="11060811" y="2400300"/>
                    <a:pt x="10934700" y="2400300"/>
                  </a:cubicBez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344025" y="7915275"/>
            <a:ext cx="57150" cy="1800225"/>
            <a:chOff x="0" y="0"/>
            <a:chExt cx="76200" cy="24003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601200" y="8143875"/>
            <a:ext cx="685800" cy="685800"/>
            <a:chOff x="0" y="0"/>
            <a:chExt cx="914400" cy="9144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87171">
                <a:alpha val="784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765154" y="8286750"/>
            <a:ext cx="500062" cy="400050"/>
            <a:chOff x="0" y="0"/>
            <a:chExt cx="666750" cy="5334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57150"/>
              <a:ext cx="666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87171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08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515600" y="8143875"/>
            <a:ext cx="7100888" cy="400050"/>
            <a:chOff x="0" y="0"/>
            <a:chExt cx="9467850" cy="5334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Call Stack Model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515600" y="8601075"/>
            <a:ext cx="7072312" cy="328612"/>
            <a:chOff x="0" y="0"/>
            <a:chExt cx="9429750" cy="43815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VM callStack[], execFunc() implements function call/return with env isolation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45012" cy="285750"/>
            <a:chOff x="0" y="0"/>
            <a:chExt cx="229933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Compiler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9144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6-Phase Pipeline Overview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69595" y="1655445"/>
            <a:ext cx="17143095" cy="2455545"/>
          </a:xfrm>
          <a:custGeom>
            <a:avLst/>
            <a:gdLst/>
            <a:ahLst/>
            <a:cxnLst/>
            <a:rect r="r" b="b" t="t" l="l"/>
            <a:pathLst>
              <a:path h="2455545" w="17143095">
                <a:moveTo>
                  <a:pt x="0" y="0"/>
                </a:moveTo>
                <a:lnTo>
                  <a:pt x="17143095" y="0"/>
                </a:lnTo>
                <a:lnTo>
                  <a:pt x="17143095" y="2455545"/>
                </a:lnTo>
                <a:lnTo>
                  <a:pt x="0" y="24555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7249" y="1968817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40142" y="1897380"/>
            <a:ext cx="16459200" cy="400050"/>
            <a:chOff x="0" y="0"/>
            <a:chExt cx="2194560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533400"/>
            </a:xfrm>
            <a:custGeom>
              <a:avLst/>
              <a:gdLst/>
              <a:ahLst/>
              <a:cxnLst/>
              <a:rect r="r" b="b" t="t" l="l"/>
              <a:pathLst>
                <a:path h="533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1670" r="0" b="-7516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19456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Compilation Pipeline Flow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09625" y="2466975"/>
            <a:ext cx="1941195" cy="1398270"/>
          </a:xfrm>
          <a:custGeom>
            <a:avLst/>
            <a:gdLst/>
            <a:ahLst/>
            <a:cxnLst/>
            <a:rect r="r" b="b" t="t" l="l"/>
            <a:pathLst>
              <a:path h="1398270" w="1941195">
                <a:moveTo>
                  <a:pt x="0" y="0"/>
                </a:moveTo>
                <a:lnTo>
                  <a:pt x="1941195" y="0"/>
                </a:lnTo>
                <a:lnTo>
                  <a:pt x="1941195" y="1398270"/>
                </a:lnTo>
                <a:lnTo>
                  <a:pt x="0" y="1398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52702" y="2697480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44404" y="3165929"/>
            <a:ext cx="1671638" cy="285750"/>
            <a:chOff x="0" y="0"/>
            <a:chExt cx="2228850" cy="381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88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987" r="0" b="-639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28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Source Code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1548" y="3451679"/>
            <a:ext cx="1657350" cy="228600"/>
            <a:chOff x="0" y="0"/>
            <a:chExt cx="2209800" cy="304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98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2098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C++ Subset (.cpp)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894114" y="3051629"/>
            <a:ext cx="228600" cy="228600"/>
            <a:chOff x="0" y="0"/>
            <a:chExt cx="304800" cy="304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38068"/>
              <a:ext cx="304832" cy="228616"/>
            </a:xfrm>
            <a:custGeom>
              <a:avLst/>
              <a:gdLst/>
              <a:ahLst/>
              <a:cxnLst/>
              <a:rect r="r" b="b" t="t" l="l"/>
              <a:pathLst>
                <a:path h="228616" w="304832">
                  <a:moveTo>
                    <a:pt x="299212" y="127794"/>
                  </a:moveTo>
                  <a:cubicBezTo>
                    <a:pt x="306705" y="120301"/>
                    <a:pt x="306705" y="108236"/>
                    <a:pt x="299212" y="100870"/>
                  </a:cubicBezTo>
                  <a:lnTo>
                    <a:pt x="203962" y="5620"/>
                  </a:lnTo>
                  <a:cubicBezTo>
                    <a:pt x="196469" y="-1873"/>
                    <a:pt x="184404" y="-1873"/>
                    <a:pt x="177038" y="5620"/>
                  </a:cubicBezTo>
                  <a:cubicBezTo>
                    <a:pt x="169672" y="13113"/>
                    <a:pt x="169545" y="25178"/>
                    <a:pt x="177038" y="32544"/>
                  </a:cubicBezTo>
                  <a:lnTo>
                    <a:pt x="239776" y="95282"/>
                  </a:lnTo>
                  <a:lnTo>
                    <a:pt x="19050" y="95282"/>
                  </a:lnTo>
                  <a:cubicBezTo>
                    <a:pt x="8509" y="95282"/>
                    <a:pt x="0" y="103791"/>
                    <a:pt x="0" y="114332"/>
                  </a:cubicBezTo>
                  <a:cubicBezTo>
                    <a:pt x="0" y="124873"/>
                    <a:pt x="8509" y="133382"/>
                    <a:pt x="19050" y="133382"/>
                  </a:cubicBezTo>
                  <a:lnTo>
                    <a:pt x="239776" y="133382"/>
                  </a:lnTo>
                  <a:lnTo>
                    <a:pt x="177038" y="196120"/>
                  </a:lnTo>
                  <a:cubicBezTo>
                    <a:pt x="169545" y="203613"/>
                    <a:pt x="169545" y="215678"/>
                    <a:pt x="177038" y="223044"/>
                  </a:cubicBezTo>
                  <a:cubicBezTo>
                    <a:pt x="184531" y="230410"/>
                    <a:pt x="196596" y="230537"/>
                    <a:pt x="203962" y="223044"/>
                  </a:cubicBezTo>
                  <a:lnTo>
                    <a:pt x="299212" y="127794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3263684" y="2466975"/>
            <a:ext cx="1941195" cy="1398270"/>
          </a:xfrm>
          <a:custGeom>
            <a:avLst/>
            <a:gdLst/>
            <a:ahLst/>
            <a:cxnLst/>
            <a:rect r="r" b="b" t="t" l="l"/>
            <a:pathLst>
              <a:path h="1398270" w="1941195">
                <a:moveTo>
                  <a:pt x="0" y="0"/>
                </a:moveTo>
                <a:lnTo>
                  <a:pt x="1941195" y="0"/>
                </a:lnTo>
                <a:lnTo>
                  <a:pt x="1941195" y="1398270"/>
                </a:lnTo>
                <a:lnTo>
                  <a:pt x="0" y="1398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064079" y="269748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398463" y="3165929"/>
            <a:ext cx="1671638" cy="285750"/>
            <a:chOff x="0" y="0"/>
            <a:chExt cx="2228850" cy="38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288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987" r="0" b="-639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228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Lexer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405607" y="3451679"/>
            <a:ext cx="1657350" cy="228600"/>
            <a:chOff x="0" y="0"/>
            <a:chExt cx="2209800" cy="304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098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2098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&lt; 1ms typical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348345" y="3051629"/>
            <a:ext cx="228600" cy="228600"/>
            <a:chOff x="0" y="0"/>
            <a:chExt cx="304800" cy="304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38068"/>
              <a:ext cx="304832" cy="228616"/>
            </a:xfrm>
            <a:custGeom>
              <a:avLst/>
              <a:gdLst/>
              <a:ahLst/>
              <a:cxnLst/>
              <a:rect r="r" b="b" t="t" l="l"/>
              <a:pathLst>
                <a:path h="228616" w="304832">
                  <a:moveTo>
                    <a:pt x="299212" y="127794"/>
                  </a:moveTo>
                  <a:cubicBezTo>
                    <a:pt x="306705" y="120301"/>
                    <a:pt x="306705" y="108236"/>
                    <a:pt x="299212" y="100870"/>
                  </a:cubicBezTo>
                  <a:lnTo>
                    <a:pt x="203962" y="5620"/>
                  </a:lnTo>
                  <a:cubicBezTo>
                    <a:pt x="196469" y="-1873"/>
                    <a:pt x="184404" y="-1873"/>
                    <a:pt x="177038" y="5620"/>
                  </a:cubicBezTo>
                  <a:cubicBezTo>
                    <a:pt x="169672" y="13113"/>
                    <a:pt x="169545" y="25178"/>
                    <a:pt x="177038" y="32544"/>
                  </a:cubicBezTo>
                  <a:lnTo>
                    <a:pt x="239776" y="95282"/>
                  </a:lnTo>
                  <a:lnTo>
                    <a:pt x="19050" y="95282"/>
                  </a:lnTo>
                  <a:cubicBezTo>
                    <a:pt x="8509" y="95282"/>
                    <a:pt x="0" y="103791"/>
                    <a:pt x="0" y="114332"/>
                  </a:cubicBezTo>
                  <a:cubicBezTo>
                    <a:pt x="0" y="124873"/>
                    <a:pt x="8509" y="133382"/>
                    <a:pt x="19050" y="133382"/>
                  </a:cubicBezTo>
                  <a:lnTo>
                    <a:pt x="239776" y="133382"/>
                  </a:lnTo>
                  <a:lnTo>
                    <a:pt x="177038" y="196120"/>
                  </a:lnTo>
                  <a:cubicBezTo>
                    <a:pt x="169545" y="203613"/>
                    <a:pt x="169545" y="215678"/>
                    <a:pt x="177038" y="223044"/>
                  </a:cubicBezTo>
                  <a:cubicBezTo>
                    <a:pt x="184531" y="230410"/>
                    <a:pt x="196596" y="230537"/>
                    <a:pt x="203962" y="223044"/>
                  </a:cubicBezTo>
                  <a:lnTo>
                    <a:pt x="299212" y="127794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5717915" y="2466975"/>
            <a:ext cx="1941195" cy="1398270"/>
          </a:xfrm>
          <a:custGeom>
            <a:avLst/>
            <a:gdLst/>
            <a:ahLst/>
            <a:cxnLst/>
            <a:rect r="r" b="b" t="t" l="l"/>
            <a:pathLst>
              <a:path h="1398270" w="1941195">
                <a:moveTo>
                  <a:pt x="0" y="0"/>
                </a:moveTo>
                <a:lnTo>
                  <a:pt x="1941195" y="0"/>
                </a:lnTo>
                <a:lnTo>
                  <a:pt x="1941195" y="1398270"/>
                </a:lnTo>
                <a:lnTo>
                  <a:pt x="0" y="13982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518138" y="269748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5852693" y="3165929"/>
            <a:ext cx="1671638" cy="285750"/>
            <a:chOff x="0" y="0"/>
            <a:chExt cx="2228850" cy="381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288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987" r="0" b="-63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228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Parser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859837" y="3451679"/>
            <a:ext cx="1657350" cy="228600"/>
            <a:chOff x="0" y="0"/>
            <a:chExt cx="2209800" cy="304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098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2098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&lt; 1ms typical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02404" y="3051629"/>
            <a:ext cx="228600" cy="228600"/>
            <a:chOff x="0" y="0"/>
            <a:chExt cx="304800" cy="304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38068"/>
              <a:ext cx="304832" cy="228616"/>
            </a:xfrm>
            <a:custGeom>
              <a:avLst/>
              <a:gdLst/>
              <a:ahLst/>
              <a:cxnLst/>
              <a:rect r="r" b="b" t="t" l="l"/>
              <a:pathLst>
                <a:path h="228616" w="304832">
                  <a:moveTo>
                    <a:pt x="299212" y="127794"/>
                  </a:moveTo>
                  <a:cubicBezTo>
                    <a:pt x="306705" y="120301"/>
                    <a:pt x="306705" y="108236"/>
                    <a:pt x="299212" y="100870"/>
                  </a:cubicBezTo>
                  <a:lnTo>
                    <a:pt x="203962" y="5620"/>
                  </a:lnTo>
                  <a:cubicBezTo>
                    <a:pt x="196469" y="-1873"/>
                    <a:pt x="184404" y="-1873"/>
                    <a:pt x="177038" y="5620"/>
                  </a:cubicBezTo>
                  <a:cubicBezTo>
                    <a:pt x="169672" y="13113"/>
                    <a:pt x="169545" y="25178"/>
                    <a:pt x="177038" y="32544"/>
                  </a:cubicBezTo>
                  <a:lnTo>
                    <a:pt x="239776" y="95282"/>
                  </a:lnTo>
                  <a:lnTo>
                    <a:pt x="19050" y="95282"/>
                  </a:lnTo>
                  <a:cubicBezTo>
                    <a:pt x="8509" y="95282"/>
                    <a:pt x="0" y="103791"/>
                    <a:pt x="0" y="114332"/>
                  </a:cubicBezTo>
                  <a:cubicBezTo>
                    <a:pt x="0" y="124873"/>
                    <a:pt x="8509" y="133382"/>
                    <a:pt x="19050" y="133382"/>
                  </a:cubicBezTo>
                  <a:lnTo>
                    <a:pt x="239776" y="133382"/>
                  </a:lnTo>
                  <a:lnTo>
                    <a:pt x="177038" y="196120"/>
                  </a:lnTo>
                  <a:cubicBezTo>
                    <a:pt x="169545" y="203613"/>
                    <a:pt x="169545" y="215678"/>
                    <a:pt x="177038" y="223044"/>
                  </a:cubicBezTo>
                  <a:cubicBezTo>
                    <a:pt x="184531" y="230410"/>
                    <a:pt x="196596" y="230537"/>
                    <a:pt x="203962" y="223044"/>
                  </a:cubicBezTo>
                  <a:lnTo>
                    <a:pt x="299212" y="127794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8171974" y="2466975"/>
            <a:ext cx="1941195" cy="1398270"/>
          </a:xfrm>
          <a:custGeom>
            <a:avLst/>
            <a:gdLst/>
            <a:ahLst/>
            <a:cxnLst/>
            <a:rect r="r" b="b" t="t" l="l"/>
            <a:pathLst>
              <a:path h="1398270" w="1941195">
                <a:moveTo>
                  <a:pt x="0" y="0"/>
                </a:moveTo>
                <a:lnTo>
                  <a:pt x="1941195" y="0"/>
                </a:lnTo>
                <a:lnTo>
                  <a:pt x="1941195" y="1398270"/>
                </a:lnTo>
                <a:lnTo>
                  <a:pt x="0" y="139827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8664569" y="2366010"/>
            <a:ext cx="957262" cy="514350"/>
            <a:chOff x="0" y="0"/>
            <a:chExt cx="1276350" cy="685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76350" cy="685800"/>
            </a:xfrm>
            <a:custGeom>
              <a:avLst/>
              <a:gdLst/>
              <a:ahLst/>
              <a:cxnLst/>
              <a:rect r="r" b="b" t="t" l="l"/>
              <a:pathLst>
                <a:path h="685800" w="1276350">
                  <a:moveTo>
                    <a:pt x="76200" y="0"/>
                  </a:moveTo>
                  <a:lnTo>
                    <a:pt x="1200150" y="0"/>
                  </a:lnTo>
                  <a:cubicBezTo>
                    <a:pt x="1242187" y="0"/>
                    <a:pt x="1276350" y="34163"/>
                    <a:pt x="1276350" y="76200"/>
                  </a:cubicBezTo>
                  <a:lnTo>
                    <a:pt x="1276350" y="609600"/>
                  </a:lnTo>
                  <a:cubicBezTo>
                    <a:pt x="1276350" y="651637"/>
                    <a:pt x="1242187" y="685800"/>
                    <a:pt x="1200150" y="685800"/>
                  </a:cubicBezTo>
                  <a:lnTo>
                    <a:pt x="76200" y="685800"/>
                  </a:lnTo>
                  <a:cubicBezTo>
                    <a:pt x="34163" y="685800"/>
                    <a:pt x="0" y="651637"/>
                    <a:pt x="0" y="609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621706" y="2366010"/>
            <a:ext cx="1042988" cy="514350"/>
            <a:chOff x="0" y="0"/>
            <a:chExt cx="1390650" cy="685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90650" cy="685800"/>
            </a:xfrm>
            <a:custGeom>
              <a:avLst/>
              <a:gdLst/>
              <a:ahLst/>
              <a:cxnLst/>
              <a:rect r="r" b="b" t="t" l="l"/>
              <a:pathLst>
                <a:path h="685800" w="1390650">
                  <a:moveTo>
                    <a:pt x="0" y="0"/>
                  </a:moveTo>
                  <a:lnTo>
                    <a:pt x="1390650" y="0"/>
                  </a:lnTo>
                  <a:lnTo>
                    <a:pt x="139065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72" t="0" r="-1327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39065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 b="true">
                  <a:solidFill>
                    <a:srgbClr val="0F172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Single-Pass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8972369" y="269748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8306753" y="3165929"/>
            <a:ext cx="1671638" cy="285750"/>
            <a:chOff x="0" y="0"/>
            <a:chExt cx="2228850" cy="381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288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987" r="0" b="-6398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228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Semantic + IR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313896" y="3451679"/>
            <a:ext cx="1657350" cy="228600"/>
            <a:chOff x="0" y="0"/>
            <a:chExt cx="2209800" cy="304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098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2098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3+4 Combined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256634" y="3051629"/>
            <a:ext cx="228600" cy="228600"/>
            <a:chOff x="0" y="0"/>
            <a:chExt cx="304800" cy="304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38068"/>
              <a:ext cx="304832" cy="228616"/>
            </a:xfrm>
            <a:custGeom>
              <a:avLst/>
              <a:gdLst/>
              <a:ahLst/>
              <a:cxnLst/>
              <a:rect r="r" b="b" t="t" l="l"/>
              <a:pathLst>
                <a:path h="228616" w="304832">
                  <a:moveTo>
                    <a:pt x="299212" y="127794"/>
                  </a:moveTo>
                  <a:cubicBezTo>
                    <a:pt x="306705" y="120301"/>
                    <a:pt x="306705" y="108236"/>
                    <a:pt x="299212" y="100870"/>
                  </a:cubicBezTo>
                  <a:lnTo>
                    <a:pt x="203962" y="5620"/>
                  </a:lnTo>
                  <a:cubicBezTo>
                    <a:pt x="196469" y="-1873"/>
                    <a:pt x="184404" y="-1873"/>
                    <a:pt x="177038" y="5620"/>
                  </a:cubicBezTo>
                  <a:cubicBezTo>
                    <a:pt x="169672" y="13113"/>
                    <a:pt x="169545" y="25178"/>
                    <a:pt x="177038" y="32544"/>
                  </a:cubicBezTo>
                  <a:lnTo>
                    <a:pt x="239776" y="95282"/>
                  </a:lnTo>
                  <a:lnTo>
                    <a:pt x="19050" y="95282"/>
                  </a:lnTo>
                  <a:cubicBezTo>
                    <a:pt x="8509" y="95282"/>
                    <a:pt x="0" y="103791"/>
                    <a:pt x="0" y="114332"/>
                  </a:cubicBezTo>
                  <a:cubicBezTo>
                    <a:pt x="0" y="124873"/>
                    <a:pt x="8509" y="133382"/>
                    <a:pt x="19050" y="133382"/>
                  </a:cubicBezTo>
                  <a:lnTo>
                    <a:pt x="239776" y="133382"/>
                  </a:lnTo>
                  <a:lnTo>
                    <a:pt x="177038" y="196120"/>
                  </a:lnTo>
                  <a:cubicBezTo>
                    <a:pt x="169545" y="203613"/>
                    <a:pt x="169545" y="215678"/>
                    <a:pt x="177038" y="223044"/>
                  </a:cubicBezTo>
                  <a:cubicBezTo>
                    <a:pt x="184531" y="230410"/>
                    <a:pt x="196596" y="230537"/>
                    <a:pt x="203962" y="223044"/>
                  </a:cubicBezTo>
                  <a:lnTo>
                    <a:pt x="299212" y="127794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10626204" y="2466975"/>
            <a:ext cx="1941195" cy="1398270"/>
          </a:xfrm>
          <a:custGeom>
            <a:avLst/>
            <a:gdLst/>
            <a:ahLst/>
            <a:cxnLst/>
            <a:rect r="r" b="b" t="t" l="l"/>
            <a:pathLst>
              <a:path h="1398270" w="1941195">
                <a:moveTo>
                  <a:pt x="0" y="0"/>
                </a:moveTo>
                <a:lnTo>
                  <a:pt x="1941195" y="0"/>
                </a:lnTo>
                <a:lnTo>
                  <a:pt x="1941195" y="1398270"/>
                </a:lnTo>
                <a:lnTo>
                  <a:pt x="0" y="139827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1426609" y="269748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0760993" y="3165929"/>
            <a:ext cx="1671638" cy="285750"/>
            <a:chOff x="0" y="0"/>
            <a:chExt cx="2228850" cy="381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288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987" r="0" b="-6398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228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AsmGen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768127" y="3451679"/>
            <a:ext cx="1657350" cy="228600"/>
            <a:chOff x="0" y="0"/>
            <a:chExt cx="2209800" cy="304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098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22098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Educational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710874" y="3051629"/>
            <a:ext cx="228600" cy="228600"/>
            <a:chOff x="0" y="0"/>
            <a:chExt cx="304800" cy="304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38068"/>
              <a:ext cx="304832" cy="228616"/>
            </a:xfrm>
            <a:custGeom>
              <a:avLst/>
              <a:gdLst/>
              <a:ahLst/>
              <a:cxnLst/>
              <a:rect r="r" b="b" t="t" l="l"/>
              <a:pathLst>
                <a:path h="228616" w="304832">
                  <a:moveTo>
                    <a:pt x="299212" y="127794"/>
                  </a:moveTo>
                  <a:cubicBezTo>
                    <a:pt x="306705" y="120301"/>
                    <a:pt x="306705" y="108236"/>
                    <a:pt x="299212" y="100870"/>
                  </a:cubicBezTo>
                  <a:lnTo>
                    <a:pt x="203962" y="5620"/>
                  </a:lnTo>
                  <a:cubicBezTo>
                    <a:pt x="196469" y="-1873"/>
                    <a:pt x="184404" y="-1873"/>
                    <a:pt x="177038" y="5620"/>
                  </a:cubicBezTo>
                  <a:cubicBezTo>
                    <a:pt x="169672" y="13113"/>
                    <a:pt x="169545" y="25178"/>
                    <a:pt x="177038" y="32544"/>
                  </a:cubicBezTo>
                  <a:lnTo>
                    <a:pt x="239776" y="95282"/>
                  </a:lnTo>
                  <a:lnTo>
                    <a:pt x="19050" y="95282"/>
                  </a:lnTo>
                  <a:cubicBezTo>
                    <a:pt x="8509" y="95282"/>
                    <a:pt x="0" y="103791"/>
                    <a:pt x="0" y="114332"/>
                  </a:cubicBezTo>
                  <a:cubicBezTo>
                    <a:pt x="0" y="124873"/>
                    <a:pt x="8509" y="133382"/>
                    <a:pt x="19050" y="133382"/>
                  </a:cubicBezTo>
                  <a:lnTo>
                    <a:pt x="239776" y="133382"/>
                  </a:lnTo>
                  <a:lnTo>
                    <a:pt x="177038" y="196120"/>
                  </a:lnTo>
                  <a:cubicBezTo>
                    <a:pt x="169545" y="203613"/>
                    <a:pt x="169545" y="215678"/>
                    <a:pt x="177038" y="223044"/>
                  </a:cubicBezTo>
                  <a:cubicBezTo>
                    <a:pt x="184531" y="230410"/>
                    <a:pt x="196596" y="230537"/>
                    <a:pt x="203962" y="223044"/>
                  </a:cubicBezTo>
                  <a:lnTo>
                    <a:pt x="299212" y="127794"/>
                  </a:lnTo>
                  <a:close/>
                </a:path>
              </a:pathLst>
            </a:custGeom>
            <a:solidFill>
              <a:srgbClr val="F472B6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3080444" y="2466975"/>
            <a:ext cx="1941195" cy="1398270"/>
          </a:xfrm>
          <a:custGeom>
            <a:avLst/>
            <a:gdLst/>
            <a:ahLst/>
            <a:cxnLst/>
            <a:rect r="r" b="b" t="t" l="l"/>
            <a:pathLst>
              <a:path h="1398270" w="1941195">
                <a:moveTo>
                  <a:pt x="0" y="0"/>
                </a:moveTo>
                <a:lnTo>
                  <a:pt x="1941195" y="0"/>
                </a:lnTo>
                <a:lnTo>
                  <a:pt x="1941195" y="1398270"/>
                </a:lnTo>
                <a:lnTo>
                  <a:pt x="0" y="139827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3880840" y="2697480"/>
            <a:ext cx="342900" cy="342900"/>
            <a:chOff x="0" y="0"/>
            <a:chExt cx="457200" cy="457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489"/>
                    <a:pt x="102489" y="0"/>
                    <a:pt x="228600" y="0"/>
                  </a:cubicBez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lose/>
                  <a:moveTo>
                    <a:pt x="168148" y="131318"/>
                  </a:moveTo>
                  <a:cubicBezTo>
                    <a:pt x="161417" y="135128"/>
                    <a:pt x="157226" y="142240"/>
                    <a:pt x="157226" y="149987"/>
                  </a:cubicBezTo>
                  <a:lnTo>
                    <a:pt x="157226" y="307213"/>
                  </a:lnTo>
                  <a:cubicBezTo>
                    <a:pt x="157226" y="314960"/>
                    <a:pt x="161417" y="322072"/>
                    <a:pt x="168148" y="325882"/>
                  </a:cubicBezTo>
                  <a:cubicBezTo>
                    <a:pt x="174879" y="329692"/>
                    <a:pt x="183134" y="329565"/>
                    <a:pt x="189865" y="325374"/>
                  </a:cubicBezTo>
                  <a:lnTo>
                    <a:pt x="318389" y="246761"/>
                  </a:lnTo>
                  <a:cubicBezTo>
                    <a:pt x="324739" y="242824"/>
                    <a:pt x="328676" y="235966"/>
                    <a:pt x="328676" y="228473"/>
                  </a:cubicBezTo>
                  <a:cubicBezTo>
                    <a:pt x="328676" y="220980"/>
                    <a:pt x="324739" y="214122"/>
                    <a:pt x="318389" y="210185"/>
                  </a:cubicBezTo>
                  <a:lnTo>
                    <a:pt x="189865" y="131572"/>
                  </a:lnTo>
                  <a:cubicBezTo>
                    <a:pt x="183261" y="127508"/>
                    <a:pt x="175006" y="127381"/>
                    <a:pt x="168148" y="131064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215223" y="3165929"/>
            <a:ext cx="1671638" cy="285750"/>
            <a:chOff x="0" y="0"/>
            <a:chExt cx="2228850" cy="381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288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987" r="0" b="-6398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228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VM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222367" y="3451679"/>
            <a:ext cx="1657350" cy="228600"/>
            <a:chOff x="0" y="0"/>
            <a:chExt cx="2209800" cy="304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098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22098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&lt; 4ms exec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165114" y="3051629"/>
            <a:ext cx="228600" cy="228600"/>
            <a:chOff x="0" y="0"/>
            <a:chExt cx="304800" cy="304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38068"/>
              <a:ext cx="304832" cy="228616"/>
            </a:xfrm>
            <a:custGeom>
              <a:avLst/>
              <a:gdLst/>
              <a:ahLst/>
              <a:cxnLst/>
              <a:rect r="r" b="b" t="t" l="l"/>
              <a:pathLst>
                <a:path h="228616" w="304832">
                  <a:moveTo>
                    <a:pt x="299212" y="127794"/>
                  </a:moveTo>
                  <a:cubicBezTo>
                    <a:pt x="306705" y="120301"/>
                    <a:pt x="306705" y="108236"/>
                    <a:pt x="299212" y="100870"/>
                  </a:cubicBezTo>
                  <a:lnTo>
                    <a:pt x="203962" y="5620"/>
                  </a:lnTo>
                  <a:cubicBezTo>
                    <a:pt x="196469" y="-1873"/>
                    <a:pt x="184404" y="-1873"/>
                    <a:pt x="177038" y="5620"/>
                  </a:cubicBezTo>
                  <a:cubicBezTo>
                    <a:pt x="169672" y="13113"/>
                    <a:pt x="169545" y="25178"/>
                    <a:pt x="177038" y="32544"/>
                  </a:cubicBezTo>
                  <a:lnTo>
                    <a:pt x="239776" y="95282"/>
                  </a:lnTo>
                  <a:lnTo>
                    <a:pt x="19050" y="95282"/>
                  </a:lnTo>
                  <a:cubicBezTo>
                    <a:pt x="8509" y="95282"/>
                    <a:pt x="0" y="103791"/>
                    <a:pt x="0" y="114332"/>
                  </a:cubicBezTo>
                  <a:cubicBezTo>
                    <a:pt x="0" y="124873"/>
                    <a:pt x="8509" y="133382"/>
                    <a:pt x="19050" y="133382"/>
                  </a:cubicBezTo>
                  <a:lnTo>
                    <a:pt x="239776" y="133382"/>
                  </a:lnTo>
                  <a:lnTo>
                    <a:pt x="177038" y="196120"/>
                  </a:lnTo>
                  <a:cubicBezTo>
                    <a:pt x="169545" y="203613"/>
                    <a:pt x="169545" y="215678"/>
                    <a:pt x="177038" y="223044"/>
                  </a:cubicBezTo>
                  <a:cubicBezTo>
                    <a:pt x="184531" y="230410"/>
                    <a:pt x="196596" y="230537"/>
                    <a:pt x="203962" y="223044"/>
                  </a:cubicBezTo>
                  <a:lnTo>
                    <a:pt x="299212" y="127794"/>
                  </a:lnTo>
                  <a:close/>
                </a:path>
              </a:pathLst>
            </a:custGeom>
            <a:solidFill>
              <a:srgbClr val="22D3EE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5534684" y="2466975"/>
            <a:ext cx="1941195" cy="1398270"/>
          </a:xfrm>
          <a:custGeom>
            <a:avLst/>
            <a:gdLst/>
            <a:ahLst/>
            <a:cxnLst/>
            <a:rect r="r" b="b" t="t" l="l"/>
            <a:pathLst>
              <a:path h="1398270" w="1941195">
                <a:moveTo>
                  <a:pt x="0" y="0"/>
                </a:moveTo>
                <a:lnTo>
                  <a:pt x="1941195" y="0"/>
                </a:lnTo>
                <a:lnTo>
                  <a:pt x="1941195" y="1398270"/>
                </a:lnTo>
                <a:lnTo>
                  <a:pt x="0" y="13982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6335080" y="2697480"/>
            <a:ext cx="342900" cy="342900"/>
            <a:chOff x="0" y="0"/>
            <a:chExt cx="457200" cy="457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457200"/>
                  </a:moveTo>
                  <a:cubicBezTo>
                    <a:pt x="354711" y="457200"/>
                    <a:pt x="457200" y="354711"/>
                    <a:pt x="457200" y="228600"/>
                  </a:cubicBezTo>
                  <a:cubicBezTo>
                    <a:pt x="457200" y="102489"/>
                    <a:pt x="354711" y="0"/>
                    <a:pt x="228600" y="0"/>
                  </a:cubicBezTo>
                  <a:cubicBezTo>
                    <a:pt x="102489" y="0"/>
                    <a:pt x="0" y="102489"/>
                    <a:pt x="0" y="228600"/>
                  </a:cubicBezTo>
                  <a:cubicBezTo>
                    <a:pt x="0" y="354711"/>
                    <a:pt x="102489" y="457200"/>
                    <a:pt x="228600" y="457200"/>
                  </a:cubicBezTo>
                  <a:close/>
                  <a:moveTo>
                    <a:pt x="303911" y="189992"/>
                  </a:moveTo>
                  <a:lnTo>
                    <a:pt x="232537" y="304292"/>
                  </a:lnTo>
                  <a:cubicBezTo>
                    <a:pt x="228727" y="310261"/>
                    <a:pt x="222377" y="314071"/>
                    <a:pt x="215265" y="314325"/>
                  </a:cubicBezTo>
                  <a:cubicBezTo>
                    <a:pt x="208153" y="314579"/>
                    <a:pt x="201422" y="311404"/>
                    <a:pt x="197231" y="305689"/>
                  </a:cubicBezTo>
                  <a:lnTo>
                    <a:pt x="154432" y="248539"/>
                  </a:lnTo>
                  <a:cubicBezTo>
                    <a:pt x="147320" y="239014"/>
                    <a:pt x="149225" y="225679"/>
                    <a:pt x="158750" y="218567"/>
                  </a:cubicBezTo>
                  <a:cubicBezTo>
                    <a:pt x="168275" y="211455"/>
                    <a:pt x="181610" y="213360"/>
                    <a:pt x="188722" y="222885"/>
                  </a:cubicBezTo>
                  <a:lnTo>
                    <a:pt x="212852" y="255016"/>
                  </a:lnTo>
                  <a:lnTo>
                    <a:pt x="267716" y="167259"/>
                  </a:lnTo>
                  <a:cubicBezTo>
                    <a:pt x="273939" y="157226"/>
                    <a:pt x="287147" y="154178"/>
                    <a:pt x="297307" y="160528"/>
                  </a:cubicBezTo>
                  <a:cubicBezTo>
                    <a:pt x="307467" y="166878"/>
                    <a:pt x="310388" y="179959"/>
                    <a:pt x="304038" y="190119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669454" y="3165929"/>
            <a:ext cx="1671638" cy="285750"/>
            <a:chOff x="0" y="0"/>
            <a:chExt cx="2228850" cy="381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288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987" r="0" b="-6398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228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Output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5676597" y="3451679"/>
            <a:ext cx="1657350" cy="228600"/>
            <a:chOff x="0" y="0"/>
            <a:chExt cx="2209800" cy="304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098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22098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All tests pass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569595" y="4272563"/>
            <a:ext cx="5598795" cy="2526983"/>
          </a:xfrm>
          <a:custGeom>
            <a:avLst/>
            <a:gdLst/>
            <a:ahLst/>
            <a:cxnLst/>
            <a:rect r="r" b="b" t="t" l="l"/>
            <a:pathLst>
              <a:path h="2526983" w="5598795">
                <a:moveTo>
                  <a:pt x="0" y="0"/>
                </a:moveTo>
                <a:lnTo>
                  <a:pt x="5598795" y="0"/>
                </a:lnTo>
                <a:lnTo>
                  <a:pt x="5598795" y="2526982"/>
                </a:lnTo>
                <a:lnTo>
                  <a:pt x="0" y="252698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754380" y="4457348"/>
            <a:ext cx="457200" cy="457200"/>
            <a:chOff x="0" y="0"/>
            <a:chExt cx="609600" cy="6096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37260" y="4514498"/>
            <a:ext cx="200025" cy="342900"/>
            <a:chOff x="0" y="0"/>
            <a:chExt cx="266700" cy="457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66700" cy="457200"/>
            </a:xfrm>
            <a:custGeom>
              <a:avLst/>
              <a:gdLst/>
              <a:ahLst/>
              <a:cxnLst/>
              <a:rect r="r" b="b" t="t" l="l"/>
              <a:pathLst>
                <a:path h="4572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76200"/>
              <a:ext cx="2667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25880" y="4514498"/>
            <a:ext cx="1714500" cy="342900"/>
            <a:chOff x="0" y="0"/>
            <a:chExt cx="2286000" cy="457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86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76200"/>
              <a:ext cx="22860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Lexical Analysis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54380" y="5028848"/>
            <a:ext cx="5329238" cy="657225"/>
            <a:chOff x="0" y="0"/>
            <a:chExt cx="7105650" cy="8763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105650" cy="876300"/>
            </a:xfrm>
            <a:custGeom>
              <a:avLst/>
              <a:gdLst/>
              <a:ahLst/>
              <a:cxnLst/>
              <a:rect r="r" b="b" t="t" l="l"/>
              <a:pathLst>
                <a:path h="876300" w="7105650">
                  <a:moveTo>
                    <a:pt x="0" y="0"/>
                  </a:moveTo>
                  <a:lnTo>
                    <a:pt x="7105650" y="0"/>
                  </a:lnTo>
                  <a:lnTo>
                    <a:pt x="71056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98" r="0" b="-10799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76200"/>
              <a:ext cx="710565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Converts source text into a flat token stream. Handles keywords, operators, literals, and comments.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765810" y="5793229"/>
            <a:ext cx="5226368" cy="685800"/>
            <a:chOff x="0" y="0"/>
            <a:chExt cx="6968490" cy="9144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968490" cy="914400"/>
            </a:xfrm>
            <a:custGeom>
              <a:avLst/>
              <a:gdLst/>
              <a:ahLst/>
              <a:cxnLst/>
              <a:rect r="r" b="b" t="t" l="l"/>
              <a:pathLst>
                <a:path h="914400" w="6968490">
                  <a:moveTo>
                    <a:pt x="30480" y="0"/>
                  </a:moveTo>
                  <a:lnTo>
                    <a:pt x="6892290" y="0"/>
                  </a:lnTo>
                  <a:cubicBezTo>
                    <a:pt x="6934327" y="0"/>
                    <a:pt x="6968490" y="34163"/>
                    <a:pt x="6968490" y="76200"/>
                  </a:cubicBezTo>
                  <a:lnTo>
                    <a:pt x="6968490" y="838200"/>
                  </a:lnTo>
                  <a:cubicBezTo>
                    <a:pt x="6968490" y="880237"/>
                    <a:pt x="6934327" y="914400"/>
                    <a:pt x="6892290" y="914400"/>
                  </a:cubicBezTo>
                  <a:lnTo>
                    <a:pt x="30480" y="914400"/>
                  </a:lnTo>
                  <a:cubicBezTo>
                    <a:pt x="13589" y="914400"/>
                    <a:pt x="0" y="900811"/>
                    <a:pt x="0" y="883920"/>
                  </a:cubicBezTo>
                  <a:lnTo>
                    <a:pt x="0" y="30480"/>
                  </a:lnTo>
                  <a:cubicBezTo>
                    <a:pt x="0" y="13716"/>
                    <a:pt x="13716" y="0"/>
                    <a:pt x="3048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765810" y="5793229"/>
            <a:ext cx="22860" cy="685800"/>
            <a:chOff x="0" y="0"/>
            <a:chExt cx="3048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0480">
                  <a:moveTo>
                    <a:pt x="30480" y="0"/>
                  </a:moveTo>
                  <a:lnTo>
                    <a:pt x="30480" y="914400"/>
                  </a:lnTo>
                  <a:cubicBezTo>
                    <a:pt x="13589" y="914400"/>
                    <a:pt x="0" y="900811"/>
                    <a:pt x="0" y="883920"/>
                  </a:cubicBezTo>
                  <a:lnTo>
                    <a:pt x="0" y="30480"/>
                  </a:lnTo>
                  <a:cubicBezTo>
                    <a:pt x="0" y="13716"/>
                    <a:pt x="13716" y="0"/>
                    <a:pt x="3048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91540" y="5907529"/>
            <a:ext cx="5072062" cy="228600"/>
            <a:chOff x="0" y="0"/>
            <a:chExt cx="6762750" cy="304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762750" cy="304800"/>
            </a:xfrm>
            <a:custGeom>
              <a:avLst/>
              <a:gdLst/>
              <a:ahLst/>
              <a:cxnLst/>
              <a:rect r="r" b="b" t="t" l="l"/>
              <a:pathLst>
                <a:path h="3048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67627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Output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91540" y="6135948"/>
            <a:ext cx="5072062" cy="228600"/>
            <a:chOff x="0" y="0"/>
            <a:chExt cx="6762750" cy="3048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762750" cy="304800"/>
            </a:xfrm>
            <a:custGeom>
              <a:avLst/>
              <a:gdLst/>
              <a:ahLst/>
              <a:cxnLst/>
              <a:rect r="r" b="b" t="t" l="l"/>
              <a:pathLst>
                <a:path h="3048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67627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Token Stream</a:t>
              </a:r>
            </a:p>
          </p:txBody>
        </p:sp>
      </p:grpSp>
      <p:sp>
        <p:nvSpPr>
          <p:cNvPr name="Freeform 110" id="110"/>
          <p:cNvSpPr/>
          <p:nvPr/>
        </p:nvSpPr>
        <p:spPr>
          <a:xfrm flipH="false" flipV="false" rot="0">
            <a:off x="6341745" y="4272563"/>
            <a:ext cx="5598795" cy="2526983"/>
          </a:xfrm>
          <a:custGeom>
            <a:avLst/>
            <a:gdLst/>
            <a:ahLst/>
            <a:cxnLst/>
            <a:rect r="r" b="b" t="t" l="l"/>
            <a:pathLst>
              <a:path h="2526983" w="5598795">
                <a:moveTo>
                  <a:pt x="0" y="0"/>
                </a:moveTo>
                <a:lnTo>
                  <a:pt x="5598795" y="0"/>
                </a:lnTo>
                <a:lnTo>
                  <a:pt x="5598795" y="2526982"/>
                </a:lnTo>
                <a:lnTo>
                  <a:pt x="0" y="252698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1" id="111"/>
          <p:cNvGrpSpPr/>
          <p:nvPr/>
        </p:nvGrpSpPr>
        <p:grpSpPr>
          <a:xfrm rot="0">
            <a:off x="6526530" y="4457348"/>
            <a:ext cx="457200" cy="457200"/>
            <a:chOff x="0" y="0"/>
            <a:chExt cx="609600" cy="6096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6688693" y="4514498"/>
            <a:ext cx="242888" cy="342900"/>
            <a:chOff x="0" y="0"/>
            <a:chExt cx="323850" cy="4572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23850" cy="457200"/>
            </a:xfrm>
            <a:custGeom>
              <a:avLst/>
              <a:gdLst/>
              <a:ahLst/>
              <a:cxnLst/>
              <a:rect r="r" b="b" t="t" l="l"/>
              <a:pathLst>
                <a:path h="45720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4" t="0" r="-131134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76200"/>
              <a:ext cx="3238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2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098030" y="4514498"/>
            <a:ext cx="1700212" cy="342900"/>
            <a:chOff x="0" y="0"/>
            <a:chExt cx="2266950" cy="4572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266950" cy="457200"/>
            </a:xfrm>
            <a:custGeom>
              <a:avLst/>
              <a:gdLst/>
              <a:ahLst/>
              <a:cxnLst/>
              <a:rect r="r" b="b" t="t" l="l"/>
              <a:pathLst>
                <a:path h="457200" w="2266950">
                  <a:moveTo>
                    <a:pt x="0" y="0"/>
                  </a:moveTo>
                  <a:lnTo>
                    <a:pt x="2266950" y="0"/>
                  </a:lnTo>
                  <a:lnTo>
                    <a:pt x="22669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13" r="0" b="-46613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76200"/>
              <a:ext cx="22669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Syntax Analysis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6526530" y="5028848"/>
            <a:ext cx="5329238" cy="657225"/>
            <a:chOff x="0" y="0"/>
            <a:chExt cx="7105650" cy="8763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105650" cy="876300"/>
            </a:xfrm>
            <a:custGeom>
              <a:avLst/>
              <a:gdLst/>
              <a:ahLst/>
              <a:cxnLst/>
              <a:rect r="r" b="b" t="t" l="l"/>
              <a:pathLst>
                <a:path h="876300" w="7105650">
                  <a:moveTo>
                    <a:pt x="0" y="0"/>
                  </a:moveTo>
                  <a:lnTo>
                    <a:pt x="7105650" y="0"/>
                  </a:lnTo>
                  <a:lnTo>
                    <a:pt x="71056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98" r="0" b="-10799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76200"/>
              <a:ext cx="710565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Recursive descent parser builds a typed AST from the token stream with 20+ node types.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6537960" y="5793229"/>
            <a:ext cx="5226368" cy="685800"/>
            <a:chOff x="0" y="0"/>
            <a:chExt cx="6968490" cy="9144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968490" cy="914400"/>
            </a:xfrm>
            <a:custGeom>
              <a:avLst/>
              <a:gdLst/>
              <a:ahLst/>
              <a:cxnLst/>
              <a:rect r="r" b="b" t="t" l="l"/>
              <a:pathLst>
                <a:path h="914400" w="6968490">
                  <a:moveTo>
                    <a:pt x="30480" y="0"/>
                  </a:moveTo>
                  <a:lnTo>
                    <a:pt x="6892290" y="0"/>
                  </a:lnTo>
                  <a:cubicBezTo>
                    <a:pt x="6934327" y="0"/>
                    <a:pt x="6968490" y="34163"/>
                    <a:pt x="6968490" y="76200"/>
                  </a:cubicBezTo>
                  <a:lnTo>
                    <a:pt x="6968490" y="838200"/>
                  </a:lnTo>
                  <a:cubicBezTo>
                    <a:pt x="6968490" y="880237"/>
                    <a:pt x="6934327" y="914400"/>
                    <a:pt x="6892290" y="914400"/>
                  </a:cubicBezTo>
                  <a:lnTo>
                    <a:pt x="30480" y="914400"/>
                  </a:lnTo>
                  <a:cubicBezTo>
                    <a:pt x="13589" y="914400"/>
                    <a:pt x="0" y="900811"/>
                    <a:pt x="0" y="883920"/>
                  </a:cubicBezTo>
                  <a:lnTo>
                    <a:pt x="0" y="30480"/>
                  </a:lnTo>
                  <a:cubicBezTo>
                    <a:pt x="0" y="13716"/>
                    <a:pt x="13716" y="0"/>
                    <a:pt x="3048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6537960" y="5793229"/>
            <a:ext cx="22860" cy="685800"/>
            <a:chOff x="0" y="0"/>
            <a:chExt cx="30480" cy="9144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0480">
                  <a:moveTo>
                    <a:pt x="30480" y="0"/>
                  </a:moveTo>
                  <a:lnTo>
                    <a:pt x="30480" y="914400"/>
                  </a:lnTo>
                  <a:cubicBezTo>
                    <a:pt x="13589" y="914400"/>
                    <a:pt x="0" y="900811"/>
                    <a:pt x="0" y="883920"/>
                  </a:cubicBezTo>
                  <a:lnTo>
                    <a:pt x="0" y="30480"/>
                  </a:lnTo>
                  <a:cubicBezTo>
                    <a:pt x="0" y="13716"/>
                    <a:pt x="13716" y="0"/>
                    <a:pt x="3048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6663690" y="5907529"/>
            <a:ext cx="5072062" cy="228600"/>
            <a:chOff x="0" y="0"/>
            <a:chExt cx="6762750" cy="3048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762750" cy="304800"/>
            </a:xfrm>
            <a:custGeom>
              <a:avLst/>
              <a:gdLst/>
              <a:ahLst/>
              <a:cxnLst/>
              <a:rect r="r" b="b" t="t" l="l"/>
              <a:pathLst>
                <a:path h="3048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19050"/>
              <a:ext cx="67627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Output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6663690" y="6135948"/>
            <a:ext cx="5072062" cy="228600"/>
            <a:chOff x="0" y="0"/>
            <a:chExt cx="6762750" cy="3048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762750" cy="304800"/>
            </a:xfrm>
            <a:custGeom>
              <a:avLst/>
              <a:gdLst/>
              <a:ahLst/>
              <a:cxnLst/>
              <a:rect r="r" b="b" t="t" l="l"/>
              <a:pathLst>
                <a:path h="3048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19050"/>
              <a:ext cx="67627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AST (Abstract Syntax Tree)</a:t>
              </a:r>
            </a:p>
          </p:txBody>
        </p:sp>
      </p:grpSp>
      <p:sp>
        <p:nvSpPr>
          <p:cNvPr name="Freeform 132" id="132"/>
          <p:cNvSpPr/>
          <p:nvPr/>
        </p:nvSpPr>
        <p:spPr>
          <a:xfrm flipH="false" flipV="false" rot="0">
            <a:off x="12113895" y="4272563"/>
            <a:ext cx="5598795" cy="2526983"/>
          </a:xfrm>
          <a:custGeom>
            <a:avLst/>
            <a:gdLst/>
            <a:ahLst/>
            <a:cxnLst/>
            <a:rect r="r" b="b" t="t" l="l"/>
            <a:pathLst>
              <a:path h="2526983" w="5598795">
                <a:moveTo>
                  <a:pt x="0" y="0"/>
                </a:moveTo>
                <a:lnTo>
                  <a:pt x="5598795" y="0"/>
                </a:lnTo>
                <a:lnTo>
                  <a:pt x="5598795" y="2526982"/>
                </a:lnTo>
                <a:lnTo>
                  <a:pt x="0" y="252698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12298680" y="4457348"/>
            <a:ext cx="457200" cy="457200"/>
            <a:chOff x="0" y="0"/>
            <a:chExt cx="609600" cy="6096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A78BFA">
                <a:alpha val="784"/>
              </a:srgbClr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2329046" y="4514498"/>
            <a:ext cx="514350" cy="342900"/>
            <a:chOff x="0" y="0"/>
            <a:chExt cx="685800" cy="4572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85800" cy="457200"/>
            </a:xfrm>
            <a:custGeom>
              <a:avLst/>
              <a:gdLst/>
              <a:ahLst/>
              <a:cxnLst/>
              <a:rect r="r" b="b" t="t" l="l"/>
              <a:pathLst>
                <a:path h="4572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76200"/>
              <a:ext cx="6858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3+4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870180" y="4514498"/>
            <a:ext cx="1943100" cy="342900"/>
            <a:chOff x="0" y="0"/>
            <a:chExt cx="2590800" cy="4572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590800" cy="457200"/>
            </a:xfrm>
            <a:custGeom>
              <a:avLst/>
              <a:gdLst/>
              <a:ahLst/>
              <a:cxnLst/>
              <a:rect r="r" b="b" t="t" l="l"/>
              <a:pathLst>
                <a:path h="457200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76200"/>
              <a:ext cx="25908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Semantic + IR Gen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298680" y="5028848"/>
            <a:ext cx="5329238" cy="657225"/>
            <a:chOff x="0" y="0"/>
            <a:chExt cx="7105650" cy="8763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7105650" cy="876300"/>
            </a:xfrm>
            <a:custGeom>
              <a:avLst/>
              <a:gdLst/>
              <a:ahLst/>
              <a:cxnLst/>
              <a:rect r="r" b="b" t="t" l="l"/>
              <a:pathLst>
                <a:path h="876300" w="7105650">
                  <a:moveTo>
                    <a:pt x="0" y="0"/>
                  </a:moveTo>
                  <a:lnTo>
                    <a:pt x="7105650" y="0"/>
                  </a:lnTo>
                  <a:lnTo>
                    <a:pt x="71056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98" r="0" b="-107998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76200"/>
              <a:ext cx="710565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Combined semantic analysis and IR generation. Scoped symbol tables with 15+ checks.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2310110" y="5793229"/>
            <a:ext cx="5226368" cy="685800"/>
            <a:chOff x="0" y="0"/>
            <a:chExt cx="6968490" cy="9144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968490" cy="914400"/>
            </a:xfrm>
            <a:custGeom>
              <a:avLst/>
              <a:gdLst/>
              <a:ahLst/>
              <a:cxnLst/>
              <a:rect r="r" b="b" t="t" l="l"/>
              <a:pathLst>
                <a:path h="914400" w="6968490">
                  <a:moveTo>
                    <a:pt x="30480" y="0"/>
                  </a:moveTo>
                  <a:lnTo>
                    <a:pt x="6892290" y="0"/>
                  </a:lnTo>
                  <a:cubicBezTo>
                    <a:pt x="6934327" y="0"/>
                    <a:pt x="6968490" y="34163"/>
                    <a:pt x="6968490" y="76200"/>
                  </a:cubicBezTo>
                  <a:lnTo>
                    <a:pt x="6968490" y="838200"/>
                  </a:lnTo>
                  <a:cubicBezTo>
                    <a:pt x="6968490" y="880237"/>
                    <a:pt x="6934327" y="914400"/>
                    <a:pt x="6892290" y="914400"/>
                  </a:cubicBezTo>
                  <a:lnTo>
                    <a:pt x="30480" y="914400"/>
                  </a:lnTo>
                  <a:cubicBezTo>
                    <a:pt x="13589" y="914400"/>
                    <a:pt x="0" y="900811"/>
                    <a:pt x="0" y="883920"/>
                  </a:cubicBezTo>
                  <a:lnTo>
                    <a:pt x="0" y="30480"/>
                  </a:lnTo>
                  <a:cubicBezTo>
                    <a:pt x="0" y="13716"/>
                    <a:pt x="13716" y="0"/>
                    <a:pt x="3048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2310110" y="5793229"/>
            <a:ext cx="22860" cy="685800"/>
            <a:chOff x="0" y="0"/>
            <a:chExt cx="30480" cy="9144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0480">
                  <a:moveTo>
                    <a:pt x="30480" y="0"/>
                  </a:moveTo>
                  <a:lnTo>
                    <a:pt x="30480" y="914400"/>
                  </a:lnTo>
                  <a:cubicBezTo>
                    <a:pt x="13589" y="914400"/>
                    <a:pt x="0" y="900811"/>
                    <a:pt x="0" y="883920"/>
                  </a:cubicBezTo>
                  <a:lnTo>
                    <a:pt x="0" y="30480"/>
                  </a:lnTo>
                  <a:cubicBezTo>
                    <a:pt x="0" y="13716"/>
                    <a:pt x="13716" y="0"/>
                    <a:pt x="30480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2435840" y="5907529"/>
            <a:ext cx="5072062" cy="228600"/>
            <a:chOff x="0" y="0"/>
            <a:chExt cx="6762750" cy="3048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6762750" cy="304800"/>
            </a:xfrm>
            <a:custGeom>
              <a:avLst/>
              <a:gdLst/>
              <a:ahLst/>
              <a:cxnLst/>
              <a:rect r="r" b="b" t="t" l="l"/>
              <a:pathLst>
                <a:path h="3048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19050"/>
              <a:ext cx="67627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Output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2435840" y="6135948"/>
            <a:ext cx="5072062" cy="228600"/>
            <a:chOff x="0" y="0"/>
            <a:chExt cx="6762750" cy="3048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6762750" cy="304800"/>
            </a:xfrm>
            <a:custGeom>
              <a:avLst/>
              <a:gdLst/>
              <a:ahLst/>
              <a:cxnLst/>
              <a:rect r="r" b="b" t="t" l="l"/>
              <a:pathLst>
                <a:path h="3048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19050"/>
              <a:ext cx="67627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Three-Address Code (TAC) IR</a:t>
              </a:r>
            </a:p>
          </p:txBody>
        </p:sp>
      </p:grpSp>
      <p:sp>
        <p:nvSpPr>
          <p:cNvPr name="Freeform 154" id="154"/>
          <p:cNvSpPr/>
          <p:nvPr/>
        </p:nvSpPr>
        <p:spPr>
          <a:xfrm flipH="false" flipV="false" rot="0">
            <a:off x="569595" y="6962003"/>
            <a:ext cx="5598795" cy="2755583"/>
          </a:xfrm>
          <a:custGeom>
            <a:avLst/>
            <a:gdLst/>
            <a:ahLst/>
            <a:cxnLst/>
            <a:rect r="r" b="b" t="t" l="l"/>
            <a:pathLst>
              <a:path h="2755583" w="5598795">
                <a:moveTo>
                  <a:pt x="0" y="0"/>
                </a:moveTo>
                <a:lnTo>
                  <a:pt x="5598795" y="0"/>
                </a:lnTo>
                <a:lnTo>
                  <a:pt x="5598795" y="2755583"/>
                </a:lnTo>
                <a:lnTo>
                  <a:pt x="0" y="275558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5" id="155"/>
          <p:cNvGrpSpPr/>
          <p:nvPr/>
        </p:nvGrpSpPr>
        <p:grpSpPr>
          <a:xfrm rot="0">
            <a:off x="754380" y="7146788"/>
            <a:ext cx="457200" cy="457200"/>
            <a:chOff x="0" y="0"/>
            <a:chExt cx="609600" cy="60960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472B6">
                <a:alpha val="784"/>
              </a:srgbClr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917077" y="7203938"/>
            <a:ext cx="242888" cy="342900"/>
            <a:chOff x="0" y="0"/>
            <a:chExt cx="323850" cy="45720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323850" cy="457200"/>
            </a:xfrm>
            <a:custGeom>
              <a:avLst/>
              <a:gdLst/>
              <a:ahLst/>
              <a:cxnLst/>
              <a:rect r="r" b="b" t="t" l="l"/>
              <a:pathLst>
                <a:path h="457200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4" t="0" r="-131134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76200"/>
              <a:ext cx="3238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472B6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5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325880" y="7203938"/>
            <a:ext cx="1814512" cy="342900"/>
            <a:chOff x="0" y="0"/>
            <a:chExt cx="2419350" cy="45720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419350" cy="457200"/>
            </a:xfrm>
            <a:custGeom>
              <a:avLst/>
              <a:gdLst/>
              <a:ahLst/>
              <a:cxnLst/>
              <a:rect r="r" b="b" t="t" l="l"/>
              <a:pathLst>
                <a:path h="457200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08" r="0" b="-53108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76200"/>
              <a:ext cx="24193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Code Generation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754380" y="7718288"/>
            <a:ext cx="5329238" cy="657225"/>
            <a:chOff x="0" y="0"/>
            <a:chExt cx="7105650" cy="87630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105650" cy="876300"/>
            </a:xfrm>
            <a:custGeom>
              <a:avLst/>
              <a:gdLst/>
              <a:ahLst/>
              <a:cxnLst/>
              <a:rect r="r" b="b" t="t" l="l"/>
              <a:pathLst>
                <a:path h="876300" w="7105650">
                  <a:moveTo>
                    <a:pt x="0" y="0"/>
                  </a:moveTo>
                  <a:lnTo>
                    <a:pt x="7105650" y="0"/>
                  </a:lnTo>
                  <a:lnTo>
                    <a:pt x="71056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98" r="0" b="-107998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76200"/>
              <a:ext cx="710565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Translates TAC IR to x86-64 pseudo-assembly with register operations and stack management.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765810" y="8482670"/>
            <a:ext cx="5226368" cy="685800"/>
            <a:chOff x="0" y="0"/>
            <a:chExt cx="6968490" cy="91440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968490" cy="914400"/>
            </a:xfrm>
            <a:custGeom>
              <a:avLst/>
              <a:gdLst/>
              <a:ahLst/>
              <a:cxnLst/>
              <a:rect r="r" b="b" t="t" l="l"/>
              <a:pathLst>
                <a:path h="914400" w="6968490">
                  <a:moveTo>
                    <a:pt x="30480" y="0"/>
                  </a:moveTo>
                  <a:lnTo>
                    <a:pt x="6892290" y="0"/>
                  </a:lnTo>
                  <a:cubicBezTo>
                    <a:pt x="6934327" y="0"/>
                    <a:pt x="6968490" y="34163"/>
                    <a:pt x="6968490" y="76200"/>
                  </a:cubicBezTo>
                  <a:lnTo>
                    <a:pt x="6968490" y="838200"/>
                  </a:lnTo>
                  <a:cubicBezTo>
                    <a:pt x="6968490" y="880237"/>
                    <a:pt x="6934327" y="914400"/>
                    <a:pt x="6892290" y="914400"/>
                  </a:cubicBezTo>
                  <a:lnTo>
                    <a:pt x="30480" y="914400"/>
                  </a:lnTo>
                  <a:cubicBezTo>
                    <a:pt x="13589" y="914400"/>
                    <a:pt x="0" y="900811"/>
                    <a:pt x="0" y="883920"/>
                  </a:cubicBezTo>
                  <a:lnTo>
                    <a:pt x="0" y="30480"/>
                  </a:lnTo>
                  <a:cubicBezTo>
                    <a:pt x="0" y="13716"/>
                    <a:pt x="13716" y="0"/>
                    <a:pt x="3048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765810" y="8482670"/>
            <a:ext cx="22860" cy="685800"/>
            <a:chOff x="0" y="0"/>
            <a:chExt cx="30480" cy="9144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3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0480">
                  <a:moveTo>
                    <a:pt x="30480" y="0"/>
                  </a:moveTo>
                  <a:lnTo>
                    <a:pt x="30480" y="914400"/>
                  </a:lnTo>
                  <a:cubicBezTo>
                    <a:pt x="13589" y="914400"/>
                    <a:pt x="0" y="900811"/>
                    <a:pt x="0" y="883920"/>
                  </a:cubicBezTo>
                  <a:lnTo>
                    <a:pt x="0" y="30480"/>
                  </a:lnTo>
                  <a:cubicBezTo>
                    <a:pt x="0" y="13716"/>
                    <a:pt x="13716" y="0"/>
                    <a:pt x="30480" y="0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891540" y="8596970"/>
            <a:ext cx="5072062" cy="228600"/>
            <a:chOff x="0" y="0"/>
            <a:chExt cx="6762750" cy="30480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762750" cy="304800"/>
            </a:xfrm>
            <a:custGeom>
              <a:avLst/>
              <a:gdLst/>
              <a:ahLst/>
              <a:cxnLst/>
              <a:rect r="r" b="b" t="t" l="l"/>
              <a:pathLst>
                <a:path h="3048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19050"/>
              <a:ext cx="67627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F472B6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Output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891540" y="8825389"/>
            <a:ext cx="5072062" cy="228600"/>
            <a:chOff x="0" y="0"/>
            <a:chExt cx="6762750" cy="30480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762750" cy="304800"/>
            </a:xfrm>
            <a:custGeom>
              <a:avLst/>
              <a:gdLst/>
              <a:ahLst/>
              <a:cxnLst/>
              <a:rect r="r" b="b" t="t" l="l"/>
              <a:pathLst>
                <a:path h="3048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19050"/>
              <a:ext cx="67627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x86-64 Pseudo-Assembly</a:t>
              </a:r>
            </a:p>
          </p:txBody>
        </p:sp>
      </p:grpSp>
      <p:sp>
        <p:nvSpPr>
          <p:cNvPr name="Freeform 176" id="176"/>
          <p:cNvSpPr/>
          <p:nvPr/>
        </p:nvSpPr>
        <p:spPr>
          <a:xfrm flipH="false" flipV="false" rot="0">
            <a:off x="6341745" y="6962003"/>
            <a:ext cx="5598795" cy="2755583"/>
          </a:xfrm>
          <a:custGeom>
            <a:avLst/>
            <a:gdLst/>
            <a:ahLst/>
            <a:cxnLst/>
            <a:rect r="r" b="b" t="t" l="l"/>
            <a:pathLst>
              <a:path h="2755583" w="5598795">
                <a:moveTo>
                  <a:pt x="0" y="0"/>
                </a:moveTo>
                <a:lnTo>
                  <a:pt x="5598795" y="0"/>
                </a:lnTo>
                <a:lnTo>
                  <a:pt x="5598795" y="2755583"/>
                </a:lnTo>
                <a:lnTo>
                  <a:pt x="0" y="275558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7" id="177"/>
          <p:cNvGrpSpPr/>
          <p:nvPr/>
        </p:nvGrpSpPr>
        <p:grpSpPr>
          <a:xfrm rot="0">
            <a:off x="6526530" y="7146788"/>
            <a:ext cx="457200" cy="457200"/>
            <a:chOff x="0" y="0"/>
            <a:chExt cx="609600" cy="6096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2D3EE">
                <a:alpha val="784"/>
              </a:srgbClr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6686731" y="7203938"/>
            <a:ext cx="257175" cy="342900"/>
            <a:chOff x="0" y="0"/>
            <a:chExt cx="342900" cy="45720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42900" cy="457200"/>
            </a:xfrm>
            <a:custGeom>
              <a:avLst/>
              <a:gdLst/>
              <a:ahLst/>
              <a:cxnLst/>
              <a:rect r="r" b="b" t="t" l="l"/>
              <a:pathLst>
                <a:path h="457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76200"/>
              <a:ext cx="3429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6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7098030" y="7203938"/>
            <a:ext cx="1114425" cy="342900"/>
            <a:chOff x="0" y="0"/>
            <a:chExt cx="1485900" cy="45720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485900" cy="457200"/>
            </a:xfrm>
            <a:custGeom>
              <a:avLst/>
              <a:gdLst/>
              <a:ahLst/>
              <a:cxnLst/>
              <a:rect r="r" b="b" t="t" l="l"/>
              <a:pathLst>
                <a:path h="4572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76200"/>
              <a:ext cx="14859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Execution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6526530" y="7718288"/>
            <a:ext cx="5329238" cy="657225"/>
            <a:chOff x="0" y="0"/>
            <a:chExt cx="7105650" cy="87630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7105650" cy="876300"/>
            </a:xfrm>
            <a:custGeom>
              <a:avLst/>
              <a:gdLst/>
              <a:ahLst/>
              <a:cxnLst/>
              <a:rect r="r" b="b" t="t" l="l"/>
              <a:pathLst>
                <a:path h="876300" w="7105650">
                  <a:moveTo>
                    <a:pt x="0" y="0"/>
                  </a:moveTo>
                  <a:lnTo>
                    <a:pt x="7105650" y="0"/>
                  </a:lnTo>
                  <a:lnTo>
                    <a:pt x="71056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98" r="0" b="-107998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76200"/>
              <a:ext cx="710565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In-memory IR interpreter with O(1) jumps, call stack, recursion support, and step limit guard.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6537960" y="8482670"/>
            <a:ext cx="5226368" cy="685800"/>
            <a:chOff x="0" y="0"/>
            <a:chExt cx="6968490" cy="91440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6968490" cy="914400"/>
            </a:xfrm>
            <a:custGeom>
              <a:avLst/>
              <a:gdLst/>
              <a:ahLst/>
              <a:cxnLst/>
              <a:rect r="r" b="b" t="t" l="l"/>
              <a:pathLst>
                <a:path h="914400" w="6968490">
                  <a:moveTo>
                    <a:pt x="30480" y="0"/>
                  </a:moveTo>
                  <a:lnTo>
                    <a:pt x="6892290" y="0"/>
                  </a:lnTo>
                  <a:cubicBezTo>
                    <a:pt x="6934327" y="0"/>
                    <a:pt x="6968490" y="34163"/>
                    <a:pt x="6968490" y="76200"/>
                  </a:cubicBezTo>
                  <a:lnTo>
                    <a:pt x="6968490" y="838200"/>
                  </a:lnTo>
                  <a:cubicBezTo>
                    <a:pt x="6968490" y="880237"/>
                    <a:pt x="6934327" y="914400"/>
                    <a:pt x="6892290" y="914400"/>
                  </a:cubicBezTo>
                  <a:lnTo>
                    <a:pt x="30480" y="914400"/>
                  </a:lnTo>
                  <a:cubicBezTo>
                    <a:pt x="13589" y="914400"/>
                    <a:pt x="0" y="900811"/>
                    <a:pt x="0" y="883920"/>
                  </a:cubicBezTo>
                  <a:lnTo>
                    <a:pt x="0" y="30480"/>
                  </a:lnTo>
                  <a:cubicBezTo>
                    <a:pt x="0" y="13716"/>
                    <a:pt x="13716" y="0"/>
                    <a:pt x="3048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6537960" y="8482670"/>
            <a:ext cx="22860" cy="685800"/>
            <a:chOff x="0" y="0"/>
            <a:chExt cx="30480" cy="914400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3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0480">
                  <a:moveTo>
                    <a:pt x="30480" y="0"/>
                  </a:moveTo>
                  <a:lnTo>
                    <a:pt x="30480" y="914400"/>
                  </a:lnTo>
                  <a:cubicBezTo>
                    <a:pt x="13589" y="914400"/>
                    <a:pt x="0" y="900811"/>
                    <a:pt x="0" y="883920"/>
                  </a:cubicBezTo>
                  <a:lnTo>
                    <a:pt x="0" y="30480"/>
                  </a:lnTo>
                  <a:cubicBezTo>
                    <a:pt x="0" y="13716"/>
                    <a:pt x="13716" y="0"/>
                    <a:pt x="30480" y="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6663690" y="8596970"/>
            <a:ext cx="5072062" cy="228600"/>
            <a:chOff x="0" y="0"/>
            <a:chExt cx="6762750" cy="30480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6762750" cy="304800"/>
            </a:xfrm>
            <a:custGeom>
              <a:avLst/>
              <a:gdLst/>
              <a:ahLst/>
              <a:cxnLst/>
              <a:rect r="r" b="b" t="t" l="l"/>
              <a:pathLst>
                <a:path h="3048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19050"/>
              <a:ext cx="67627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Output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6663690" y="8825389"/>
            <a:ext cx="5072062" cy="228600"/>
            <a:chOff x="0" y="0"/>
            <a:chExt cx="6762750" cy="30480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6762750" cy="304800"/>
            </a:xfrm>
            <a:custGeom>
              <a:avLst/>
              <a:gdLst/>
              <a:ahLst/>
              <a:cxnLst/>
              <a:rect r="r" b="b" t="t" l="l"/>
              <a:pathLst>
                <a:path h="3048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19050"/>
              <a:ext cx="67627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Program Result</a:t>
              </a:r>
            </a:p>
          </p:txBody>
        </p:sp>
      </p:grpSp>
      <p:sp>
        <p:nvSpPr>
          <p:cNvPr name="Freeform 198" id="198"/>
          <p:cNvSpPr/>
          <p:nvPr/>
        </p:nvSpPr>
        <p:spPr>
          <a:xfrm flipH="false" flipV="false" rot="0">
            <a:off x="12113895" y="6962003"/>
            <a:ext cx="5598795" cy="2755583"/>
          </a:xfrm>
          <a:custGeom>
            <a:avLst/>
            <a:gdLst/>
            <a:ahLst/>
            <a:cxnLst/>
            <a:rect r="r" b="b" t="t" l="l"/>
            <a:pathLst>
              <a:path h="2755583" w="5598795">
                <a:moveTo>
                  <a:pt x="0" y="0"/>
                </a:moveTo>
                <a:lnTo>
                  <a:pt x="5598795" y="0"/>
                </a:lnTo>
                <a:lnTo>
                  <a:pt x="5598795" y="2755583"/>
                </a:lnTo>
                <a:lnTo>
                  <a:pt x="0" y="275558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9" id="199"/>
          <p:cNvSpPr/>
          <p:nvPr/>
        </p:nvSpPr>
        <p:spPr>
          <a:xfrm flipH="false" flipV="false" rot="0">
            <a:off x="12316539" y="7240724"/>
            <a:ext cx="321469" cy="285750"/>
          </a:xfrm>
          <a:custGeom>
            <a:avLst/>
            <a:gdLst/>
            <a:ahLst/>
            <a:cxnLst/>
            <a:rect r="r" b="b" t="t" l="l"/>
            <a:pathLst>
              <a:path h="285750" w="321469">
                <a:moveTo>
                  <a:pt x="0" y="0"/>
                </a:moveTo>
                <a:lnTo>
                  <a:pt x="321469" y="0"/>
                </a:lnTo>
                <a:lnTo>
                  <a:pt x="321469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0" id="200"/>
          <p:cNvGrpSpPr/>
          <p:nvPr/>
        </p:nvGrpSpPr>
        <p:grpSpPr>
          <a:xfrm rot="0">
            <a:off x="12770168" y="7212149"/>
            <a:ext cx="1600200" cy="342900"/>
            <a:chOff x="0" y="0"/>
            <a:chExt cx="2133600" cy="45720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2133600" cy="457200"/>
            </a:xfrm>
            <a:custGeom>
              <a:avLst/>
              <a:gdLst/>
              <a:ahLst/>
              <a:cxnLst/>
              <a:rect r="r" b="b" t="t" l="l"/>
              <a:pathLst>
                <a:path h="4572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76200"/>
              <a:ext cx="21336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Key Innovation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2298680" y="7669349"/>
            <a:ext cx="5329238" cy="971550"/>
            <a:chOff x="0" y="0"/>
            <a:chExt cx="7105650" cy="129540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7105650" cy="1295400"/>
            </a:xfrm>
            <a:custGeom>
              <a:avLst/>
              <a:gdLst/>
              <a:ahLst/>
              <a:cxnLst/>
              <a:rect r="r" b="b" t="t" l="l"/>
              <a:pathLst>
                <a:path h="1295400" w="7105650">
                  <a:moveTo>
                    <a:pt x="0" y="0"/>
                  </a:moveTo>
                  <a:lnTo>
                    <a:pt x="7105650" y="0"/>
                  </a:lnTo>
                  <a:lnTo>
                    <a:pt x="710565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81" r="0" b="-5688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76200"/>
              <a:ext cx="710565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Single-Pass Design: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Phases 3 and 4 are combined into one AST traversal, reducing memory usage by </a:t>
              </a:r>
              <a:r>
                <a:rPr lang="en-US" sz="1575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50%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— a deliberate choice for embedded system targets.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12296775" y="8756866"/>
            <a:ext cx="5241607" cy="712470"/>
          </a:xfrm>
          <a:custGeom>
            <a:avLst/>
            <a:gdLst/>
            <a:ahLst/>
            <a:cxnLst/>
            <a:rect r="r" b="b" t="t" l="l"/>
            <a:pathLst>
              <a:path h="712470" w="5241607">
                <a:moveTo>
                  <a:pt x="0" y="0"/>
                </a:moveTo>
                <a:lnTo>
                  <a:pt x="5241607" y="0"/>
                </a:lnTo>
                <a:lnTo>
                  <a:pt x="5241607" y="712470"/>
                </a:lnTo>
                <a:lnTo>
                  <a:pt x="0" y="712470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12424410" y="8884510"/>
            <a:ext cx="5072062" cy="457200"/>
            <a:chOff x="0" y="0"/>
            <a:chExt cx="6762750" cy="609600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6762750" cy="609600"/>
            </a:xfrm>
            <a:custGeom>
              <a:avLst/>
              <a:gdLst/>
              <a:ahLst/>
              <a:cxnLst/>
              <a:rect r="r" b="b" t="t" l="l"/>
              <a:pathLst>
                <a:path h="6096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162" r="0" b="-166162"/>
              </a:stretch>
            </a:blipFill>
          </p:spPr>
        </p:sp>
        <p:sp>
          <p:nvSpPr>
            <p:cNvPr name="TextBox 209" id="209"/>
            <p:cNvSpPr txBox="true"/>
            <p:nvPr/>
          </p:nvSpPr>
          <p:spPr>
            <a:xfrm>
              <a:off x="0" y="-19050"/>
              <a:ext cx="676275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4D39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Critical for resource-constrained devices where memory optimization is essential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45012" cy="285750"/>
            <a:chOff x="0" y="0"/>
            <a:chExt cx="229933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F472B6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Implementation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9144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Lexical &amp; Syntax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1543050"/>
            <a:ext cx="17259300" cy="342900"/>
            <a:chOff x="0" y="0"/>
            <a:chExt cx="2301240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012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Phase 1-2: From Source to AST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9595" y="2055495"/>
            <a:ext cx="8456295" cy="6613207"/>
          </a:xfrm>
          <a:custGeom>
            <a:avLst/>
            <a:gdLst/>
            <a:ahLst/>
            <a:cxnLst/>
            <a:rect r="r" b="b" t="t" l="l"/>
            <a:pathLst>
              <a:path h="6613207" w="8456295">
                <a:moveTo>
                  <a:pt x="0" y="0"/>
                </a:moveTo>
                <a:lnTo>
                  <a:pt x="8456295" y="0"/>
                </a:lnTo>
                <a:lnTo>
                  <a:pt x="8456295" y="6613207"/>
                </a:lnTo>
                <a:lnTo>
                  <a:pt x="0" y="6613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11530" y="2354580"/>
            <a:ext cx="571500" cy="571500"/>
            <a:chOff x="0" y="0"/>
            <a:chExt cx="762000" cy="76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40130" y="2440305"/>
            <a:ext cx="257175" cy="400050"/>
            <a:chOff x="0" y="0"/>
            <a:chExt cx="34290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2900" cy="533400"/>
            </a:xfrm>
            <a:custGeom>
              <a:avLst/>
              <a:gdLst/>
              <a:ahLst/>
              <a:cxnLst/>
              <a:rect r="r" b="b" t="t" l="l"/>
              <a:pathLst>
                <a:path h="5334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583" t="0" r="-14958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429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4480" y="2297430"/>
            <a:ext cx="2314575" cy="400050"/>
            <a:chOff x="0" y="0"/>
            <a:chExt cx="308610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86100" cy="533400"/>
            </a:xfrm>
            <a:custGeom>
              <a:avLst/>
              <a:gdLst/>
              <a:ahLst/>
              <a:cxnLst/>
              <a:rect r="r" b="b" t="t" l="l"/>
              <a:pathLst>
                <a:path h="5334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734" r="0" b="-627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30861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Lexer (DFA-Based)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4480" y="2697480"/>
            <a:ext cx="2286000" cy="285750"/>
            <a:chOff x="0" y="0"/>
            <a:chExt cx="3048000" cy="38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048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Lexical Analysis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4393" y="3211830"/>
            <a:ext cx="200025" cy="228600"/>
            <a:chOff x="0" y="0"/>
            <a:chExt cx="266700" cy="304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11580" y="3154680"/>
            <a:ext cx="4700588" cy="285750"/>
            <a:chOff x="0" y="0"/>
            <a:chExt cx="6267450" cy="38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67450" cy="381000"/>
            </a:xfrm>
            <a:custGeom>
              <a:avLst/>
              <a:gdLst/>
              <a:ahLst/>
              <a:cxnLst/>
              <a:rect r="r" b="b" t="t" l="l"/>
              <a:pathLst>
                <a:path h="381000" w="6267450">
                  <a:moveTo>
                    <a:pt x="0" y="0"/>
                  </a:moveTo>
                  <a:lnTo>
                    <a:pt x="6267450" y="0"/>
                  </a:lnTo>
                  <a:lnTo>
                    <a:pt x="6267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528" r="0" b="-27052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2674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Token Categories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1580" y="3440430"/>
            <a:ext cx="4686300" cy="228600"/>
            <a:chOff x="0" y="0"/>
            <a:chExt cx="6248400" cy="304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48400" cy="304800"/>
            </a:xfrm>
            <a:custGeom>
              <a:avLst/>
              <a:gdLst/>
              <a:ahLst/>
              <a:cxnLst/>
              <a:rect r="r" b="b" t="t" l="l"/>
              <a:pathLst>
                <a:path h="304800" w="6248400">
                  <a:moveTo>
                    <a:pt x="0" y="0"/>
                  </a:moveTo>
                  <a:lnTo>
                    <a:pt x="6248400" y="0"/>
                  </a:lnTo>
                  <a:lnTo>
                    <a:pt x="62484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2484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30+ types: keywords, identifiers, literals, operators, delimiters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54393" y="3840299"/>
            <a:ext cx="200025" cy="228600"/>
            <a:chOff x="0" y="0"/>
            <a:chExt cx="266700" cy="304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11580" y="3783149"/>
            <a:ext cx="3343275" cy="285750"/>
            <a:chOff x="0" y="0"/>
            <a:chExt cx="4457700" cy="381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57700" cy="381000"/>
            </a:xfrm>
            <a:custGeom>
              <a:avLst/>
              <a:gdLst/>
              <a:ahLst/>
              <a:cxnLst/>
              <a:rect r="r" b="b" t="t" l="l"/>
              <a:pathLst>
                <a:path h="3810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974" r="0" b="-17797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4577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String Literals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11580" y="4068899"/>
            <a:ext cx="3328988" cy="228600"/>
            <a:chOff x="0" y="0"/>
            <a:chExt cx="4438650" cy="304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38650" cy="304800"/>
            </a:xfrm>
            <a:custGeom>
              <a:avLst/>
              <a:gdLst/>
              <a:ahLst/>
              <a:cxnLst/>
              <a:rect r="r" b="b" t="t" l="l"/>
              <a:pathLst>
                <a:path h="304800" w="4438650">
                  <a:moveTo>
                    <a:pt x="0" y="0"/>
                  </a:moveTo>
                  <a:lnTo>
                    <a:pt x="4438650" y="0"/>
                  </a:lnTo>
                  <a:lnTo>
                    <a:pt x="44386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750" r="0" b="-2337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4386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Escape sequence support: \n, \t, \" handling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4393" y="4468768"/>
            <a:ext cx="200025" cy="228600"/>
            <a:chOff x="0" y="0"/>
            <a:chExt cx="266700" cy="304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11580" y="4411618"/>
            <a:ext cx="2843212" cy="285750"/>
            <a:chOff x="0" y="0"/>
            <a:chExt cx="3790950" cy="381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90950" cy="381000"/>
            </a:xfrm>
            <a:custGeom>
              <a:avLst/>
              <a:gdLst/>
              <a:ahLst/>
              <a:cxnLst/>
              <a:rect r="r" b="b" t="t" l="l"/>
              <a:pathLst>
                <a:path h="381000" w="3790950">
                  <a:moveTo>
                    <a:pt x="0" y="0"/>
                  </a:moveTo>
                  <a:lnTo>
                    <a:pt x="3790950" y="0"/>
                  </a:lnTo>
                  <a:lnTo>
                    <a:pt x="37909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876" r="0" b="-14387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7909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Comment Skipping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11580" y="4697368"/>
            <a:ext cx="2828925" cy="228600"/>
            <a:chOff x="0" y="0"/>
            <a:chExt cx="3771900" cy="304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71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7719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Both // line and /* block */ comments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54393" y="5097247"/>
            <a:ext cx="200025" cy="228600"/>
            <a:chOff x="0" y="0"/>
            <a:chExt cx="266700" cy="304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11580" y="5040097"/>
            <a:ext cx="4929188" cy="285750"/>
            <a:chOff x="0" y="0"/>
            <a:chExt cx="6572250" cy="381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72250" cy="381000"/>
            </a:xfrm>
            <a:custGeom>
              <a:avLst/>
              <a:gdLst/>
              <a:ahLst/>
              <a:cxnLst/>
              <a:rect r="r" b="b" t="t" l="l"/>
              <a:pathLst>
                <a:path h="381000" w="6572250">
                  <a:moveTo>
                    <a:pt x="0" y="0"/>
                  </a:moveTo>
                  <a:lnTo>
                    <a:pt x="6572250" y="0"/>
                  </a:lnTo>
                  <a:lnTo>
                    <a:pt x="6572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16" r="0" b="-28611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5722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Error Reporting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11580" y="5325847"/>
            <a:ext cx="4914900" cy="228600"/>
            <a:chOff x="0" y="0"/>
            <a:chExt cx="6553200" cy="304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553200" cy="304800"/>
            </a:xfrm>
            <a:custGeom>
              <a:avLst/>
              <a:gdLst/>
              <a:ahLst/>
              <a:cxnLst/>
              <a:rect r="r" b="b" t="t" l="l"/>
              <a:pathLst>
                <a:path h="3048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65532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Precise line and column for unknown chars, unterminated strings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704969" y="5840197"/>
            <a:ext cx="8166497" cy="2131492"/>
          </a:xfrm>
          <a:custGeom>
            <a:avLst/>
            <a:gdLst/>
            <a:ahLst/>
            <a:cxnLst/>
            <a:rect r="r" b="b" t="t" l="l"/>
            <a:pathLst>
              <a:path h="2131492" w="8166497">
                <a:moveTo>
                  <a:pt x="0" y="0"/>
                </a:moveTo>
                <a:lnTo>
                  <a:pt x="8166497" y="0"/>
                </a:lnTo>
                <a:lnTo>
                  <a:pt x="8166497" y="2131491"/>
                </a:lnTo>
                <a:lnTo>
                  <a:pt x="0" y="21314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854393" y="6016354"/>
            <a:ext cx="7700962" cy="228600"/>
            <a:chOff x="0" y="0"/>
            <a:chExt cx="10267950" cy="304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02679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Regular Expressions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54393" y="6359064"/>
            <a:ext cx="1128712" cy="228600"/>
            <a:chOff x="0" y="0"/>
            <a:chExt cx="1504950" cy="304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04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504950">
                  <a:moveTo>
                    <a:pt x="0" y="0"/>
                  </a:moveTo>
                  <a:lnTo>
                    <a:pt x="1504950" y="0"/>
                  </a:lnTo>
                  <a:lnTo>
                    <a:pt x="1504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504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INT_LITERAL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392942" y="6359064"/>
            <a:ext cx="657225" cy="228600"/>
            <a:chOff x="0" y="0"/>
            <a:chExt cx="876300" cy="304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6300" cy="304800"/>
            </a:xfrm>
            <a:custGeom>
              <a:avLst/>
              <a:gdLst/>
              <a:ahLst/>
              <a:cxnLst/>
              <a:rect r="r" b="b" t="t" l="l"/>
              <a:pathLst>
                <a:path h="304800" w="876300">
                  <a:moveTo>
                    <a:pt x="0" y="0"/>
                  </a:moveTo>
                  <a:lnTo>
                    <a:pt x="876300" y="0"/>
                  </a:lnTo>
                  <a:lnTo>
                    <a:pt x="876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" r="0" b="-601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8763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4D399"/>
                  </a:solidFill>
                  <a:latin typeface="Arimo"/>
                  <a:ea typeface="Arimo"/>
                  <a:cs typeface="Arimo"/>
                  <a:sym typeface="Arimo"/>
                </a:rPr>
                <a:t>[0-9]+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54393" y="6644633"/>
            <a:ext cx="1028700" cy="228600"/>
            <a:chOff x="0" y="0"/>
            <a:chExt cx="1371600" cy="304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71600" cy="304800"/>
            </a:xfrm>
            <a:custGeom>
              <a:avLst/>
              <a:gdLst/>
              <a:ahLst/>
              <a:cxnLst/>
              <a:rect r="r" b="b" t="t" l="l"/>
              <a:pathLst>
                <a:path h="3048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371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IDENTIFIER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392942" y="6644633"/>
            <a:ext cx="2157412" cy="228600"/>
            <a:chOff x="0" y="0"/>
            <a:chExt cx="2876550" cy="304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876550" cy="304800"/>
            </a:xfrm>
            <a:custGeom>
              <a:avLst/>
              <a:gdLst/>
              <a:ahLst/>
              <a:cxnLst/>
              <a:rect r="r" b="b" t="t" l="l"/>
              <a:pathLst>
                <a:path h="304800" w="2876550">
                  <a:moveTo>
                    <a:pt x="0" y="0"/>
                  </a:moveTo>
                  <a:lnTo>
                    <a:pt x="2876550" y="0"/>
                  </a:lnTo>
                  <a:lnTo>
                    <a:pt x="28765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890" r="0" b="-13389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28765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4D399"/>
                  </a:solidFill>
                  <a:latin typeface="Arimo"/>
                  <a:ea typeface="Arimo"/>
                  <a:cs typeface="Arimo"/>
                  <a:sym typeface="Arimo"/>
                </a:rPr>
                <a:t>[a-zA-Z_][a-zA-Z0-9_]*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54393" y="6930211"/>
            <a:ext cx="657225" cy="228600"/>
            <a:chOff x="0" y="0"/>
            <a:chExt cx="876300" cy="304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76300" cy="304800"/>
            </a:xfrm>
            <a:custGeom>
              <a:avLst/>
              <a:gdLst/>
              <a:ahLst/>
              <a:cxnLst/>
              <a:rect r="r" b="b" t="t" l="l"/>
              <a:pathLst>
                <a:path h="304800" w="876300">
                  <a:moveTo>
                    <a:pt x="0" y="0"/>
                  </a:moveTo>
                  <a:lnTo>
                    <a:pt x="876300" y="0"/>
                  </a:lnTo>
                  <a:lnTo>
                    <a:pt x="876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" r="0" b="-601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8763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STRING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412582" y="6930211"/>
            <a:ext cx="1314450" cy="228600"/>
            <a:chOff x="0" y="0"/>
            <a:chExt cx="1752600" cy="304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52600" cy="304800"/>
            </a:xfrm>
            <a:custGeom>
              <a:avLst/>
              <a:gdLst/>
              <a:ahLst/>
              <a:cxnLst/>
              <a:rect r="r" b="b" t="t" l="l"/>
              <a:pathLst>
                <a:path h="304800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752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4D399"/>
                  </a:solidFill>
                  <a:latin typeface="Arimo"/>
                  <a:ea typeface="Arimo"/>
                  <a:cs typeface="Arimo"/>
                  <a:sym typeface="Arimo"/>
                </a:rPr>
                <a:t>"([^"\]|\.)*"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54393" y="7173451"/>
            <a:ext cx="928099" cy="285569"/>
            <a:chOff x="0" y="0"/>
            <a:chExt cx="990600" cy="304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90600" cy="304800"/>
            </a:xfrm>
            <a:custGeom>
              <a:avLst/>
              <a:gdLst/>
              <a:ahLst/>
              <a:cxnLst/>
              <a:rect r="r" b="b" t="t" l="l"/>
              <a:pathLst>
                <a:path h="3048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990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KEYWORD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392942" y="7215780"/>
            <a:ext cx="2443162" cy="228600"/>
            <a:chOff x="0" y="0"/>
            <a:chExt cx="3257550" cy="304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257550" cy="304800"/>
            </a:xfrm>
            <a:custGeom>
              <a:avLst/>
              <a:gdLst/>
              <a:ahLst/>
              <a:cxnLst/>
              <a:rect r="r" b="b" t="t" l="l"/>
              <a:pathLst>
                <a:path h="304800" w="3257550">
                  <a:moveTo>
                    <a:pt x="0" y="0"/>
                  </a:moveTo>
                  <a:lnTo>
                    <a:pt x="3257550" y="0"/>
                  </a:lnTo>
                  <a:lnTo>
                    <a:pt x="32575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246" r="0" b="-15824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32575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4D399"/>
                  </a:solidFill>
                  <a:latin typeface="Arimo"/>
                  <a:ea typeface="Arimo"/>
                  <a:cs typeface="Arimo"/>
                  <a:sym typeface="Arimo"/>
                </a:rPr>
                <a:t>int|bool|void|if|else|...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54393" y="7444380"/>
            <a:ext cx="1102858" cy="299080"/>
            <a:chOff x="0" y="0"/>
            <a:chExt cx="1123950" cy="304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23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123950">
                  <a:moveTo>
                    <a:pt x="0" y="0"/>
                  </a:moveTo>
                  <a:lnTo>
                    <a:pt x="1123950" y="0"/>
                  </a:lnTo>
                  <a:lnTo>
                    <a:pt x="1123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51" r="0" b="-2185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1123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OPERATOR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392942" y="7482047"/>
            <a:ext cx="2343150" cy="228600"/>
            <a:chOff x="0" y="0"/>
            <a:chExt cx="3124200" cy="304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124200" cy="304800"/>
            </a:xfrm>
            <a:custGeom>
              <a:avLst/>
              <a:gdLst/>
              <a:ahLst/>
              <a:cxnLst/>
              <a:rect r="r" b="b" t="t" l="l"/>
              <a:pathLst>
                <a:path h="3048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31242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34D399"/>
                  </a:solidFill>
                  <a:latin typeface="Arimo"/>
                  <a:ea typeface="Arimo"/>
                  <a:cs typeface="Arimo"/>
                  <a:sym typeface="Arimo"/>
                </a:rPr>
                <a:t>[+\-*/%==!=&lt;&gt;&lt;=&gt;=\&amp;&amp;||!]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569595" y="8833847"/>
            <a:ext cx="8456295" cy="883920"/>
          </a:xfrm>
          <a:custGeom>
            <a:avLst/>
            <a:gdLst/>
            <a:ahLst/>
            <a:cxnLst/>
            <a:rect r="r" b="b" t="t" l="l"/>
            <a:pathLst>
              <a:path h="883920" w="8456295">
                <a:moveTo>
                  <a:pt x="0" y="0"/>
                </a:moveTo>
                <a:lnTo>
                  <a:pt x="8456295" y="0"/>
                </a:lnTo>
                <a:lnTo>
                  <a:pt x="8456295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754380" y="9018632"/>
            <a:ext cx="8172450" cy="228600"/>
            <a:chOff x="0" y="0"/>
            <a:chExt cx="10896600" cy="304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896600" cy="304800"/>
            </a:xfrm>
            <a:custGeom>
              <a:avLst/>
              <a:gdLst/>
              <a:ahLst/>
              <a:cxnLst/>
              <a:rect r="r" b="b" t="t" l="l"/>
              <a:pathLst>
                <a:path h="3048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590" r="0" b="-64659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08966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Token Example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54380" y="9304201"/>
            <a:ext cx="8172450" cy="228600"/>
            <a:chOff x="0" y="0"/>
            <a:chExt cx="10896600" cy="3048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896600" cy="304800"/>
            </a:xfrm>
            <a:custGeom>
              <a:avLst/>
              <a:gdLst/>
              <a:ahLst/>
              <a:cxnLst/>
              <a:rect r="r" b="b" t="t" l="l"/>
              <a:pathLst>
                <a:path h="3048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590" r="0" b="-64659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10896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Token { type: </a:t>
              </a: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"INT_LITERAL"</a:t>
              </a:r>
              <a:r>
                <a:rPr lang="en-US" sz="1350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, value: </a:t>
              </a:r>
              <a:r>
                <a:rPr lang="en-US" sz="1350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42</a:t>
              </a:r>
              <a:r>
                <a:rPr lang="en-US" sz="1350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, line: </a:t>
              </a:r>
              <a:r>
                <a:rPr lang="en-US" sz="1350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  <a:r>
                <a:rPr lang="en-US" sz="1350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, col: </a:t>
              </a:r>
              <a:r>
                <a:rPr lang="en-US" sz="1350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9</a:t>
              </a:r>
              <a:r>
                <a:rPr lang="en-US" sz="1350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 }</a:t>
              </a: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0">
            <a:off x="9256395" y="2055495"/>
            <a:ext cx="8456295" cy="7656195"/>
          </a:xfrm>
          <a:custGeom>
            <a:avLst/>
            <a:gdLst/>
            <a:ahLst/>
            <a:cxnLst/>
            <a:rect r="r" b="b" t="t" l="l"/>
            <a:pathLst>
              <a:path h="7656195" w="8456295">
                <a:moveTo>
                  <a:pt x="0" y="0"/>
                </a:moveTo>
                <a:lnTo>
                  <a:pt x="8456295" y="0"/>
                </a:lnTo>
                <a:lnTo>
                  <a:pt x="8456295" y="7656195"/>
                </a:lnTo>
                <a:lnTo>
                  <a:pt x="0" y="7656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9498330" y="2354580"/>
            <a:ext cx="571500" cy="571500"/>
            <a:chOff x="0" y="0"/>
            <a:chExt cx="762000" cy="7620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701032" y="2440305"/>
            <a:ext cx="314325" cy="400050"/>
            <a:chOff x="0" y="0"/>
            <a:chExt cx="419100" cy="5334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191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57150"/>
              <a:ext cx="4191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2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241280" y="2297430"/>
            <a:ext cx="3214688" cy="400050"/>
            <a:chOff x="0" y="0"/>
            <a:chExt cx="4286250" cy="533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286250" cy="533400"/>
            </a:xfrm>
            <a:custGeom>
              <a:avLst/>
              <a:gdLst/>
              <a:ahLst/>
              <a:cxnLst/>
              <a:rect r="r" b="b" t="t" l="l"/>
              <a:pathLst>
                <a:path h="53340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576" r="0" b="-106576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76200"/>
              <a:ext cx="42862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Parser (Recursive Descent)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241280" y="2697480"/>
            <a:ext cx="3186112" cy="285750"/>
            <a:chOff x="0" y="0"/>
            <a:chExt cx="4248150" cy="3810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248150" cy="381000"/>
            </a:xfrm>
            <a:custGeom>
              <a:avLst/>
              <a:gdLst/>
              <a:ahLst/>
              <a:cxnLst/>
              <a:rect r="r" b="b" t="t" l="l"/>
              <a:pathLst>
                <a:path h="381000" w="4248150">
                  <a:moveTo>
                    <a:pt x="0" y="0"/>
                  </a:moveTo>
                  <a:lnTo>
                    <a:pt x="4248150" y="0"/>
                  </a:lnTo>
                  <a:lnTo>
                    <a:pt x="4248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258" r="0" b="-167258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42481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Syntax Analysis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541193" y="3211830"/>
            <a:ext cx="200025" cy="228600"/>
            <a:chOff x="0" y="0"/>
            <a:chExt cx="266700" cy="3048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898380" y="3154680"/>
            <a:ext cx="4000500" cy="285750"/>
            <a:chOff x="0" y="0"/>
            <a:chExt cx="5334000" cy="3810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334000" cy="381000"/>
            </a:xfrm>
            <a:custGeom>
              <a:avLst/>
              <a:gdLst/>
              <a:ahLst/>
              <a:cxnLst/>
              <a:rect r="r" b="b" t="t" l="l"/>
              <a:pathLst>
                <a:path h="381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334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LL(1) Grammar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898380" y="3440430"/>
            <a:ext cx="3986212" cy="228600"/>
            <a:chOff x="0" y="0"/>
            <a:chExt cx="5314950" cy="3048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314950" cy="304800"/>
            </a:xfrm>
            <a:custGeom>
              <a:avLst/>
              <a:gdLst/>
              <a:ahLst/>
              <a:cxnLst/>
              <a:rect r="r" b="b" t="t" l="l"/>
              <a:pathLst>
                <a:path h="304800" w="5314950">
                  <a:moveTo>
                    <a:pt x="0" y="0"/>
                  </a:moveTo>
                  <a:lnTo>
                    <a:pt x="5314950" y="0"/>
                  </a:lnTo>
                  <a:lnTo>
                    <a:pt x="5314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770" r="0" b="-28977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53149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Compatible with recursive descent, no left recursion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541193" y="3840299"/>
            <a:ext cx="200025" cy="228600"/>
            <a:chOff x="0" y="0"/>
            <a:chExt cx="266700" cy="3048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898380" y="3783149"/>
            <a:ext cx="6257925" cy="285750"/>
            <a:chOff x="0" y="0"/>
            <a:chExt cx="8343900" cy="3810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343900" cy="381000"/>
            </a:xfrm>
            <a:custGeom>
              <a:avLst/>
              <a:gdLst/>
              <a:ahLst/>
              <a:cxnLst/>
              <a:rect r="r" b="b" t="t" l="l"/>
              <a:pathLst>
                <a:path h="381000" w="8343900">
                  <a:moveTo>
                    <a:pt x="0" y="0"/>
                  </a:moveTo>
                  <a:lnTo>
                    <a:pt x="8343900" y="0"/>
                  </a:lnTo>
                  <a:lnTo>
                    <a:pt x="83439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22" r="0" b="-376722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83439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AST Node Hierarchy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898380" y="4068899"/>
            <a:ext cx="6243638" cy="228600"/>
            <a:chOff x="0" y="0"/>
            <a:chExt cx="8324850" cy="3048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8324850" cy="304800"/>
            </a:xfrm>
            <a:custGeom>
              <a:avLst/>
              <a:gdLst/>
              <a:ahLst/>
              <a:cxnLst/>
              <a:rect r="r" b="b" t="t" l="l"/>
              <a:pathLst>
                <a:path h="304800" w="8324850">
                  <a:moveTo>
                    <a:pt x="0" y="0"/>
                  </a:moveTo>
                  <a:lnTo>
                    <a:pt x="8324850" y="0"/>
                  </a:lnTo>
                  <a:lnTo>
                    <a:pt x="83248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185" r="0" b="-48218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83248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20+ node types: Program, FuncDecl, VarDecl, If, While, For, BinOp, Unary, Call, etc.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541193" y="4468768"/>
            <a:ext cx="200025" cy="228600"/>
            <a:chOff x="0" y="0"/>
            <a:chExt cx="266700" cy="3048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9898380" y="4411618"/>
            <a:ext cx="4029075" cy="285750"/>
            <a:chOff x="0" y="0"/>
            <a:chExt cx="5372100" cy="3810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372100" cy="381000"/>
            </a:xfrm>
            <a:custGeom>
              <a:avLst/>
              <a:gdLst/>
              <a:ahLst/>
              <a:cxnLst/>
              <a:rect r="r" b="b" t="t" l="l"/>
              <a:pathLst>
                <a:path h="381000" w="5372100">
                  <a:moveTo>
                    <a:pt x="0" y="0"/>
                  </a:moveTo>
                  <a:lnTo>
                    <a:pt x="5372100" y="0"/>
                  </a:lnTo>
                  <a:lnTo>
                    <a:pt x="5372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739" r="0" b="-224739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53721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Operator Precedence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898380" y="4697368"/>
            <a:ext cx="4014788" cy="228600"/>
            <a:chOff x="0" y="0"/>
            <a:chExt cx="5353050" cy="3048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353050" cy="304800"/>
            </a:xfrm>
            <a:custGeom>
              <a:avLst/>
              <a:gdLst/>
              <a:ahLst/>
              <a:cxnLst/>
              <a:rect r="r" b="b" t="t" l="l"/>
              <a:pathLst>
                <a:path h="3048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205" r="0" b="-292205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19050"/>
              <a:ext cx="53530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8 levels from assignment (lowest) to unary (highest)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541193" y="5097247"/>
            <a:ext cx="200025" cy="228600"/>
            <a:chOff x="0" y="0"/>
            <a:chExt cx="266700" cy="3048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9898380" y="5040097"/>
            <a:ext cx="4000500" cy="285750"/>
            <a:chOff x="0" y="0"/>
            <a:chExt cx="5334000" cy="3810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334000" cy="381000"/>
            </a:xfrm>
            <a:custGeom>
              <a:avLst/>
              <a:gdLst/>
              <a:ahLst/>
              <a:cxnLst/>
              <a:rect r="r" b="b" t="t" l="l"/>
              <a:pathLst>
                <a:path h="381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5334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Error Recovery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898380" y="5325847"/>
            <a:ext cx="3986212" cy="228600"/>
            <a:chOff x="0" y="0"/>
            <a:chExt cx="5314950" cy="3048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314950" cy="304800"/>
            </a:xfrm>
            <a:custGeom>
              <a:avLst/>
              <a:gdLst/>
              <a:ahLst/>
              <a:cxnLst/>
              <a:rect r="r" b="b" t="t" l="l"/>
              <a:pathLst>
                <a:path h="304800" w="5314950">
                  <a:moveTo>
                    <a:pt x="0" y="0"/>
                  </a:moveTo>
                  <a:lnTo>
                    <a:pt x="5314950" y="0"/>
                  </a:lnTo>
                  <a:lnTo>
                    <a:pt x="5314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770" r="0" b="-28977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19050"/>
              <a:ext cx="53149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Descriptive messages with expected vs. got context</a:t>
              </a:r>
            </a:p>
          </p:txBody>
        </p:sp>
      </p:grpSp>
      <p:sp>
        <p:nvSpPr>
          <p:cNvPr name="Freeform 140" id="140"/>
          <p:cNvSpPr/>
          <p:nvPr/>
        </p:nvSpPr>
        <p:spPr>
          <a:xfrm flipH="false" flipV="false" rot="0">
            <a:off x="9496425" y="5723811"/>
            <a:ext cx="7984807" cy="2941320"/>
          </a:xfrm>
          <a:custGeom>
            <a:avLst/>
            <a:gdLst/>
            <a:ahLst/>
            <a:cxnLst/>
            <a:rect r="r" b="b" t="t" l="l"/>
            <a:pathLst>
              <a:path h="2941320" w="7984807">
                <a:moveTo>
                  <a:pt x="0" y="0"/>
                </a:moveTo>
                <a:lnTo>
                  <a:pt x="7984807" y="0"/>
                </a:lnTo>
                <a:lnTo>
                  <a:pt x="7984807" y="2941320"/>
                </a:lnTo>
                <a:lnTo>
                  <a:pt x="0" y="29413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1" id="141"/>
          <p:cNvGrpSpPr/>
          <p:nvPr/>
        </p:nvGrpSpPr>
        <p:grpSpPr>
          <a:xfrm rot="0">
            <a:off x="9681210" y="5908605"/>
            <a:ext cx="7700962" cy="228600"/>
            <a:chOff x="0" y="0"/>
            <a:chExt cx="10267950" cy="3048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19050"/>
              <a:ext cx="102679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Operator Precedence Table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9681210" y="6251315"/>
            <a:ext cx="1600200" cy="228600"/>
            <a:chOff x="0" y="0"/>
            <a:chExt cx="2133600" cy="3048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133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28575"/>
              <a:ext cx="2133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Level 1 (lowest)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3958707" y="6251315"/>
            <a:ext cx="185738" cy="228600"/>
            <a:chOff x="0" y="0"/>
            <a:chExt cx="247650" cy="3048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47650" cy="304800"/>
            </a:xfrm>
            <a:custGeom>
              <a:avLst/>
              <a:gdLst/>
              <a:ahLst/>
              <a:cxnLst/>
              <a:rect r="r" b="b" t="t" l="l"/>
              <a:pathLst>
                <a:path h="3048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912" t="0" r="-107912" b="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28575"/>
              <a:ext cx="2476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=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6822102" y="6251315"/>
            <a:ext cx="557212" cy="228600"/>
            <a:chOff x="0" y="0"/>
            <a:chExt cx="742950" cy="3048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742950" cy="304800"/>
            </a:xfrm>
            <a:custGeom>
              <a:avLst/>
              <a:gdLst/>
              <a:ahLst/>
              <a:cxnLst/>
              <a:rect r="r" b="b" t="t" l="l"/>
              <a:pathLst>
                <a:path h="30480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28575"/>
              <a:ext cx="742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right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9681210" y="6536884"/>
            <a:ext cx="742950" cy="228600"/>
            <a:chOff x="0" y="0"/>
            <a:chExt cx="990600" cy="3048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990600" cy="304800"/>
            </a:xfrm>
            <a:custGeom>
              <a:avLst/>
              <a:gdLst/>
              <a:ahLst/>
              <a:cxnLst/>
              <a:rect r="r" b="b" t="t" l="l"/>
              <a:pathLst>
                <a:path h="3048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28575"/>
              <a:ext cx="990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Level 2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3534549" y="6536884"/>
            <a:ext cx="271462" cy="228600"/>
            <a:chOff x="0" y="0"/>
            <a:chExt cx="361950" cy="3048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361950" cy="304800"/>
            </a:xfrm>
            <a:custGeom>
              <a:avLst/>
              <a:gdLst/>
              <a:ahLst/>
              <a:cxnLst/>
              <a:rect r="r" b="b" t="t" l="l"/>
              <a:pathLst>
                <a:path h="30480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t="0" r="-58045" b="0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28575"/>
              <a:ext cx="361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||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6916400" y="6536884"/>
            <a:ext cx="457200" cy="228600"/>
            <a:chOff x="0" y="0"/>
            <a:chExt cx="609600" cy="3048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28575"/>
              <a:ext cx="609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left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9681210" y="6822462"/>
            <a:ext cx="742950" cy="228600"/>
            <a:chOff x="0" y="0"/>
            <a:chExt cx="990600" cy="3048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990600" cy="304800"/>
            </a:xfrm>
            <a:custGeom>
              <a:avLst/>
              <a:gdLst/>
              <a:ahLst/>
              <a:cxnLst/>
              <a:rect r="r" b="b" t="t" l="l"/>
              <a:pathLst>
                <a:path h="3048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28575"/>
              <a:ext cx="990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Level 3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3534549" y="6822462"/>
            <a:ext cx="271462" cy="228600"/>
            <a:chOff x="0" y="0"/>
            <a:chExt cx="361950" cy="3048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361950" cy="304800"/>
            </a:xfrm>
            <a:custGeom>
              <a:avLst/>
              <a:gdLst/>
              <a:ahLst/>
              <a:cxnLst/>
              <a:rect r="r" b="b" t="t" l="l"/>
              <a:pathLst>
                <a:path h="30480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045" t="0" r="-58045" b="0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28575"/>
              <a:ext cx="361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&amp;&amp;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6916400" y="6822462"/>
            <a:ext cx="457200" cy="228600"/>
            <a:chOff x="0" y="0"/>
            <a:chExt cx="609600" cy="3048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28575"/>
              <a:ext cx="609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left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9681210" y="7108031"/>
            <a:ext cx="742950" cy="228600"/>
            <a:chOff x="0" y="0"/>
            <a:chExt cx="990600" cy="3048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990600" cy="304800"/>
            </a:xfrm>
            <a:custGeom>
              <a:avLst/>
              <a:gdLst/>
              <a:ahLst/>
              <a:cxnLst/>
              <a:rect r="r" b="b" t="t" l="l"/>
              <a:pathLst>
                <a:path h="3048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28575"/>
              <a:ext cx="990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Level 4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3393102" y="7108031"/>
            <a:ext cx="557212" cy="228600"/>
            <a:chOff x="0" y="0"/>
            <a:chExt cx="742950" cy="3048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742950" cy="304800"/>
            </a:xfrm>
            <a:custGeom>
              <a:avLst/>
              <a:gdLst/>
              <a:ahLst/>
              <a:cxnLst/>
              <a:rect r="r" b="b" t="t" l="l"/>
              <a:pathLst>
                <a:path h="30480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28575"/>
              <a:ext cx="742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== !=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6916400" y="7108031"/>
            <a:ext cx="457200" cy="228600"/>
            <a:chOff x="0" y="0"/>
            <a:chExt cx="609600" cy="3048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28575"/>
              <a:ext cx="609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left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9681210" y="7393610"/>
            <a:ext cx="742950" cy="228600"/>
            <a:chOff x="0" y="0"/>
            <a:chExt cx="990600" cy="3048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990600" cy="304800"/>
            </a:xfrm>
            <a:custGeom>
              <a:avLst/>
              <a:gdLst/>
              <a:ahLst/>
              <a:cxnLst/>
              <a:rect r="r" b="b" t="t" l="l"/>
              <a:pathLst>
                <a:path h="3048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28575"/>
              <a:ext cx="990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Level 5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3204507" y="7393610"/>
            <a:ext cx="928688" cy="228600"/>
            <a:chOff x="0" y="0"/>
            <a:chExt cx="1238250" cy="30480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1238250" cy="304800"/>
            </a:xfrm>
            <a:custGeom>
              <a:avLst/>
              <a:gdLst/>
              <a:ahLst/>
              <a:cxnLst/>
              <a:rect r="r" b="b" t="t" l="l"/>
              <a:pathLst>
                <a:path h="304800" w="1238250">
                  <a:moveTo>
                    <a:pt x="0" y="0"/>
                  </a:moveTo>
                  <a:lnTo>
                    <a:pt x="1238250" y="0"/>
                  </a:lnTo>
                  <a:lnTo>
                    <a:pt x="12382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28575"/>
              <a:ext cx="12382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&lt; &gt; &lt;= &gt;=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6916400" y="7393610"/>
            <a:ext cx="457200" cy="228600"/>
            <a:chOff x="0" y="0"/>
            <a:chExt cx="609600" cy="30480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28575"/>
              <a:ext cx="609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left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9681210" y="7679179"/>
            <a:ext cx="742950" cy="228600"/>
            <a:chOff x="0" y="0"/>
            <a:chExt cx="990600" cy="304800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990600" cy="304800"/>
            </a:xfrm>
            <a:custGeom>
              <a:avLst/>
              <a:gdLst/>
              <a:ahLst/>
              <a:cxnLst/>
              <a:rect r="r" b="b" t="t" l="l"/>
              <a:pathLst>
                <a:path h="3048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91" id="191"/>
            <p:cNvSpPr txBox="true"/>
            <p:nvPr/>
          </p:nvSpPr>
          <p:spPr>
            <a:xfrm>
              <a:off x="0" y="-28575"/>
              <a:ext cx="990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Level 6</a:t>
              </a: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13487400" y="7679179"/>
            <a:ext cx="371475" cy="228600"/>
            <a:chOff x="0" y="0"/>
            <a:chExt cx="495300" cy="30480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495300" cy="304800"/>
            </a:xfrm>
            <a:custGeom>
              <a:avLst/>
              <a:gdLst/>
              <a:ahLst/>
              <a:cxnLst/>
              <a:rect r="r" b="b" t="t" l="l"/>
              <a:pathLst>
                <a:path h="3048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28575"/>
              <a:ext cx="4953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+ -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16916400" y="7679179"/>
            <a:ext cx="457200" cy="228600"/>
            <a:chOff x="0" y="0"/>
            <a:chExt cx="609600" cy="30480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28575"/>
              <a:ext cx="609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left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9681210" y="7964748"/>
            <a:ext cx="742950" cy="228600"/>
            <a:chOff x="0" y="0"/>
            <a:chExt cx="990600" cy="304800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990600" cy="304800"/>
            </a:xfrm>
            <a:custGeom>
              <a:avLst/>
              <a:gdLst/>
              <a:ahLst/>
              <a:cxnLst/>
              <a:rect r="r" b="b" t="t" l="l"/>
              <a:pathLst>
                <a:path h="3048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200" id="200"/>
            <p:cNvSpPr txBox="true"/>
            <p:nvPr/>
          </p:nvSpPr>
          <p:spPr>
            <a:xfrm>
              <a:off x="0" y="-28575"/>
              <a:ext cx="990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Level 7</a:t>
              </a: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13393102" y="7964748"/>
            <a:ext cx="557212" cy="228600"/>
            <a:chOff x="0" y="0"/>
            <a:chExt cx="742950" cy="30480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742950" cy="304800"/>
            </a:xfrm>
            <a:custGeom>
              <a:avLst/>
              <a:gdLst/>
              <a:ahLst/>
              <a:cxnLst/>
              <a:rect r="r" b="b" t="t" l="l"/>
              <a:pathLst>
                <a:path h="30480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28575"/>
              <a:ext cx="742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* / %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16916400" y="7964748"/>
            <a:ext cx="457200" cy="228600"/>
            <a:chOff x="0" y="0"/>
            <a:chExt cx="609600" cy="304800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06" id="206"/>
            <p:cNvSpPr txBox="true"/>
            <p:nvPr/>
          </p:nvSpPr>
          <p:spPr>
            <a:xfrm>
              <a:off x="0" y="-28575"/>
              <a:ext cx="6096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left</a:t>
              </a:r>
            </a:p>
          </p:txBody>
        </p:sp>
      </p:grpSp>
      <p:grpSp>
        <p:nvGrpSpPr>
          <p:cNvPr name="Group 207" id="207"/>
          <p:cNvGrpSpPr/>
          <p:nvPr/>
        </p:nvGrpSpPr>
        <p:grpSpPr>
          <a:xfrm rot="0">
            <a:off x="9681210" y="8250317"/>
            <a:ext cx="1685925" cy="228600"/>
            <a:chOff x="0" y="0"/>
            <a:chExt cx="2247900" cy="304800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22479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47900">
                  <a:moveTo>
                    <a:pt x="0" y="0"/>
                  </a:moveTo>
                  <a:lnTo>
                    <a:pt x="2247900" y="0"/>
                  </a:lnTo>
                  <a:lnTo>
                    <a:pt x="22479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02" r="0" b="-93702"/>
              </a:stretch>
            </a:blipFill>
          </p:spPr>
        </p:sp>
        <p:sp>
          <p:nvSpPr>
            <p:cNvPr name="TextBox 209" id="209"/>
            <p:cNvSpPr txBox="true"/>
            <p:nvPr/>
          </p:nvSpPr>
          <p:spPr>
            <a:xfrm>
              <a:off x="0" y="-28575"/>
              <a:ext cx="224790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Level 8 (highest)</a:t>
              </a:r>
            </a:p>
          </p:txBody>
        </p:sp>
      </p:grpSp>
      <p:grpSp>
        <p:nvGrpSpPr>
          <p:cNvPr name="Group 210" id="210"/>
          <p:cNvGrpSpPr/>
          <p:nvPr/>
        </p:nvGrpSpPr>
        <p:grpSpPr>
          <a:xfrm rot="0">
            <a:off x="13534549" y="8250317"/>
            <a:ext cx="1128712" cy="228600"/>
            <a:chOff x="0" y="0"/>
            <a:chExt cx="1504950" cy="304800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1504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504950">
                  <a:moveTo>
                    <a:pt x="0" y="0"/>
                  </a:moveTo>
                  <a:lnTo>
                    <a:pt x="1504950" y="0"/>
                  </a:lnTo>
                  <a:lnTo>
                    <a:pt x="1504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212" id="212"/>
            <p:cNvSpPr txBox="true"/>
            <p:nvPr/>
          </p:nvSpPr>
          <p:spPr>
            <a:xfrm>
              <a:off x="0" y="-28575"/>
              <a:ext cx="1504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! - (unary)</a:t>
              </a:r>
            </a:p>
          </p:txBody>
        </p:sp>
      </p:grpSp>
      <p:grpSp>
        <p:nvGrpSpPr>
          <p:cNvPr name="Group 213" id="213"/>
          <p:cNvGrpSpPr/>
          <p:nvPr/>
        </p:nvGrpSpPr>
        <p:grpSpPr>
          <a:xfrm rot="0">
            <a:off x="16822102" y="8250317"/>
            <a:ext cx="557212" cy="228600"/>
            <a:chOff x="0" y="0"/>
            <a:chExt cx="742950" cy="304800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742950" cy="304800"/>
            </a:xfrm>
            <a:custGeom>
              <a:avLst/>
              <a:gdLst/>
              <a:ahLst/>
              <a:cxnLst/>
              <a:rect r="r" b="b" t="t" l="l"/>
              <a:pathLst>
                <a:path h="30480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215" id="215"/>
            <p:cNvSpPr txBox="true"/>
            <p:nvPr/>
          </p:nvSpPr>
          <p:spPr>
            <a:xfrm>
              <a:off x="0" y="-28575"/>
              <a:ext cx="742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right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45012" cy="285750"/>
            <a:chOff x="0" y="0"/>
            <a:chExt cx="229933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914400"/>
            <a:ext cx="17402175" cy="782364"/>
            <a:chOff x="0" y="0"/>
            <a:chExt cx="23202900" cy="10431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1043153"/>
            </a:xfrm>
            <a:custGeom>
              <a:avLst/>
              <a:gdLst/>
              <a:ahLst/>
              <a:cxnLst/>
              <a:rect r="r" b="b" t="t" l="l"/>
              <a:pathLst>
                <a:path h="1043153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43153"/>
                  </a:lnTo>
                  <a:lnTo>
                    <a:pt x="0" y="10431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882" r="0" b="-36993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2900" cy="995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Regular Expression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97112" y="2239709"/>
            <a:ext cx="4246738" cy="1381891"/>
            <a:chOff x="0" y="0"/>
            <a:chExt cx="5662318" cy="184252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662318" cy="1667345"/>
              <a:chOff x="0" y="0"/>
              <a:chExt cx="11163300" cy="328718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163300" cy="3287183"/>
              </a:xfrm>
              <a:custGeom>
                <a:avLst/>
                <a:gdLst/>
                <a:ahLst/>
                <a:cxnLst/>
                <a:rect r="r" b="b" t="t" l="l"/>
                <a:pathLst>
                  <a:path h="3287183" w="11163300">
                    <a:moveTo>
                      <a:pt x="76200" y="0"/>
                    </a:moveTo>
                    <a:lnTo>
                      <a:pt x="10934700" y="0"/>
                    </a:lnTo>
                    <a:cubicBezTo>
                      <a:pt x="11060811" y="0"/>
                      <a:pt x="11163300" y="140358"/>
                      <a:pt x="11163300" y="313065"/>
                    </a:cubicBezTo>
                    <a:lnTo>
                      <a:pt x="11163300" y="2974118"/>
                    </a:lnTo>
                    <a:cubicBezTo>
                      <a:pt x="11163300" y="3146826"/>
                      <a:pt x="11060811" y="3287183"/>
                      <a:pt x="10934700" y="3287183"/>
                    </a:cubicBezTo>
                    <a:lnTo>
                      <a:pt x="76200" y="3287183"/>
                    </a:lnTo>
                    <a:cubicBezTo>
                      <a:pt x="34163" y="3287183"/>
                      <a:pt x="0" y="3240397"/>
                      <a:pt x="0" y="3182828"/>
                    </a:cubicBezTo>
                    <a:lnTo>
                      <a:pt x="0" y="104355"/>
                    </a:lnTo>
                    <a:cubicBezTo>
                      <a:pt x="0" y="46786"/>
                      <a:pt x="34163" y="0"/>
                      <a:pt x="76200" y="0"/>
                    </a:cubicBezTo>
                    <a:close/>
                  </a:path>
                </a:pathLst>
              </a:custGeom>
              <a:solidFill>
                <a:srgbClr val="1E293B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358449" y="318621"/>
              <a:ext cx="955864" cy="955864"/>
              <a:chOff x="0" y="0"/>
              <a:chExt cx="914400" cy="914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152400" y="0"/>
                    </a:moveTo>
                    <a:lnTo>
                      <a:pt x="762000" y="0"/>
                    </a:lnTo>
                    <a:cubicBezTo>
                      <a:pt x="846074" y="0"/>
                      <a:pt x="914400" y="68326"/>
                      <a:pt x="914400" y="152400"/>
                    </a:cubicBezTo>
                    <a:lnTo>
                      <a:pt x="914400" y="762000"/>
                    </a:lnTo>
                    <a:cubicBezTo>
                      <a:pt x="914400" y="846074"/>
                      <a:pt x="846074" y="914400"/>
                      <a:pt x="762000" y="914400"/>
                    </a:cubicBezTo>
                    <a:lnTo>
                      <a:pt x="152400" y="914400"/>
                    </a:lnTo>
                    <a:cubicBezTo>
                      <a:pt x="68326" y="914400"/>
                      <a:pt x="0" y="846074"/>
                      <a:pt x="0" y="762000"/>
                    </a:cubicBezTo>
                    <a:lnTo>
                      <a:pt x="0" y="152400"/>
                    </a:lnTo>
                    <a:cubicBezTo>
                      <a:pt x="0" y="68326"/>
                      <a:pt x="68326" y="0"/>
                      <a:pt x="152400" y="0"/>
                    </a:cubicBezTo>
                    <a:close/>
                  </a:path>
                </a:pathLst>
              </a:custGeom>
              <a:solidFill>
                <a:srgbClr val="A78BFA">
                  <a:alpha val="784"/>
                </a:srgbClr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632934" y="318621"/>
              <a:ext cx="3327208" cy="557587"/>
              <a:chOff x="0" y="0"/>
              <a:chExt cx="3182878" cy="533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182878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3182878">
                    <a:moveTo>
                      <a:pt x="0" y="0"/>
                    </a:moveTo>
                    <a:lnTo>
                      <a:pt x="3182878" y="0"/>
                    </a:lnTo>
                    <a:lnTo>
                      <a:pt x="3182878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5859" r="-197461" b="-295859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76200"/>
                <a:ext cx="3182878" cy="6096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59"/>
                  </a:lnSpc>
                </a:pPr>
                <a:r>
                  <a:rPr lang="en-US" sz="2025" b="true">
                    <a:solidFill>
                      <a:srgbClr val="F1F5F9"/>
                    </a:solidFill>
                    <a:latin typeface="Literaturnaya Bold"/>
                    <a:ea typeface="Literaturnaya Bold"/>
                    <a:cs typeface="Literaturnaya Bold"/>
                    <a:sym typeface="Literaturnaya Bold"/>
                  </a:rPr>
                  <a:t>INT_LITERAL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632934" y="955864"/>
              <a:ext cx="1404990" cy="886657"/>
              <a:chOff x="0" y="0"/>
              <a:chExt cx="1338635" cy="84478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38635" cy="844782"/>
              </a:xfrm>
              <a:custGeom>
                <a:avLst/>
                <a:gdLst/>
                <a:ahLst/>
                <a:cxnLst/>
                <a:rect r="r" b="b" t="t" l="l"/>
                <a:pathLst>
                  <a:path h="844782" w="1338635">
                    <a:moveTo>
                      <a:pt x="0" y="0"/>
                    </a:moveTo>
                    <a:lnTo>
                      <a:pt x="1338635" y="0"/>
                    </a:lnTo>
                    <a:lnTo>
                      <a:pt x="1338635" y="844782"/>
                    </a:lnTo>
                    <a:lnTo>
                      <a:pt x="0" y="84478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91566" r="-604430" b="-143431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76200"/>
                <a:ext cx="1338635" cy="92098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6"/>
                  </a:lnSpc>
                </a:pPr>
                <a:r>
                  <a:rPr lang="en-US" sz="1575">
                    <a:solidFill>
                      <a:srgbClr val="F1F5F9"/>
                    </a:solidFill>
                    <a:latin typeface="Literaturnaya"/>
                    <a:ea typeface="Literaturnaya"/>
                    <a:cs typeface="Literaturnaya"/>
                    <a:sym typeface="Literaturnaya"/>
                  </a:rPr>
                  <a:t>[0-9]+</a:t>
                </a:r>
              </a:p>
              <a:p>
                <a:pPr algn="l">
                  <a:lnSpc>
                    <a:spcPts val="2646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591693" y="517760"/>
              <a:ext cx="696984" cy="605513"/>
              <a:chOff x="0" y="0"/>
              <a:chExt cx="666750" cy="57924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6750" cy="579247"/>
              </a:xfrm>
              <a:custGeom>
                <a:avLst/>
                <a:gdLst/>
                <a:ahLst/>
                <a:cxnLst/>
                <a:rect r="r" b="b" t="t" l="l"/>
                <a:pathLst>
                  <a:path h="579247" w="66675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579247"/>
                    </a:lnTo>
                    <a:lnTo>
                      <a:pt x="0" y="57924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52642" t="0" r="-52642" b="7914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666750" cy="6363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39"/>
                  </a:lnSpc>
                </a:pPr>
                <a:r>
                  <a:rPr lang="en-US" sz="2249" b="true">
                    <a:solidFill>
                      <a:srgbClr val="A78BFA"/>
                    </a:solidFill>
                    <a:latin typeface="Literaturnaya Bold"/>
                    <a:ea typeface="Literaturnaya Bold"/>
                    <a:cs typeface="Literaturnaya Bold"/>
                    <a:sym typeface="Literaturnaya Bold"/>
                  </a:rPr>
                  <a:t>01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2297112" y="4793536"/>
            <a:ext cx="4062521" cy="1291428"/>
            <a:chOff x="0" y="0"/>
            <a:chExt cx="5416694" cy="1721904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416694" cy="1595018"/>
              <a:chOff x="0" y="0"/>
              <a:chExt cx="11163300" cy="328718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163300" cy="3287183"/>
              </a:xfrm>
              <a:custGeom>
                <a:avLst/>
                <a:gdLst/>
                <a:ahLst/>
                <a:cxnLst/>
                <a:rect r="r" b="b" t="t" l="l"/>
                <a:pathLst>
                  <a:path h="3287183" w="11163300">
                    <a:moveTo>
                      <a:pt x="76200" y="0"/>
                    </a:moveTo>
                    <a:lnTo>
                      <a:pt x="10934700" y="0"/>
                    </a:lnTo>
                    <a:cubicBezTo>
                      <a:pt x="11060811" y="0"/>
                      <a:pt x="11163300" y="140358"/>
                      <a:pt x="11163300" y="313065"/>
                    </a:cubicBezTo>
                    <a:lnTo>
                      <a:pt x="11163300" y="2974118"/>
                    </a:lnTo>
                    <a:cubicBezTo>
                      <a:pt x="11163300" y="3146826"/>
                      <a:pt x="11060811" y="3287183"/>
                      <a:pt x="10934700" y="3287183"/>
                    </a:cubicBezTo>
                    <a:lnTo>
                      <a:pt x="76200" y="3287183"/>
                    </a:lnTo>
                    <a:cubicBezTo>
                      <a:pt x="34163" y="3287183"/>
                      <a:pt x="0" y="3240397"/>
                      <a:pt x="0" y="3182828"/>
                    </a:cubicBezTo>
                    <a:lnTo>
                      <a:pt x="0" y="104355"/>
                    </a:lnTo>
                    <a:cubicBezTo>
                      <a:pt x="0" y="46786"/>
                      <a:pt x="34163" y="0"/>
                      <a:pt x="76200" y="0"/>
                    </a:cubicBezTo>
                    <a:close/>
                  </a:path>
                </a:pathLst>
              </a:custGeom>
              <a:solidFill>
                <a:srgbClr val="1E293B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20088" y="264109"/>
              <a:ext cx="914400" cy="914400"/>
              <a:chOff x="0" y="0"/>
              <a:chExt cx="914400" cy="9144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152400" y="0"/>
                    </a:moveTo>
                    <a:lnTo>
                      <a:pt x="762000" y="0"/>
                    </a:lnTo>
                    <a:cubicBezTo>
                      <a:pt x="846074" y="0"/>
                      <a:pt x="914400" y="68326"/>
                      <a:pt x="914400" y="152400"/>
                    </a:cubicBezTo>
                    <a:lnTo>
                      <a:pt x="914400" y="762000"/>
                    </a:lnTo>
                    <a:cubicBezTo>
                      <a:pt x="914400" y="846074"/>
                      <a:pt x="846074" y="914400"/>
                      <a:pt x="762000" y="914400"/>
                    </a:cubicBezTo>
                    <a:lnTo>
                      <a:pt x="152400" y="914400"/>
                    </a:lnTo>
                    <a:cubicBezTo>
                      <a:pt x="68326" y="914400"/>
                      <a:pt x="0" y="846074"/>
                      <a:pt x="0" y="762000"/>
                    </a:cubicBezTo>
                    <a:lnTo>
                      <a:pt x="0" y="152400"/>
                    </a:lnTo>
                    <a:cubicBezTo>
                      <a:pt x="0" y="68326"/>
                      <a:pt x="68326" y="0"/>
                      <a:pt x="152400" y="0"/>
                    </a:cubicBezTo>
                    <a:close/>
                  </a:path>
                </a:pathLst>
              </a:custGeom>
              <a:solidFill>
                <a:srgbClr val="A78BFA">
                  <a:alpha val="784"/>
                </a:srgbClr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1277559" y="873709"/>
              <a:ext cx="2942680" cy="848195"/>
              <a:chOff x="0" y="0"/>
              <a:chExt cx="2930838" cy="84478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930839" cy="844782"/>
              </a:xfrm>
              <a:custGeom>
                <a:avLst/>
                <a:gdLst/>
                <a:ahLst/>
                <a:cxnLst/>
                <a:rect r="r" b="b" t="t" l="l"/>
                <a:pathLst>
                  <a:path h="844782" w="2930839">
                    <a:moveTo>
                      <a:pt x="0" y="0"/>
                    </a:moveTo>
                    <a:lnTo>
                      <a:pt x="2930839" y="0"/>
                    </a:lnTo>
                    <a:lnTo>
                      <a:pt x="2930839" y="844782"/>
                    </a:lnTo>
                    <a:lnTo>
                      <a:pt x="0" y="84478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91566" r="-221742" b="-143431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76200"/>
                <a:ext cx="2930838" cy="92098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5"/>
                  </a:lnSpc>
                </a:pPr>
                <a:r>
                  <a:rPr lang="en-US" sz="1575">
                    <a:solidFill>
                      <a:srgbClr val="F1F5F9"/>
                    </a:solidFill>
                    <a:latin typeface="Literaturnaya"/>
                    <a:ea typeface="Literaturnaya"/>
                    <a:cs typeface="Literaturnaya"/>
                    <a:sym typeface="Literaturnaya"/>
                  </a:rPr>
                  <a:t>[a-zA-Z_][a-zA-Z0-9_]*</a:t>
                </a:r>
              </a:p>
              <a:p>
                <a:pPr algn="l">
                  <a:lnSpc>
                    <a:spcPts val="2645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43215" y="454609"/>
              <a:ext cx="666750" cy="579247"/>
              <a:chOff x="0" y="0"/>
              <a:chExt cx="666750" cy="57924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66750" cy="579247"/>
              </a:xfrm>
              <a:custGeom>
                <a:avLst/>
                <a:gdLst/>
                <a:ahLst/>
                <a:cxnLst/>
                <a:rect r="r" b="b" t="t" l="l"/>
                <a:pathLst>
                  <a:path h="579247" w="66675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579247"/>
                    </a:lnTo>
                    <a:lnTo>
                      <a:pt x="0" y="57924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52642" t="0" r="-52642" b="7914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666750" cy="6363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250" b="true">
                    <a:solidFill>
                      <a:srgbClr val="A78BFA"/>
                    </a:solidFill>
                    <a:latin typeface="Literaturnaya Bold"/>
                    <a:ea typeface="Literaturnaya Bold"/>
                    <a:cs typeface="Literaturnaya Bold"/>
                    <a:sym typeface="Literaturnaya Bold"/>
                  </a:rPr>
                  <a:t>02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277559" y="264109"/>
              <a:ext cx="2094138" cy="533400"/>
              <a:chOff x="0" y="0"/>
              <a:chExt cx="2094138" cy="5334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094138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2094138">
                    <a:moveTo>
                      <a:pt x="0" y="0"/>
                    </a:moveTo>
                    <a:lnTo>
                      <a:pt x="2094138" y="0"/>
                    </a:lnTo>
                    <a:lnTo>
                      <a:pt x="2094138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5859" r="-352112" b="-295859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76200"/>
                <a:ext cx="2094138" cy="6096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59"/>
                  </a:lnSpc>
                </a:pPr>
                <a:r>
                  <a:rPr lang="en-US" sz="2025" b="true">
                    <a:solidFill>
                      <a:srgbClr val="F1F5F9"/>
                    </a:solidFill>
                    <a:latin typeface="Literaturnaya Bold"/>
                    <a:ea typeface="Literaturnaya Bold"/>
                    <a:cs typeface="Literaturnaya Bold"/>
                    <a:sym typeface="Literaturnaya Bold"/>
                  </a:rPr>
                  <a:t>IDENTIFIER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2297112" y="7161557"/>
            <a:ext cx="4246738" cy="1353044"/>
            <a:chOff x="0" y="0"/>
            <a:chExt cx="5662318" cy="1804059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662318" cy="1667345"/>
              <a:chOff x="0" y="0"/>
              <a:chExt cx="11163300" cy="328718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1163300" cy="3287183"/>
              </a:xfrm>
              <a:custGeom>
                <a:avLst/>
                <a:gdLst/>
                <a:ahLst/>
                <a:cxnLst/>
                <a:rect r="r" b="b" t="t" l="l"/>
                <a:pathLst>
                  <a:path h="3287183" w="11163300">
                    <a:moveTo>
                      <a:pt x="76200" y="0"/>
                    </a:moveTo>
                    <a:lnTo>
                      <a:pt x="10934700" y="0"/>
                    </a:lnTo>
                    <a:cubicBezTo>
                      <a:pt x="11060811" y="0"/>
                      <a:pt x="11163300" y="140358"/>
                      <a:pt x="11163300" y="313065"/>
                    </a:cubicBezTo>
                    <a:lnTo>
                      <a:pt x="11163300" y="2974118"/>
                    </a:lnTo>
                    <a:cubicBezTo>
                      <a:pt x="11163300" y="3146826"/>
                      <a:pt x="11060811" y="3287183"/>
                      <a:pt x="10934700" y="3287183"/>
                    </a:cubicBezTo>
                    <a:lnTo>
                      <a:pt x="76200" y="3287183"/>
                    </a:lnTo>
                    <a:cubicBezTo>
                      <a:pt x="34163" y="3287183"/>
                      <a:pt x="0" y="3240397"/>
                      <a:pt x="0" y="3182828"/>
                    </a:cubicBezTo>
                    <a:lnTo>
                      <a:pt x="0" y="104355"/>
                    </a:lnTo>
                    <a:cubicBezTo>
                      <a:pt x="0" y="46786"/>
                      <a:pt x="34163" y="0"/>
                      <a:pt x="76200" y="0"/>
                    </a:cubicBezTo>
                    <a:close/>
                  </a:path>
                </a:pathLst>
              </a:custGeom>
              <a:solidFill>
                <a:srgbClr val="1E293B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358449" y="318621"/>
              <a:ext cx="955864" cy="955864"/>
              <a:chOff x="0" y="0"/>
              <a:chExt cx="914400" cy="9144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152400" y="0"/>
                    </a:moveTo>
                    <a:lnTo>
                      <a:pt x="762000" y="0"/>
                    </a:lnTo>
                    <a:cubicBezTo>
                      <a:pt x="846074" y="0"/>
                      <a:pt x="914400" y="68326"/>
                      <a:pt x="914400" y="152400"/>
                    </a:cubicBezTo>
                    <a:lnTo>
                      <a:pt x="914400" y="762000"/>
                    </a:lnTo>
                    <a:cubicBezTo>
                      <a:pt x="914400" y="846074"/>
                      <a:pt x="846074" y="914400"/>
                      <a:pt x="762000" y="914400"/>
                    </a:cubicBezTo>
                    <a:lnTo>
                      <a:pt x="152400" y="914400"/>
                    </a:lnTo>
                    <a:cubicBezTo>
                      <a:pt x="68326" y="914400"/>
                      <a:pt x="0" y="846074"/>
                      <a:pt x="0" y="762000"/>
                    </a:cubicBezTo>
                    <a:lnTo>
                      <a:pt x="0" y="152400"/>
                    </a:lnTo>
                    <a:cubicBezTo>
                      <a:pt x="0" y="68326"/>
                      <a:pt x="68326" y="0"/>
                      <a:pt x="152400" y="0"/>
                    </a:cubicBezTo>
                    <a:close/>
                  </a:path>
                </a:pathLst>
              </a:custGeom>
              <a:solidFill>
                <a:srgbClr val="A78BFA">
                  <a:alpha val="784"/>
                </a:srgbClr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632934" y="955864"/>
              <a:ext cx="1404990" cy="848195"/>
              <a:chOff x="0" y="0"/>
              <a:chExt cx="1338635" cy="80813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338635" cy="808136"/>
              </a:xfrm>
              <a:custGeom>
                <a:avLst/>
                <a:gdLst/>
                <a:ahLst/>
                <a:cxnLst/>
                <a:rect r="r" b="b" t="t" l="l"/>
                <a:pathLst>
                  <a:path h="808136" w="1338635">
                    <a:moveTo>
                      <a:pt x="0" y="0"/>
                    </a:moveTo>
                    <a:lnTo>
                      <a:pt x="1338635" y="0"/>
                    </a:lnTo>
                    <a:lnTo>
                      <a:pt x="1338635" y="808136"/>
                    </a:lnTo>
                    <a:lnTo>
                      <a:pt x="0" y="80813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0252" r="-604430" b="-154470"/>
                </a:stretch>
              </a:blip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76200"/>
                <a:ext cx="1338635" cy="8843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6"/>
                  </a:lnSpc>
                </a:pPr>
                <a:r>
                  <a:rPr lang="en-US" sz="1575">
                    <a:solidFill>
                      <a:srgbClr val="F1F5F9"/>
                    </a:solidFill>
                    <a:latin typeface="Literaturnaya"/>
                    <a:ea typeface="Literaturnaya"/>
                    <a:cs typeface="Literaturnaya"/>
                    <a:sym typeface="Literaturnaya"/>
                  </a:rPr>
                  <a:t>`"([^"\]</a:t>
                </a:r>
              </a:p>
              <a:p>
                <a:pPr algn="l">
                  <a:lnSpc>
                    <a:spcPts val="2646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591693" y="517760"/>
              <a:ext cx="696984" cy="605513"/>
              <a:chOff x="0" y="0"/>
              <a:chExt cx="666750" cy="579247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66750" cy="579247"/>
              </a:xfrm>
              <a:custGeom>
                <a:avLst/>
                <a:gdLst/>
                <a:ahLst/>
                <a:cxnLst/>
                <a:rect r="r" b="b" t="t" l="l"/>
                <a:pathLst>
                  <a:path h="579247" w="66675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579247"/>
                    </a:lnTo>
                    <a:lnTo>
                      <a:pt x="0" y="57924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52642" t="0" r="-52642" b="7914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666750" cy="6363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250" b="true">
                    <a:solidFill>
                      <a:srgbClr val="A78BFA"/>
                    </a:solidFill>
                    <a:latin typeface="Literaturnaya Bold"/>
                    <a:ea typeface="Literaturnaya Bold"/>
                    <a:cs typeface="Literaturnaya Bold"/>
                    <a:sym typeface="Literaturnaya Bold"/>
                  </a:rPr>
                  <a:t>03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1569299" y="219001"/>
              <a:ext cx="2937250" cy="533400"/>
              <a:chOff x="0" y="0"/>
              <a:chExt cx="2937250" cy="5334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93725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2937250">
                    <a:moveTo>
                      <a:pt x="0" y="0"/>
                    </a:moveTo>
                    <a:lnTo>
                      <a:pt x="2937250" y="0"/>
                    </a:lnTo>
                    <a:lnTo>
                      <a:pt x="2937250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5859" r="-222337" b="-295859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76200"/>
                <a:ext cx="2937250" cy="6096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59"/>
                  </a:lnSpc>
                </a:pPr>
                <a:r>
                  <a:rPr lang="en-US" sz="2025" b="true">
                    <a:solidFill>
                      <a:srgbClr val="F1F5F9"/>
                    </a:solidFill>
                    <a:latin typeface="Literaturnaya Bold"/>
                    <a:ea typeface="Literaturnaya Bold"/>
                    <a:cs typeface="Literaturnaya Bold"/>
                    <a:sym typeface="Literaturnaya Bold"/>
                  </a:rPr>
                  <a:t>STRING_LITERAL</a:t>
                </a:r>
              </a:p>
            </p:txBody>
          </p:sp>
        </p:grpSp>
      </p:grpSp>
      <p:grpSp>
        <p:nvGrpSpPr>
          <p:cNvPr name="Group 50" id="50"/>
          <p:cNvGrpSpPr/>
          <p:nvPr/>
        </p:nvGrpSpPr>
        <p:grpSpPr>
          <a:xfrm rot="0">
            <a:off x="9772725" y="2239709"/>
            <a:ext cx="4246738" cy="1250509"/>
            <a:chOff x="0" y="0"/>
            <a:chExt cx="11163300" cy="328718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163300" cy="3287183"/>
            </a:xfrm>
            <a:custGeom>
              <a:avLst/>
              <a:gdLst/>
              <a:ahLst/>
              <a:cxnLst/>
              <a:rect r="r" b="b" t="t" l="l"/>
              <a:pathLst>
                <a:path h="328718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40358"/>
                    <a:pt x="11163300" y="313065"/>
                  </a:cubicBezTo>
                  <a:lnTo>
                    <a:pt x="11163300" y="2974118"/>
                  </a:lnTo>
                  <a:cubicBezTo>
                    <a:pt x="11163300" y="3146826"/>
                    <a:pt x="11060811" y="3287183"/>
                    <a:pt x="10934700" y="3287183"/>
                  </a:cubicBezTo>
                  <a:lnTo>
                    <a:pt x="76200" y="3287183"/>
                  </a:lnTo>
                  <a:cubicBezTo>
                    <a:pt x="34163" y="3287183"/>
                    <a:pt x="0" y="3240397"/>
                    <a:pt x="0" y="3182828"/>
                  </a:cubicBezTo>
                  <a:lnTo>
                    <a:pt x="0" y="104355"/>
                  </a:lnTo>
                  <a:cubicBezTo>
                    <a:pt x="0" y="46786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041562" y="2478675"/>
            <a:ext cx="716898" cy="716898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A78BFA">
                <a:alpha val="784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997426" y="2956607"/>
            <a:ext cx="1053742" cy="636146"/>
            <a:chOff x="0" y="0"/>
            <a:chExt cx="1338635" cy="8081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38635" cy="808136"/>
            </a:xfrm>
            <a:custGeom>
              <a:avLst/>
              <a:gdLst/>
              <a:ahLst/>
              <a:cxnLst/>
              <a:rect r="r" b="b" t="t" l="l"/>
              <a:pathLst>
                <a:path h="808136" w="1338635">
                  <a:moveTo>
                    <a:pt x="0" y="0"/>
                  </a:moveTo>
                  <a:lnTo>
                    <a:pt x="1338635" y="0"/>
                  </a:lnTo>
                  <a:lnTo>
                    <a:pt x="1338635" y="808136"/>
                  </a:lnTo>
                  <a:lnTo>
                    <a:pt x="0" y="8081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252" r="-604430" b="-15447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1338635" cy="884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[+\-*/%]</a:t>
              </a:r>
            </a:p>
            <a:p>
              <a:pPr algn="l">
                <a:lnSpc>
                  <a:spcPts val="2646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226020" y="2628028"/>
            <a:ext cx="522738" cy="454135"/>
            <a:chOff x="0" y="0"/>
            <a:chExt cx="666750" cy="57924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6750" cy="579247"/>
            </a:xfrm>
            <a:custGeom>
              <a:avLst/>
              <a:gdLst/>
              <a:ahLst/>
              <a:cxnLst/>
              <a:rect r="r" b="b" t="t" l="l"/>
              <a:pathLst>
                <a:path h="579247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791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6667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949699" y="2403960"/>
            <a:ext cx="2202938" cy="400050"/>
            <a:chOff x="0" y="0"/>
            <a:chExt cx="2937250" cy="533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37250" cy="533400"/>
            </a:xfrm>
            <a:custGeom>
              <a:avLst/>
              <a:gdLst/>
              <a:ahLst/>
              <a:cxnLst/>
              <a:rect r="r" b="b" t="t" l="l"/>
              <a:pathLst>
                <a:path h="533400" w="2937250">
                  <a:moveTo>
                    <a:pt x="0" y="0"/>
                  </a:moveTo>
                  <a:lnTo>
                    <a:pt x="2937250" y="0"/>
                  </a:lnTo>
                  <a:lnTo>
                    <a:pt x="2937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-222337" b="-29585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29372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ARITHMETIC_OP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56501" y="4347847"/>
            <a:ext cx="4389333" cy="1868409"/>
            <a:chOff x="0" y="0"/>
            <a:chExt cx="11538136" cy="491144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538136" cy="4911441"/>
            </a:xfrm>
            <a:custGeom>
              <a:avLst/>
              <a:gdLst/>
              <a:ahLst/>
              <a:cxnLst/>
              <a:rect r="r" b="b" t="t" l="l"/>
              <a:pathLst>
                <a:path h="4911441" w="11538136">
                  <a:moveTo>
                    <a:pt x="78759" y="0"/>
                  </a:moveTo>
                  <a:lnTo>
                    <a:pt x="11301861" y="0"/>
                  </a:lnTo>
                  <a:cubicBezTo>
                    <a:pt x="11432206" y="0"/>
                    <a:pt x="11538136" y="209711"/>
                    <a:pt x="11538136" y="467756"/>
                  </a:cubicBezTo>
                  <a:lnTo>
                    <a:pt x="11538136" y="4443685"/>
                  </a:lnTo>
                  <a:cubicBezTo>
                    <a:pt x="11538136" y="4701730"/>
                    <a:pt x="11432206" y="4911441"/>
                    <a:pt x="11301861" y="4911441"/>
                  </a:cubicBezTo>
                  <a:lnTo>
                    <a:pt x="78759" y="4911441"/>
                  </a:lnTo>
                  <a:cubicBezTo>
                    <a:pt x="35310" y="4911441"/>
                    <a:pt x="0" y="4841537"/>
                    <a:pt x="0" y="4755523"/>
                  </a:cubicBezTo>
                  <a:lnTo>
                    <a:pt x="0" y="155919"/>
                  </a:lnTo>
                  <a:cubicBezTo>
                    <a:pt x="0" y="69904"/>
                    <a:pt x="35310" y="0"/>
                    <a:pt x="78759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041562" y="4923603"/>
            <a:ext cx="716898" cy="716898"/>
            <a:chOff x="0" y="0"/>
            <a:chExt cx="91440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A78BFA">
                <a:alpha val="784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892747" y="5054984"/>
            <a:ext cx="3353087" cy="969521"/>
            <a:chOff x="0" y="0"/>
            <a:chExt cx="4259636" cy="123164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259636" cy="1231643"/>
            </a:xfrm>
            <a:custGeom>
              <a:avLst/>
              <a:gdLst/>
              <a:ahLst/>
              <a:cxnLst/>
              <a:rect r="r" b="b" t="t" l="l"/>
              <a:pathLst>
                <a:path h="1231643" w="4259636">
                  <a:moveTo>
                    <a:pt x="0" y="0"/>
                  </a:moveTo>
                  <a:lnTo>
                    <a:pt x="4259636" y="0"/>
                  </a:lnTo>
                  <a:lnTo>
                    <a:pt x="4259636" y="1231643"/>
                  </a:lnTo>
                  <a:lnTo>
                    <a:pt x="0" y="12316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394" r="-121374" b="-6696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76200"/>
              <a:ext cx="4259636" cy="1307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int|bool|void|string|if|else|while|for|return|break|continue|cout|cin|true|false</a:t>
              </a:r>
            </a:p>
            <a:p>
              <a:pPr algn="l">
                <a:lnSpc>
                  <a:spcPts val="2646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226020" y="5054984"/>
            <a:ext cx="522738" cy="454135"/>
            <a:chOff x="0" y="0"/>
            <a:chExt cx="666750" cy="57924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66750" cy="579247"/>
            </a:xfrm>
            <a:custGeom>
              <a:avLst/>
              <a:gdLst/>
              <a:ahLst/>
              <a:cxnLst/>
              <a:rect r="r" b="b" t="t" l="l"/>
              <a:pathLst>
                <a:path h="579247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791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6667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949699" y="4593511"/>
            <a:ext cx="2202938" cy="400050"/>
            <a:chOff x="0" y="0"/>
            <a:chExt cx="2937250" cy="533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937250" cy="533400"/>
            </a:xfrm>
            <a:custGeom>
              <a:avLst/>
              <a:gdLst/>
              <a:ahLst/>
              <a:cxnLst/>
              <a:rect r="r" b="b" t="t" l="l"/>
              <a:pathLst>
                <a:path h="533400" w="2937250">
                  <a:moveTo>
                    <a:pt x="0" y="0"/>
                  </a:moveTo>
                  <a:lnTo>
                    <a:pt x="2937250" y="0"/>
                  </a:lnTo>
                  <a:lnTo>
                    <a:pt x="2937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-222337" b="-29585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76200"/>
              <a:ext cx="29372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KEYWORD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927799" y="7149706"/>
            <a:ext cx="4246738" cy="1273937"/>
            <a:chOff x="0" y="0"/>
            <a:chExt cx="5662318" cy="1698583"/>
          </a:xfrm>
        </p:grpSpPr>
        <p:grpSp>
          <p:nvGrpSpPr>
            <p:cNvPr name="Group 77" id="77"/>
            <p:cNvGrpSpPr/>
            <p:nvPr/>
          </p:nvGrpSpPr>
          <p:grpSpPr>
            <a:xfrm rot="0">
              <a:off x="0" y="0"/>
              <a:ext cx="5662318" cy="1667345"/>
              <a:chOff x="0" y="0"/>
              <a:chExt cx="11163300" cy="3287183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11163300" cy="3287183"/>
              </a:xfrm>
              <a:custGeom>
                <a:avLst/>
                <a:gdLst/>
                <a:ahLst/>
                <a:cxnLst/>
                <a:rect r="r" b="b" t="t" l="l"/>
                <a:pathLst>
                  <a:path h="3287183" w="11163300">
                    <a:moveTo>
                      <a:pt x="76200" y="0"/>
                    </a:moveTo>
                    <a:lnTo>
                      <a:pt x="10934700" y="0"/>
                    </a:lnTo>
                    <a:cubicBezTo>
                      <a:pt x="11060811" y="0"/>
                      <a:pt x="11163300" y="140358"/>
                      <a:pt x="11163300" y="313065"/>
                    </a:cubicBezTo>
                    <a:lnTo>
                      <a:pt x="11163300" y="2974118"/>
                    </a:lnTo>
                    <a:cubicBezTo>
                      <a:pt x="11163300" y="3146826"/>
                      <a:pt x="11060811" y="3287183"/>
                      <a:pt x="10934700" y="3287183"/>
                    </a:cubicBezTo>
                    <a:lnTo>
                      <a:pt x="76200" y="3287183"/>
                    </a:lnTo>
                    <a:cubicBezTo>
                      <a:pt x="34163" y="3287183"/>
                      <a:pt x="0" y="3240397"/>
                      <a:pt x="0" y="3182828"/>
                    </a:cubicBezTo>
                    <a:lnTo>
                      <a:pt x="0" y="104355"/>
                    </a:lnTo>
                    <a:cubicBezTo>
                      <a:pt x="0" y="46786"/>
                      <a:pt x="34163" y="0"/>
                      <a:pt x="76200" y="0"/>
                    </a:cubicBezTo>
                    <a:close/>
                  </a:path>
                </a:pathLst>
              </a:custGeom>
              <a:solidFill>
                <a:srgbClr val="1E293B"/>
              </a:solidFill>
            </p:spPr>
          </p:sp>
        </p:grpSp>
        <p:grpSp>
          <p:nvGrpSpPr>
            <p:cNvPr name="Group 79" id="79"/>
            <p:cNvGrpSpPr/>
            <p:nvPr/>
          </p:nvGrpSpPr>
          <p:grpSpPr>
            <a:xfrm rot="0">
              <a:off x="358449" y="318621"/>
              <a:ext cx="955864" cy="955864"/>
              <a:chOff x="0" y="0"/>
              <a:chExt cx="914400" cy="9144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152400" y="0"/>
                    </a:moveTo>
                    <a:lnTo>
                      <a:pt x="762000" y="0"/>
                    </a:lnTo>
                    <a:cubicBezTo>
                      <a:pt x="846074" y="0"/>
                      <a:pt x="914400" y="68326"/>
                      <a:pt x="914400" y="152400"/>
                    </a:cubicBezTo>
                    <a:lnTo>
                      <a:pt x="914400" y="762000"/>
                    </a:lnTo>
                    <a:cubicBezTo>
                      <a:pt x="914400" y="846074"/>
                      <a:pt x="846074" y="914400"/>
                      <a:pt x="762000" y="914400"/>
                    </a:cubicBezTo>
                    <a:lnTo>
                      <a:pt x="152400" y="914400"/>
                    </a:lnTo>
                    <a:cubicBezTo>
                      <a:pt x="68326" y="914400"/>
                      <a:pt x="0" y="846074"/>
                      <a:pt x="0" y="762000"/>
                    </a:cubicBezTo>
                    <a:lnTo>
                      <a:pt x="0" y="152400"/>
                    </a:lnTo>
                    <a:cubicBezTo>
                      <a:pt x="0" y="68326"/>
                      <a:pt x="68326" y="0"/>
                      <a:pt x="152400" y="0"/>
                    </a:cubicBezTo>
                    <a:close/>
                  </a:path>
                </a:pathLst>
              </a:custGeom>
              <a:solidFill>
                <a:srgbClr val="A78BFA">
                  <a:alpha val="784"/>
                </a:srgbClr>
              </a:solidFill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1611554" y="850388"/>
              <a:ext cx="2858850" cy="848195"/>
              <a:chOff x="0" y="0"/>
              <a:chExt cx="2723831" cy="808136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2723831" cy="808136"/>
              </a:xfrm>
              <a:custGeom>
                <a:avLst/>
                <a:gdLst/>
                <a:ahLst/>
                <a:cxnLst/>
                <a:rect r="r" b="b" t="t" l="l"/>
                <a:pathLst>
                  <a:path h="808136" w="2723831">
                    <a:moveTo>
                      <a:pt x="0" y="0"/>
                    </a:moveTo>
                    <a:lnTo>
                      <a:pt x="2723831" y="0"/>
                    </a:lnTo>
                    <a:lnTo>
                      <a:pt x="2723831" y="808136"/>
                    </a:lnTo>
                    <a:lnTo>
                      <a:pt x="0" y="80813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0252" r="-246194" b="-154470"/>
                </a:stretch>
              </a:blip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76200"/>
                <a:ext cx="2723831" cy="8843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6"/>
                  </a:lnSpc>
                </a:pPr>
                <a:r>
                  <a:rPr lang="en-US" sz="1575">
                    <a:solidFill>
                      <a:srgbClr val="F1F5F9"/>
                    </a:solidFill>
                    <a:latin typeface="Literaturnaya"/>
                    <a:ea typeface="Literaturnaya"/>
                    <a:cs typeface="Literaturnaya"/>
                    <a:sym typeface="Literaturnaya"/>
                  </a:rPr>
                  <a:t>==|!=|&lt;=|&gt;=|&lt;|&gt;</a:t>
                </a:r>
              </a:p>
              <a:p>
                <a:pPr algn="l">
                  <a:lnSpc>
                    <a:spcPts val="2646"/>
                  </a:lnSpc>
                </a:pP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591693" y="517760"/>
              <a:ext cx="696984" cy="605513"/>
              <a:chOff x="0" y="0"/>
              <a:chExt cx="666750" cy="579247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666750" cy="579247"/>
              </a:xfrm>
              <a:custGeom>
                <a:avLst/>
                <a:gdLst/>
                <a:ahLst/>
                <a:cxnLst/>
                <a:rect r="r" b="b" t="t" l="l"/>
                <a:pathLst>
                  <a:path h="579247" w="66675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579247"/>
                    </a:lnTo>
                    <a:lnTo>
                      <a:pt x="0" y="57924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52642" t="0" r="-52642" b="7914"/>
                </a:stretch>
              </a:blip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57150"/>
                <a:ext cx="666750" cy="6363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240"/>
                  </a:lnSpc>
                </a:pPr>
                <a:r>
                  <a:rPr lang="en-US" sz="2250" b="true">
                    <a:solidFill>
                      <a:srgbClr val="A78BFA"/>
                    </a:solidFill>
                    <a:latin typeface="Literaturnaya Bold"/>
                    <a:ea typeface="Literaturnaya Bold"/>
                    <a:cs typeface="Literaturnaya Bold"/>
                    <a:sym typeface="Literaturnaya Bold"/>
                  </a:rPr>
                  <a:t>06</a:t>
                </a:r>
              </a:p>
            </p:txBody>
          </p:sp>
        </p:grpSp>
        <p:grpSp>
          <p:nvGrpSpPr>
            <p:cNvPr name="Group 87" id="87"/>
            <p:cNvGrpSpPr/>
            <p:nvPr/>
          </p:nvGrpSpPr>
          <p:grpSpPr>
            <a:xfrm rot="0">
              <a:off x="1569299" y="219001"/>
              <a:ext cx="2937250" cy="533400"/>
              <a:chOff x="0" y="0"/>
              <a:chExt cx="2937250" cy="5334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293725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2937250">
                    <a:moveTo>
                      <a:pt x="0" y="0"/>
                    </a:moveTo>
                    <a:lnTo>
                      <a:pt x="2937250" y="0"/>
                    </a:lnTo>
                    <a:lnTo>
                      <a:pt x="2937250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95859" r="-222337" b="-295859"/>
                </a:stretch>
              </a:blipFill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76200"/>
                <a:ext cx="2937250" cy="6096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59"/>
                  </a:lnSpc>
                </a:pPr>
                <a:r>
                  <a:rPr lang="en-US" sz="2025" b="true">
                    <a:solidFill>
                      <a:srgbClr val="F1F5F9"/>
                    </a:solidFill>
                    <a:latin typeface="Literaturnaya Bold"/>
                    <a:ea typeface="Literaturnaya Bold"/>
                    <a:cs typeface="Literaturnaya Bold"/>
                    <a:sym typeface="Literaturnaya Bold"/>
                  </a:rPr>
                  <a:t>COMPARE_OP</a:t>
                </a: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45012" cy="285750"/>
            <a:chOff x="0" y="0"/>
            <a:chExt cx="229933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9144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Context Free Grammer (CFG)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0075" y="2000250"/>
            <a:ext cx="8372475" cy="1152525"/>
            <a:chOff x="0" y="0"/>
            <a:chExt cx="11163300" cy="153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3300" cy="1536700"/>
            </a:xfrm>
            <a:custGeom>
              <a:avLst/>
              <a:gdLst/>
              <a:ahLst/>
              <a:cxnLst/>
              <a:rect r="r" b="b" t="t" l="l"/>
              <a:pathLst>
                <a:path h="15367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65615"/>
                    <a:pt x="11163300" y="146352"/>
                  </a:cubicBezTo>
                  <a:lnTo>
                    <a:pt x="11163300" y="1390348"/>
                  </a:lnTo>
                  <a:cubicBezTo>
                    <a:pt x="11163300" y="1471085"/>
                    <a:pt x="11060811" y="1536700"/>
                    <a:pt x="10934700" y="1536700"/>
                  </a:cubicBezTo>
                  <a:lnTo>
                    <a:pt x="76200" y="1536700"/>
                  </a:lnTo>
                  <a:cubicBezTo>
                    <a:pt x="34163" y="1536700"/>
                    <a:pt x="0" y="1514828"/>
                    <a:pt x="0" y="1487916"/>
                  </a:cubicBezTo>
                  <a:lnTo>
                    <a:pt x="0" y="48784"/>
                  </a:lnTo>
                  <a:cubicBezTo>
                    <a:pt x="0" y="21872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0075" y="2000250"/>
            <a:ext cx="57150" cy="1152525"/>
            <a:chOff x="0" y="0"/>
            <a:chExt cx="76200" cy="1536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1536700"/>
            </a:xfrm>
            <a:custGeom>
              <a:avLst/>
              <a:gdLst/>
              <a:ahLst/>
              <a:cxnLst/>
              <a:rect r="r" b="b" t="t" l="l"/>
              <a:pathLst>
                <a:path h="1536700" w="76200">
                  <a:moveTo>
                    <a:pt x="76200" y="0"/>
                  </a:moveTo>
                  <a:lnTo>
                    <a:pt x="76200" y="1536700"/>
                  </a:lnTo>
                  <a:cubicBezTo>
                    <a:pt x="34163" y="1536700"/>
                    <a:pt x="0" y="1514828"/>
                    <a:pt x="0" y="1487916"/>
                  </a:cubicBezTo>
                  <a:lnTo>
                    <a:pt x="0" y="48784"/>
                  </a:lnTo>
                  <a:cubicBezTo>
                    <a:pt x="0" y="21872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222885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1741" y="2371725"/>
            <a:ext cx="442912" cy="400050"/>
            <a:chOff x="0" y="0"/>
            <a:chExt cx="59055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0550" cy="533400"/>
            </a:xfrm>
            <a:custGeom>
              <a:avLst/>
              <a:gdLst/>
              <a:ahLst/>
              <a:cxnLst/>
              <a:rect r="r" b="b" t="t" l="l"/>
              <a:pathLst>
                <a:path h="5334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905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71650" y="2228850"/>
            <a:ext cx="7100888" cy="400050"/>
            <a:chOff x="0" y="0"/>
            <a:chExt cx="946785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Start Symbol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71650" y="2686050"/>
            <a:ext cx="7072312" cy="328612"/>
            <a:chOff x="0" y="0"/>
            <a:chExt cx="9429750" cy="438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rogram → DeclarationList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44025" y="2000250"/>
            <a:ext cx="8372475" cy="1114425"/>
            <a:chOff x="0" y="0"/>
            <a:chExt cx="11163300" cy="1485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633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63446"/>
                    <a:pt x="11163300" y="141514"/>
                  </a:cubicBezTo>
                  <a:lnTo>
                    <a:pt x="11163300" y="1344386"/>
                  </a:lnTo>
                  <a:cubicBezTo>
                    <a:pt x="11163300" y="1422454"/>
                    <a:pt x="11060811" y="1485900"/>
                    <a:pt x="10934700" y="1485900"/>
                  </a:cubicBezTo>
                  <a:lnTo>
                    <a:pt x="76200" y="1485900"/>
                  </a:lnTo>
                  <a:cubicBezTo>
                    <a:pt x="34163" y="1485900"/>
                    <a:pt x="0" y="1464751"/>
                    <a:pt x="0" y="1438729"/>
                  </a:cubicBezTo>
                  <a:lnTo>
                    <a:pt x="0" y="47171"/>
                  </a:lnTo>
                  <a:cubicBezTo>
                    <a:pt x="0" y="21149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44025" y="2000250"/>
            <a:ext cx="57150" cy="1114425"/>
            <a:chOff x="0" y="0"/>
            <a:chExt cx="76200" cy="14859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76200">
                  <a:moveTo>
                    <a:pt x="76200" y="0"/>
                  </a:moveTo>
                  <a:lnTo>
                    <a:pt x="76200" y="1485900"/>
                  </a:lnTo>
                  <a:cubicBezTo>
                    <a:pt x="34163" y="1485900"/>
                    <a:pt x="0" y="1464751"/>
                    <a:pt x="0" y="1438729"/>
                  </a:cubicBezTo>
                  <a:lnTo>
                    <a:pt x="0" y="47171"/>
                  </a:lnTo>
                  <a:cubicBezTo>
                    <a:pt x="0" y="21149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0" y="222885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69793" y="2371725"/>
            <a:ext cx="485775" cy="434435"/>
            <a:chOff x="0" y="0"/>
            <a:chExt cx="647700" cy="5792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700" cy="579247"/>
            </a:xfrm>
            <a:custGeom>
              <a:avLst/>
              <a:gdLst/>
              <a:ahLst/>
              <a:cxnLst/>
              <a:rect r="r" b="b" t="t" l="l"/>
              <a:pathLst>
                <a:path h="579247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791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4770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15600" y="2228850"/>
            <a:ext cx="7100888" cy="400050"/>
            <a:chOff x="0" y="0"/>
            <a:chExt cx="946785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Variable Declaration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15600" y="2686050"/>
            <a:ext cx="7072312" cy="328612"/>
            <a:chOff x="0" y="0"/>
            <a:chExt cx="9429750" cy="4381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V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arDecl → Type IDENTIFIER ; | Type IDENTIFIER = Expression ;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37721" y="3310731"/>
            <a:ext cx="8372475" cy="2465388"/>
            <a:chOff x="0" y="0"/>
            <a:chExt cx="11163300" cy="32871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63300" cy="3287183"/>
            </a:xfrm>
            <a:custGeom>
              <a:avLst/>
              <a:gdLst/>
              <a:ahLst/>
              <a:cxnLst/>
              <a:rect r="r" b="b" t="t" l="l"/>
              <a:pathLst>
                <a:path h="328718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40358"/>
                    <a:pt x="11163300" y="313065"/>
                  </a:cubicBezTo>
                  <a:lnTo>
                    <a:pt x="11163300" y="2974118"/>
                  </a:lnTo>
                  <a:cubicBezTo>
                    <a:pt x="11163300" y="3146826"/>
                    <a:pt x="11060811" y="3287183"/>
                    <a:pt x="10934700" y="3287183"/>
                  </a:cubicBezTo>
                  <a:lnTo>
                    <a:pt x="76200" y="3287183"/>
                  </a:lnTo>
                  <a:cubicBezTo>
                    <a:pt x="34163" y="3287183"/>
                    <a:pt x="0" y="3240397"/>
                    <a:pt x="0" y="3182828"/>
                  </a:cubicBezTo>
                  <a:lnTo>
                    <a:pt x="0" y="104355"/>
                  </a:lnTo>
                  <a:cubicBezTo>
                    <a:pt x="0" y="46786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00075" y="3310731"/>
            <a:ext cx="94796" cy="2465388"/>
            <a:chOff x="0" y="0"/>
            <a:chExt cx="76200" cy="198174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" cy="1981747"/>
            </a:xfrm>
            <a:custGeom>
              <a:avLst/>
              <a:gdLst/>
              <a:ahLst/>
              <a:cxnLst/>
              <a:rect r="r" b="b" t="t" l="l"/>
              <a:pathLst>
                <a:path h="1981747" w="76200">
                  <a:moveTo>
                    <a:pt x="76200" y="0"/>
                  </a:moveTo>
                  <a:lnTo>
                    <a:pt x="76200" y="1981747"/>
                  </a:lnTo>
                  <a:cubicBezTo>
                    <a:pt x="34163" y="1981747"/>
                    <a:pt x="0" y="1953541"/>
                    <a:pt x="0" y="1918834"/>
                  </a:cubicBezTo>
                  <a:lnTo>
                    <a:pt x="0" y="62913"/>
                  </a:lnTo>
                  <a:cubicBezTo>
                    <a:pt x="0" y="28206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94896" y="3539331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A78BFA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62241" y="3682206"/>
            <a:ext cx="500062" cy="434435"/>
            <a:chOff x="0" y="0"/>
            <a:chExt cx="666750" cy="5792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6750" cy="579247"/>
            </a:xfrm>
            <a:custGeom>
              <a:avLst/>
              <a:gdLst/>
              <a:ahLst/>
              <a:cxnLst/>
              <a:rect r="r" b="b" t="t" l="l"/>
              <a:pathLst>
                <a:path h="579247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791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667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09296" y="3539331"/>
            <a:ext cx="7100888" cy="400050"/>
            <a:chOff x="0" y="0"/>
            <a:chExt cx="946785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Declarations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809296" y="3996531"/>
            <a:ext cx="7072312" cy="1302896"/>
            <a:chOff x="0" y="0"/>
            <a:chExt cx="9429750" cy="17371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429750" cy="1737195"/>
            </a:xfrm>
            <a:custGeom>
              <a:avLst/>
              <a:gdLst/>
              <a:ahLst/>
              <a:cxnLst/>
              <a:rect r="r" b="b" t="t" l="l"/>
              <a:pathLst>
                <a:path h="1737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1737195"/>
                  </a:lnTo>
                  <a:lnTo>
                    <a:pt x="0" y="1737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56" r="0" b="-183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9429750" cy="1813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eclarationList → Declaration DeclarationList ε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Declaration → VarDecl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| FuncDecl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| Statement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72588" y="3310731"/>
            <a:ext cx="8372475" cy="2465388"/>
            <a:chOff x="0" y="0"/>
            <a:chExt cx="11163300" cy="328718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163300" cy="3287183"/>
            </a:xfrm>
            <a:custGeom>
              <a:avLst/>
              <a:gdLst/>
              <a:ahLst/>
              <a:cxnLst/>
              <a:rect r="r" b="b" t="t" l="l"/>
              <a:pathLst>
                <a:path h="328718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40358"/>
                    <a:pt x="11163300" y="313065"/>
                  </a:cubicBezTo>
                  <a:lnTo>
                    <a:pt x="11163300" y="2974118"/>
                  </a:lnTo>
                  <a:cubicBezTo>
                    <a:pt x="11163300" y="3146826"/>
                    <a:pt x="11060811" y="3287183"/>
                    <a:pt x="10934700" y="3287183"/>
                  </a:cubicBezTo>
                  <a:lnTo>
                    <a:pt x="76200" y="3287183"/>
                  </a:lnTo>
                  <a:cubicBezTo>
                    <a:pt x="34163" y="3287183"/>
                    <a:pt x="0" y="3240397"/>
                    <a:pt x="0" y="3182828"/>
                  </a:cubicBezTo>
                  <a:lnTo>
                    <a:pt x="0" y="104355"/>
                  </a:lnTo>
                  <a:cubicBezTo>
                    <a:pt x="0" y="46786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282112" y="3310731"/>
            <a:ext cx="47625" cy="2405725"/>
            <a:chOff x="0" y="0"/>
            <a:chExt cx="31271" cy="157963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1271" cy="1579633"/>
            </a:xfrm>
            <a:custGeom>
              <a:avLst/>
              <a:gdLst/>
              <a:ahLst/>
              <a:cxnLst/>
              <a:rect r="r" b="b" t="t" l="l"/>
              <a:pathLst>
                <a:path h="1579633" w="31271">
                  <a:moveTo>
                    <a:pt x="31271" y="0"/>
                  </a:moveTo>
                  <a:lnTo>
                    <a:pt x="31271" y="1579633"/>
                  </a:lnTo>
                  <a:cubicBezTo>
                    <a:pt x="14020" y="1579633"/>
                    <a:pt x="0" y="1557151"/>
                    <a:pt x="0" y="1529486"/>
                  </a:cubicBezTo>
                  <a:lnTo>
                    <a:pt x="0" y="50147"/>
                  </a:lnTo>
                  <a:cubicBezTo>
                    <a:pt x="0" y="22483"/>
                    <a:pt x="14020" y="0"/>
                    <a:pt x="31271" y="0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529762" y="3539331"/>
            <a:ext cx="685800" cy="685800"/>
            <a:chOff x="0" y="0"/>
            <a:chExt cx="91440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472B6">
                <a:alpha val="784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97288" y="3682206"/>
            <a:ext cx="500062" cy="400050"/>
            <a:chOff x="0" y="0"/>
            <a:chExt cx="666750" cy="533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66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472B6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444162" y="3539331"/>
            <a:ext cx="7100888" cy="400050"/>
            <a:chOff x="0" y="0"/>
            <a:chExt cx="9467850" cy="533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Function Declaration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444162" y="3996531"/>
            <a:ext cx="7072312" cy="1302896"/>
            <a:chOff x="0" y="0"/>
            <a:chExt cx="9429750" cy="17371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429750" cy="1737195"/>
            </a:xfrm>
            <a:custGeom>
              <a:avLst/>
              <a:gdLst/>
              <a:ahLst/>
              <a:cxnLst/>
              <a:rect r="r" b="b" t="t" l="l"/>
              <a:pathLst>
                <a:path h="1737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1737195"/>
                  </a:lnTo>
                  <a:lnTo>
                    <a:pt x="0" y="1737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56" r="0" b="-1837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9429750" cy="1813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Fun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cDecl → Type IDENTIFIER ( ParamList ) Block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ParamList → Param MoreParams | ε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MoreParams → , Param MoreParams | ε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Param → Type IDENTIFIER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0075" y="5947569"/>
            <a:ext cx="8372475" cy="1109393"/>
            <a:chOff x="0" y="0"/>
            <a:chExt cx="11163300" cy="147919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163300" cy="1479190"/>
            </a:xfrm>
            <a:custGeom>
              <a:avLst/>
              <a:gdLst/>
              <a:ahLst/>
              <a:cxnLst/>
              <a:rect r="r" b="b" t="t" l="l"/>
              <a:pathLst>
                <a:path h="147919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63159"/>
                    <a:pt x="11163300" y="140875"/>
                  </a:cubicBezTo>
                  <a:lnTo>
                    <a:pt x="11163300" y="1338315"/>
                  </a:lnTo>
                  <a:cubicBezTo>
                    <a:pt x="11163300" y="1416031"/>
                    <a:pt x="11060811" y="1479190"/>
                    <a:pt x="10934700" y="1479190"/>
                  </a:cubicBezTo>
                  <a:lnTo>
                    <a:pt x="76200" y="1479190"/>
                  </a:lnTo>
                  <a:cubicBezTo>
                    <a:pt x="34163" y="1479190"/>
                    <a:pt x="0" y="1458137"/>
                    <a:pt x="0" y="1432232"/>
                  </a:cubicBezTo>
                  <a:lnTo>
                    <a:pt x="0" y="46958"/>
                  </a:lnTo>
                  <a:cubicBezTo>
                    <a:pt x="0" y="2105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00075" y="5947569"/>
            <a:ext cx="57150" cy="1109393"/>
            <a:chOff x="0" y="0"/>
            <a:chExt cx="76200" cy="147919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6200" cy="1479190"/>
            </a:xfrm>
            <a:custGeom>
              <a:avLst/>
              <a:gdLst/>
              <a:ahLst/>
              <a:cxnLst/>
              <a:rect r="r" b="b" t="t" l="l"/>
              <a:pathLst>
                <a:path h="1479190" w="76200">
                  <a:moveTo>
                    <a:pt x="76200" y="0"/>
                  </a:moveTo>
                  <a:lnTo>
                    <a:pt x="76200" y="1479190"/>
                  </a:lnTo>
                  <a:cubicBezTo>
                    <a:pt x="34163" y="1479190"/>
                    <a:pt x="0" y="1458137"/>
                    <a:pt x="0" y="1432232"/>
                  </a:cubicBezTo>
                  <a:lnTo>
                    <a:pt x="0" y="46958"/>
                  </a:lnTo>
                  <a:cubicBezTo>
                    <a:pt x="0" y="2105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57250" y="6164644"/>
            <a:ext cx="685800" cy="651226"/>
            <a:chOff x="0" y="0"/>
            <a:chExt cx="914400" cy="86830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" cy="868301"/>
            </a:xfrm>
            <a:custGeom>
              <a:avLst/>
              <a:gdLst/>
              <a:ahLst/>
              <a:cxnLst/>
              <a:rect r="r" b="b" t="t" l="l"/>
              <a:pathLst>
                <a:path h="868301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4881"/>
                    <a:pt x="914400" y="144717"/>
                  </a:cubicBezTo>
                  <a:lnTo>
                    <a:pt x="914400" y="723584"/>
                  </a:lnTo>
                  <a:cubicBezTo>
                    <a:pt x="914400" y="803420"/>
                    <a:pt x="846074" y="868301"/>
                    <a:pt x="762000" y="868301"/>
                  </a:cubicBezTo>
                  <a:lnTo>
                    <a:pt x="152400" y="868301"/>
                  </a:lnTo>
                  <a:cubicBezTo>
                    <a:pt x="68326" y="868301"/>
                    <a:pt x="0" y="803420"/>
                    <a:pt x="0" y="723584"/>
                  </a:cubicBezTo>
                  <a:lnTo>
                    <a:pt x="0" y="144717"/>
                  </a:lnTo>
                  <a:cubicBezTo>
                    <a:pt x="0" y="64881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51741" y="6278414"/>
            <a:ext cx="442912" cy="434435"/>
            <a:chOff x="0" y="0"/>
            <a:chExt cx="590550" cy="57924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0550" cy="579247"/>
            </a:xfrm>
            <a:custGeom>
              <a:avLst/>
              <a:gdLst/>
              <a:ahLst/>
              <a:cxnLst/>
              <a:rect r="r" b="b" t="t" l="l"/>
              <a:pathLst>
                <a:path h="5792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791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5905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771650" y="6152962"/>
            <a:ext cx="7100888" cy="391563"/>
            <a:chOff x="0" y="0"/>
            <a:chExt cx="9467850" cy="5220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467850" cy="522084"/>
            </a:xfrm>
            <a:custGeom>
              <a:avLst/>
              <a:gdLst/>
              <a:ahLst/>
              <a:cxnLst/>
              <a:rect r="r" b="b" t="t" l="l"/>
              <a:pathLst>
                <a:path h="522084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22084"/>
                  </a:lnTo>
                  <a:lnTo>
                    <a:pt x="0" y="5220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271" r="0" b="-30443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9467850" cy="598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Types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771650" y="6598795"/>
            <a:ext cx="7072312" cy="312046"/>
            <a:chOff x="0" y="0"/>
            <a:chExt cx="9429750" cy="41606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429750" cy="416061"/>
            </a:xfrm>
            <a:custGeom>
              <a:avLst/>
              <a:gdLst/>
              <a:ahLst/>
              <a:cxnLst/>
              <a:rect r="r" b="b" t="t" l="l"/>
              <a:pathLst>
                <a:path h="416061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16061"/>
                  </a:lnTo>
                  <a:lnTo>
                    <a:pt x="0" y="4160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961" r="0" b="-39427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9429750" cy="492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Type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→ int | bool | void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272587" y="5935561"/>
            <a:ext cx="8372475" cy="1109393"/>
            <a:chOff x="0" y="0"/>
            <a:chExt cx="11163300" cy="147919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163300" cy="1479190"/>
            </a:xfrm>
            <a:custGeom>
              <a:avLst/>
              <a:gdLst/>
              <a:ahLst/>
              <a:cxnLst/>
              <a:rect r="r" b="b" t="t" l="l"/>
              <a:pathLst>
                <a:path h="147919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63159"/>
                    <a:pt x="11163300" y="140875"/>
                  </a:cubicBezTo>
                  <a:lnTo>
                    <a:pt x="11163300" y="1338315"/>
                  </a:lnTo>
                  <a:cubicBezTo>
                    <a:pt x="11163300" y="1416031"/>
                    <a:pt x="11060811" y="1479190"/>
                    <a:pt x="10934700" y="1479190"/>
                  </a:cubicBezTo>
                  <a:lnTo>
                    <a:pt x="76200" y="1479190"/>
                  </a:lnTo>
                  <a:cubicBezTo>
                    <a:pt x="34163" y="1479190"/>
                    <a:pt x="0" y="1458137"/>
                    <a:pt x="0" y="1432232"/>
                  </a:cubicBezTo>
                  <a:lnTo>
                    <a:pt x="0" y="46958"/>
                  </a:lnTo>
                  <a:cubicBezTo>
                    <a:pt x="0" y="2105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272587" y="5935561"/>
            <a:ext cx="57150" cy="1109393"/>
            <a:chOff x="0" y="0"/>
            <a:chExt cx="76200" cy="147919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200" cy="1479190"/>
            </a:xfrm>
            <a:custGeom>
              <a:avLst/>
              <a:gdLst/>
              <a:ahLst/>
              <a:cxnLst/>
              <a:rect r="r" b="b" t="t" l="l"/>
              <a:pathLst>
                <a:path h="1479190" w="76200">
                  <a:moveTo>
                    <a:pt x="76200" y="0"/>
                  </a:moveTo>
                  <a:lnTo>
                    <a:pt x="76200" y="1479190"/>
                  </a:lnTo>
                  <a:cubicBezTo>
                    <a:pt x="34163" y="1479190"/>
                    <a:pt x="0" y="1458137"/>
                    <a:pt x="0" y="1432232"/>
                  </a:cubicBezTo>
                  <a:lnTo>
                    <a:pt x="0" y="46958"/>
                  </a:lnTo>
                  <a:cubicBezTo>
                    <a:pt x="0" y="2105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529762" y="6164161"/>
            <a:ext cx="685800" cy="685800"/>
            <a:chOff x="0" y="0"/>
            <a:chExt cx="914400" cy="914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24253" y="6307036"/>
            <a:ext cx="442912" cy="434435"/>
            <a:chOff x="0" y="0"/>
            <a:chExt cx="590550" cy="57924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0550" cy="579247"/>
            </a:xfrm>
            <a:custGeom>
              <a:avLst/>
              <a:gdLst/>
              <a:ahLst/>
              <a:cxnLst/>
              <a:rect r="r" b="b" t="t" l="l"/>
              <a:pathLst>
                <a:path h="5792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791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5905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06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444162" y="6164161"/>
            <a:ext cx="7100888" cy="400050"/>
            <a:chOff x="0" y="0"/>
            <a:chExt cx="9467850" cy="533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Block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444162" y="6621361"/>
            <a:ext cx="7072312" cy="328612"/>
            <a:chOff x="0" y="0"/>
            <a:chExt cx="9429750" cy="43815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Block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→ { DeclarationList }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00075" y="7228411"/>
            <a:ext cx="8372475" cy="1565275"/>
            <a:chOff x="0" y="0"/>
            <a:chExt cx="11163300" cy="208703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1633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9113"/>
                    <a:pt x="11163300" y="198765"/>
                  </a:cubicBezTo>
                  <a:lnTo>
                    <a:pt x="11163300" y="1888268"/>
                  </a:lnTo>
                  <a:cubicBezTo>
                    <a:pt x="11163300" y="1997920"/>
                    <a:pt x="11060811" y="2087033"/>
                    <a:pt x="10934700" y="2087033"/>
                  </a:cubicBez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00075" y="7228411"/>
            <a:ext cx="57150" cy="1565275"/>
            <a:chOff x="0" y="0"/>
            <a:chExt cx="76200" cy="208703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2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76200">
                  <a:moveTo>
                    <a:pt x="76200" y="0"/>
                  </a:move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857250" y="7457011"/>
            <a:ext cx="685800" cy="685800"/>
            <a:chOff x="0" y="0"/>
            <a:chExt cx="91440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51741" y="7599886"/>
            <a:ext cx="442912" cy="434435"/>
            <a:chOff x="0" y="0"/>
            <a:chExt cx="590550" cy="57924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90550" cy="579247"/>
            </a:xfrm>
            <a:custGeom>
              <a:avLst/>
              <a:gdLst/>
              <a:ahLst/>
              <a:cxnLst/>
              <a:rect r="r" b="b" t="t" l="l"/>
              <a:pathLst>
                <a:path h="5792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791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5905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07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771650" y="7457011"/>
            <a:ext cx="7100888" cy="400050"/>
            <a:chOff x="0" y="0"/>
            <a:chExt cx="9467850" cy="533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Statement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771650" y="7914211"/>
            <a:ext cx="7072312" cy="636146"/>
            <a:chOff x="0" y="0"/>
            <a:chExt cx="9429750" cy="84819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429750" cy="848195"/>
            </a:xfrm>
            <a:custGeom>
              <a:avLst/>
              <a:gdLst/>
              <a:ahLst/>
              <a:cxnLst/>
              <a:rect r="r" b="b" t="t" l="l"/>
              <a:pathLst>
                <a:path h="848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848195"/>
                  </a:lnTo>
                  <a:lnTo>
                    <a:pt x="0" y="848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795" r="0" b="-14245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76200"/>
              <a:ext cx="9429750" cy="92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St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atement → IfStmt | WhileStmt | ForStmt | ReturnStmt | BreakStmt | ContinueStmt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| PrintStmt | InputStmt | Block | ExprStmt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282112" y="7267559"/>
            <a:ext cx="8372475" cy="1533525"/>
            <a:chOff x="0" y="0"/>
            <a:chExt cx="11163300" cy="2044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1163300" cy="2044700"/>
            </a:xfrm>
            <a:custGeom>
              <a:avLst/>
              <a:gdLst/>
              <a:ahLst/>
              <a:cxnLst/>
              <a:rect r="r" b="b" t="t" l="l"/>
              <a:pathLst>
                <a:path h="20447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7305"/>
                    <a:pt x="11163300" y="194733"/>
                  </a:cubicBezTo>
                  <a:lnTo>
                    <a:pt x="11163300" y="1849967"/>
                  </a:lnTo>
                  <a:cubicBezTo>
                    <a:pt x="11163300" y="1957395"/>
                    <a:pt x="11060811" y="2044700"/>
                    <a:pt x="10934700" y="2044700"/>
                  </a:cubicBezTo>
                  <a:lnTo>
                    <a:pt x="76200" y="2044700"/>
                  </a:lnTo>
                  <a:cubicBezTo>
                    <a:pt x="34163" y="2044700"/>
                    <a:pt x="0" y="2015598"/>
                    <a:pt x="0" y="1979789"/>
                  </a:cubicBezTo>
                  <a:lnTo>
                    <a:pt x="0" y="64911"/>
                  </a:lnTo>
                  <a:cubicBezTo>
                    <a:pt x="0" y="29102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282112" y="7267559"/>
            <a:ext cx="57150" cy="1533525"/>
            <a:chOff x="0" y="0"/>
            <a:chExt cx="76200" cy="20447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6200" cy="2044700"/>
            </a:xfrm>
            <a:custGeom>
              <a:avLst/>
              <a:gdLst/>
              <a:ahLst/>
              <a:cxnLst/>
              <a:rect r="r" b="b" t="t" l="l"/>
              <a:pathLst>
                <a:path h="2044700" w="76200">
                  <a:moveTo>
                    <a:pt x="76200" y="0"/>
                  </a:moveTo>
                  <a:lnTo>
                    <a:pt x="76200" y="2044700"/>
                  </a:lnTo>
                  <a:cubicBezTo>
                    <a:pt x="34163" y="2044700"/>
                    <a:pt x="0" y="2015598"/>
                    <a:pt x="0" y="1979789"/>
                  </a:cubicBezTo>
                  <a:lnTo>
                    <a:pt x="0" y="64911"/>
                  </a:lnTo>
                  <a:cubicBezTo>
                    <a:pt x="0" y="29102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539287" y="7496159"/>
            <a:ext cx="685800" cy="685800"/>
            <a:chOff x="0" y="0"/>
            <a:chExt cx="914400" cy="9144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707880" y="7639034"/>
            <a:ext cx="485775" cy="434435"/>
            <a:chOff x="0" y="0"/>
            <a:chExt cx="647700" cy="57924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47700" cy="579247"/>
            </a:xfrm>
            <a:custGeom>
              <a:avLst/>
              <a:gdLst/>
              <a:ahLst/>
              <a:cxnLst/>
              <a:rect r="r" b="b" t="t" l="l"/>
              <a:pathLst>
                <a:path h="579247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791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57150"/>
              <a:ext cx="64770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08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453688" y="7496159"/>
            <a:ext cx="7100888" cy="400050"/>
            <a:chOff x="0" y="0"/>
            <a:chExt cx="9467850" cy="5334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Control Statements (IF)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453688" y="7953359"/>
            <a:ext cx="7072312" cy="636146"/>
            <a:chOff x="0" y="0"/>
            <a:chExt cx="9429750" cy="84819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429750" cy="848195"/>
            </a:xfrm>
            <a:custGeom>
              <a:avLst/>
              <a:gdLst/>
              <a:ahLst/>
              <a:cxnLst/>
              <a:rect r="r" b="b" t="t" l="l"/>
              <a:pathLst>
                <a:path h="848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848195"/>
                  </a:lnTo>
                  <a:lnTo>
                    <a:pt x="0" y="848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795" r="0" b="-14245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76200"/>
              <a:ext cx="9429750" cy="92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IfStmt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→ if ( Expression ) Statement ElsePart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ElsePart → else Statement | ε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45012" cy="285750"/>
            <a:chOff x="0" y="0"/>
            <a:chExt cx="229933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9144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Context Free Grammer (CFG)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0075" y="2000250"/>
            <a:ext cx="8372475" cy="1565275"/>
            <a:chOff x="0" y="0"/>
            <a:chExt cx="11163300" cy="20870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33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9113"/>
                    <a:pt x="11163300" y="198765"/>
                  </a:cubicBezTo>
                  <a:lnTo>
                    <a:pt x="11163300" y="1888268"/>
                  </a:lnTo>
                  <a:cubicBezTo>
                    <a:pt x="11163300" y="1997920"/>
                    <a:pt x="11060811" y="2087033"/>
                    <a:pt x="10934700" y="2087033"/>
                  </a:cubicBez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0075" y="2000250"/>
            <a:ext cx="57150" cy="1565275"/>
            <a:chOff x="0" y="0"/>
            <a:chExt cx="76200" cy="20870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76200">
                  <a:moveTo>
                    <a:pt x="76200" y="0"/>
                  </a:move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222885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1741" y="2371725"/>
            <a:ext cx="442912" cy="434435"/>
            <a:chOff x="0" y="0"/>
            <a:chExt cx="590550" cy="5792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0550" cy="579247"/>
            </a:xfrm>
            <a:custGeom>
              <a:avLst/>
              <a:gdLst/>
              <a:ahLst/>
              <a:cxnLst/>
              <a:rect r="r" b="b" t="t" l="l"/>
              <a:pathLst>
                <a:path h="5792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791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905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71650" y="2228850"/>
            <a:ext cx="7100888" cy="400050"/>
            <a:chOff x="0" y="0"/>
            <a:chExt cx="946785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Control Statements (WHILE)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71650" y="2686050"/>
            <a:ext cx="7072312" cy="328612"/>
            <a:chOff x="0" y="0"/>
            <a:chExt cx="9429750" cy="438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WhileStmt → while ( Expression ) Statement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44025" y="2000250"/>
            <a:ext cx="8372475" cy="2071688"/>
            <a:chOff x="0" y="0"/>
            <a:chExt cx="11163300" cy="2762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63300" cy="2762250"/>
            </a:xfrm>
            <a:custGeom>
              <a:avLst/>
              <a:gdLst/>
              <a:ahLst/>
              <a:cxnLst/>
              <a:rect r="r" b="b" t="t" l="l"/>
              <a:pathLst>
                <a:path h="276225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17944"/>
                    <a:pt x="11163300" y="263071"/>
                  </a:cubicBezTo>
                  <a:lnTo>
                    <a:pt x="11163300" y="2499179"/>
                  </a:lnTo>
                  <a:cubicBezTo>
                    <a:pt x="11163300" y="2644306"/>
                    <a:pt x="11060811" y="2762250"/>
                    <a:pt x="10934700" y="2762250"/>
                  </a:cubicBezTo>
                  <a:lnTo>
                    <a:pt x="76200" y="2762250"/>
                  </a:lnTo>
                  <a:cubicBezTo>
                    <a:pt x="34163" y="2762250"/>
                    <a:pt x="0" y="2722935"/>
                    <a:pt x="0" y="2674560"/>
                  </a:cubicBezTo>
                  <a:lnTo>
                    <a:pt x="0" y="87690"/>
                  </a:lnTo>
                  <a:cubicBezTo>
                    <a:pt x="0" y="39315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44025" y="2000250"/>
            <a:ext cx="57150" cy="2071688"/>
            <a:chOff x="0" y="0"/>
            <a:chExt cx="76200" cy="2762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2762250"/>
            </a:xfrm>
            <a:custGeom>
              <a:avLst/>
              <a:gdLst/>
              <a:ahLst/>
              <a:cxnLst/>
              <a:rect r="r" b="b" t="t" l="l"/>
              <a:pathLst>
                <a:path h="2762250" w="76200">
                  <a:moveTo>
                    <a:pt x="76200" y="0"/>
                  </a:moveTo>
                  <a:lnTo>
                    <a:pt x="76200" y="2762250"/>
                  </a:lnTo>
                  <a:cubicBezTo>
                    <a:pt x="34163" y="2762250"/>
                    <a:pt x="0" y="2722935"/>
                    <a:pt x="0" y="2674560"/>
                  </a:cubicBezTo>
                  <a:lnTo>
                    <a:pt x="0" y="87690"/>
                  </a:lnTo>
                  <a:cubicBezTo>
                    <a:pt x="0" y="39315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0" y="222885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69793" y="2371725"/>
            <a:ext cx="485775" cy="434435"/>
            <a:chOff x="0" y="0"/>
            <a:chExt cx="647700" cy="5792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700" cy="579247"/>
            </a:xfrm>
            <a:custGeom>
              <a:avLst/>
              <a:gdLst/>
              <a:ahLst/>
              <a:cxnLst/>
              <a:rect r="r" b="b" t="t" l="l"/>
              <a:pathLst>
                <a:path h="579247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791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4770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</a:t>
              </a: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15600" y="2228850"/>
            <a:ext cx="7100888" cy="400050"/>
            <a:chOff x="0" y="0"/>
            <a:chExt cx="946785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Lists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15600" y="2686050"/>
            <a:ext cx="7072312" cy="1302896"/>
            <a:chOff x="0" y="0"/>
            <a:chExt cx="9429750" cy="17371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29750" cy="1737195"/>
            </a:xfrm>
            <a:custGeom>
              <a:avLst/>
              <a:gdLst/>
              <a:ahLst/>
              <a:cxnLst/>
              <a:rect r="r" b="b" t="t" l="l"/>
              <a:pathLst>
                <a:path h="1737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1737195"/>
                  </a:lnTo>
                  <a:lnTo>
                    <a:pt x="0" y="1737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56" r="0" b="-1837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9429750" cy="1813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ExprList → Expression ExprListT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ail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ExprListTail → &lt;&lt; Expression ExprListTail  | ε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VarList → IDENTIFIER VarListTail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VarListTail → &gt;&gt; IDENTIFIER VarListTail | ε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00075" y="3700463"/>
            <a:ext cx="8372475" cy="2099248"/>
            <a:chOff x="0" y="0"/>
            <a:chExt cx="11163300" cy="27989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63300" cy="2798997"/>
            </a:xfrm>
            <a:custGeom>
              <a:avLst/>
              <a:gdLst/>
              <a:ahLst/>
              <a:cxnLst/>
              <a:rect r="r" b="b" t="t" l="l"/>
              <a:pathLst>
                <a:path h="2798997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19513"/>
                    <a:pt x="11163300" y="266571"/>
                  </a:cubicBezTo>
                  <a:lnTo>
                    <a:pt x="11163300" y="2532426"/>
                  </a:lnTo>
                  <a:cubicBezTo>
                    <a:pt x="11163300" y="2679485"/>
                    <a:pt x="11060811" y="2798997"/>
                    <a:pt x="10934700" y="2798997"/>
                  </a:cubicBezTo>
                  <a:lnTo>
                    <a:pt x="76200" y="2798997"/>
                  </a:lnTo>
                  <a:cubicBezTo>
                    <a:pt x="34163" y="2798997"/>
                    <a:pt x="0" y="2759160"/>
                    <a:pt x="0" y="2710140"/>
                  </a:cubicBezTo>
                  <a:lnTo>
                    <a:pt x="0" y="88857"/>
                  </a:lnTo>
                  <a:cubicBezTo>
                    <a:pt x="0" y="39838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00075" y="3700463"/>
            <a:ext cx="57150" cy="2099248"/>
            <a:chOff x="0" y="0"/>
            <a:chExt cx="76200" cy="279899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" cy="2798997"/>
            </a:xfrm>
            <a:custGeom>
              <a:avLst/>
              <a:gdLst/>
              <a:ahLst/>
              <a:cxnLst/>
              <a:rect r="r" b="b" t="t" l="l"/>
              <a:pathLst>
                <a:path h="2798997" w="76200">
                  <a:moveTo>
                    <a:pt x="76200" y="0"/>
                  </a:moveTo>
                  <a:lnTo>
                    <a:pt x="76200" y="2798997"/>
                  </a:lnTo>
                  <a:cubicBezTo>
                    <a:pt x="34163" y="2798997"/>
                    <a:pt x="0" y="2759160"/>
                    <a:pt x="0" y="2710140"/>
                  </a:cubicBezTo>
                  <a:lnTo>
                    <a:pt x="0" y="88857"/>
                  </a:lnTo>
                  <a:cubicBezTo>
                    <a:pt x="0" y="39838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57250" y="3929063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25842" y="4071938"/>
            <a:ext cx="485775" cy="434435"/>
            <a:chOff x="0" y="0"/>
            <a:chExt cx="647700" cy="5792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7700" cy="579247"/>
            </a:xfrm>
            <a:custGeom>
              <a:avLst/>
              <a:gdLst/>
              <a:ahLst/>
              <a:cxnLst/>
              <a:rect r="r" b="b" t="t" l="l"/>
              <a:pathLst>
                <a:path h="579247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791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4770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</a:t>
              </a: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71650" y="3929063"/>
            <a:ext cx="7100888" cy="400050"/>
            <a:chOff x="0" y="0"/>
            <a:chExt cx="946785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Control Statements (FOR)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71650" y="4386263"/>
            <a:ext cx="7072312" cy="1302896"/>
            <a:chOff x="0" y="0"/>
            <a:chExt cx="9429750" cy="17371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429750" cy="1737195"/>
            </a:xfrm>
            <a:custGeom>
              <a:avLst/>
              <a:gdLst/>
              <a:ahLst/>
              <a:cxnLst/>
              <a:rect r="r" b="b" t="t" l="l"/>
              <a:pathLst>
                <a:path h="1737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1737195"/>
                  </a:lnTo>
                  <a:lnTo>
                    <a:pt x="0" y="1737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56" r="0" b="-183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9429750" cy="1813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ForStmt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→ for ( ForInit ; ForCond ; ForIncr ) Statement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ForInit → VarDecl | ExprStmt | ε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ForCond → Expression | ε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ForIncr → Expression | ε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00075" y="5933061"/>
            <a:ext cx="8372475" cy="2762455"/>
            <a:chOff x="0" y="0"/>
            <a:chExt cx="11163300" cy="368327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163300" cy="3683273"/>
            </a:xfrm>
            <a:custGeom>
              <a:avLst/>
              <a:gdLst/>
              <a:ahLst/>
              <a:cxnLst/>
              <a:rect r="r" b="b" t="t" l="l"/>
              <a:pathLst>
                <a:path h="368327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57270"/>
                    <a:pt x="11163300" y="350788"/>
                  </a:cubicBezTo>
                  <a:lnTo>
                    <a:pt x="11163300" y="3332485"/>
                  </a:lnTo>
                  <a:cubicBezTo>
                    <a:pt x="11163300" y="3526003"/>
                    <a:pt x="11060811" y="3683273"/>
                    <a:pt x="10934700" y="3683273"/>
                  </a:cubicBezTo>
                  <a:lnTo>
                    <a:pt x="76200" y="3683273"/>
                  </a:lnTo>
                  <a:cubicBezTo>
                    <a:pt x="34163" y="3683273"/>
                    <a:pt x="0" y="3630850"/>
                    <a:pt x="0" y="3566344"/>
                  </a:cubicBezTo>
                  <a:lnTo>
                    <a:pt x="0" y="116929"/>
                  </a:lnTo>
                  <a:cubicBezTo>
                    <a:pt x="0" y="5242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00075" y="5933061"/>
            <a:ext cx="57150" cy="2762455"/>
            <a:chOff x="0" y="0"/>
            <a:chExt cx="76200" cy="368327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" cy="3683273"/>
            </a:xfrm>
            <a:custGeom>
              <a:avLst/>
              <a:gdLst/>
              <a:ahLst/>
              <a:cxnLst/>
              <a:rect r="r" b="b" t="t" l="l"/>
              <a:pathLst>
                <a:path h="3683273" w="76200">
                  <a:moveTo>
                    <a:pt x="76200" y="0"/>
                  </a:moveTo>
                  <a:lnTo>
                    <a:pt x="76200" y="3683273"/>
                  </a:lnTo>
                  <a:cubicBezTo>
                    <a:pt x="34163" y="3683273"/>
                    <a:pt x="0" y="3630850"/>
                    <a:pt x="0" y="3566344"/>
                  </a:cubicBezTo>
                  <a:lnTo>
                    <a:pt x="0" y="116929"/>
                  </a:lnTo>
                  <a:cubicBezTo>
                    <a:pt x="0" y="5242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57250" y="6161661"/>
            <a:ext cx="685800" cy="685800"/>
            <a:chOff x="0" y="0"/>
            <a:chExt cx="91440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25842" y="6304536"/>
            <a:ext cx="485775" cy="434435"/>
            <a:chOff x="0" y="0"/>
            <a:chExt cx="647700" cy="5792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7700" cy="579247"/>
            </a:xfrm>
            <a:custGeom>
              <a:avLst/>
              <a:gdLst/>
              <a:ahLst/>
              <a:cxnLst/>
              <a:rect r="r" b="b" t="t" l="l"/>
              <a:pathLst>
                <a:path h="579247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791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4770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11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71650" y="6161661"/>
            <a:ext cx="7100888" cy="400050"/>
            <a:chOff x="0" y="0"/>
            <a:chExt cx="9467850" cy="533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Other Statemnets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71650" y="6618861"/>
            <a:ext cx="7072312" cy="1969646"/>
            <a:chOff x="0" y="0"/>
            <a:chExt cx="9429750" cy="26261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429750" cy="2626195"/>
            </a:xfrm>
            <a:custGeom>
              <a:avLst/>
              <a:gdLst/>
              <a:ahLst/>
              <a:cxnLst/>
              <a:rect r="r" b="b" t="t" l="l"/>
              <a:pathLst>
                <a:path h="2626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2626195"/>
                  </a:lnTo>
                  <a:lnTo>
                    <a:pt x="0" y="2626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622" r="0" b="2169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9429750" cy="2702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ReturnStmt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→ return Expression ;  | return ;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BreakStmt → break ;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ContinueStmt → continue ;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PrintStmt → cout &lt;&lt; ExprList ;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InputStmt → cin &gt;&gt; VarList ;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ExprStmt → Expression ;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44025" y="4234436"/>
            <a:ext cx="8372475" cy="1565275"/>
            <a:chOff x="0" y="0"/>
            <a:chExt cx="11163300" cy="208703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1633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9113"/>
                    <a:pt x="11163300" y="198765"/>
                  </a:cubicBezTo>
                  <a:lnTo>
                    <a:pt x="11163300" y="1888268"/>
                  </a:lnTo>
                  <a:cubicBezTo>
                    <a:pt x="11163300" y="1997920"/>
                    <a:pt x="11060811" y="2087033"/>
                    <a:pt x="10934700" y="2087033"/>
                  </a:cubicBez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344025" y="4234436"/>
            <a:ext cx="57150" cy="1565275"/>
            <a:chOff x="0" y="0"/>
            <a:chExt cx="76200" cy="208703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62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76200">
                  <a:moveTo>
                    <a:pt x="76200" y="0"/>
                  </a:move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01200" y="4463036"/>
            <a:ext cx="685800" cy="685800"/>
            <a:chOff x="0" y="0"/>
            <a:chExt cx="91440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795691" y="4605911"/>
            <a:ext cx="442912" cy="844010"/>
            <a:chOff x="0" y="0"/>
            <a:chExt cx="590550" cy="112534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0550" cy="1125347"/>
            </a:xfrm>
            <a:custGeom>
              <a:avLst/>
              <a:gdLst/>
              <a:ahLst/>
              <a:cxnLst/>
              <a:rect r="r" b="b" t="t" l="l"/>
              <a:pathLst>
                <a:path h="11253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1125347"/>
                  </a:lnTo>
                  <a:lnTo>
                    <a:pt x="0" y="1125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5260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590550" cy="1182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13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515600" y="4463036"/>
            <a:ext cx="7100888" cy="400050"/>
            <a:chOff x="0" y="0"/>
            <a:chExt cx="9467850" cy="533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Expression Top Level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515600" y="4920236"/>
            <a:ext cx="7072312" cy="328612"/>
            <a:chOff x="0" y="0"/>
            <a:chExt cx="9429750" cy="4381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Expression → Assignment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44025" y="5956333"/>
            <a:ext cx="8372475" cy="1565275"/>
            <a:chOff x="0" y="0"/>
            <a:chExt cx="11163300" cy="208703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1633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9113"/>
                    <a:pt x="11163300" y="198765"/>
                  </a:cubicBezTo>
                  <a:lnTo>
                    <a:pt x="11163300" y="1888268"/>
                  </a:lnTo>
                  <a:cubicBezTo>
                    <a:pt x="11163300" y="1997920"/>
                    <a:pt x="11060811" y="2087033"/>
                    <a:pt x="10934700" y="2087033"/>
                  </a:cubicBez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344025" y="5956333"/>
            <a:ext cx="57150" cy="1565275"/>
            <a:chOff x="0" y="0"/>
            <a:chExt cx="76200" cy="208703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2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76200">
                  <a:moveTo>
                    <a:pt x="76200" y="0"/>
                  </a:move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601200" y="6184933"/>
            <a:ext cx="685800" cy="685800"/>
            <a:chOff x="0" y="0"/>
            <a:chExt cx="914400" cy="914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95691" y="6327808"/>
            <a:ext cx="442912" cy="434435"/>
            <a:chOff x="0" y="0"/>
            <a:chExt cx="590550" cy="57924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0550" cy="579247"/>
            </a:xfrm>
            <a:custGeom>
              <a:avLst/>
              <a:gdLst/>
              <a:ahLst/>
              <a:cxnLst/>
              <a:rect r="r" b="b" t="t" l="l"/>
              <a:pathLst>
                <a:path h="5792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791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5905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14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515600" y="6184933"/>
            <a:ext cx="7100888" cy="400050"/>
            <a:chOff x="0" y="0"/>
            <a:chExt cx="9467850" cy="533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Expression Assignmnet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515600" y="6642133"/>
            <a:ext cx="7072312" cy="328612"/>
            <a:chOff x="0" y="0"/>
            <a:chExt cx="9429750" cy="43815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ssignment → IDENTIFIER = Assignment | LogicalOr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44025" y="7674008"/>
            <a:ext cx="8372475" cy="1565275"/>
            <a:chOff x="0" y="0"/>
            <a:chExt cx="11163300" cy="208703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1633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9113"/>
                    <a:pt x="11163300" y="198765"/>
                  </a:cubicBezTo>
                  <a:lnTo>
                    <a:pt x="11163300" y="1888268"/>
                  </a:lnTo>
                  <a:cubicBezTo>
                    <a:pt x="11163300" y="1997920"/>
                    <a:pt x="11060811" y="2087033"/>
                    <a:pt x="10934700" y="2087033"/>
                  </a:cubicBez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344025" y="7674008"/>
            <a:ext cx="57150" cy="1565275"/>
            <a:chOff x="0" y="0"/>
            <a:chExt cx="76200" cy="208703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2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76200">
                  <a:moveTo>
                    <a:pt x="76200" y="0"/>
                  </a:move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601200" y="7902608"/>
            <a:ext cx="685800" cy="685800"/>
            <a:chOff x="0" y="0"/>
            <a:chExt cx="91440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795691" y="8045483"/>
            <a:ext cx="442912" cy="434435"/>
            <a:chOff x="0" y="0"/>
            <a:chExt cx="590550" cy="57924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90550" cy="579247"/>
            </a:xfrm>
            <a:custGeom>
              <a:avLst/>
              <a:gdLst/>
              <a:ahLst/>
              <a:cxnLst/>
              <a:rect r="r" b="b" t="t" l="l"/>
              <a:pathLst>
                <a:path h="5792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791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5905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15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515600" y="7902608"/>
            <a:ext cx="7100888" cy="400050"/>
            <a:chOff x="0" y="0"/>
            <a:chExt cx="9467850" cy="533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Expression Logical OR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515600" y="8359808"/>
            <a:ext cx="7072312" cy="636146"/>
            <a:chOff x="0" y="0"/>
            <a:chExt cx="9429750" cy="84819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429750" cy="848195"/>
            </a:xfrm>
            <a:custGeom>
              <a:avLst/>
              <a:gdLst/>
              <a:ahLst/>
              <a:cxnLst/>
              <a:rect r="r" b="b" t="t" l="l"/>
              <a:pathLst>
                <a:path h="848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848195"/>
                  </a:lnTo>
                  <a:lnTo>
                    <a:pt x="0" y="848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795" r="0" b="-14245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76200"/>
              <a:ext cx="9429750" cy="92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LogicalOr → LogicalAnd LogicalOrTa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LogicalOrTail → || LogicalAnd LogicalOrTail | ε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45012" cy="285750"/>
            <a:chOff x="0" y="0"/>
            <a:chExt cx="229933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9144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Context Free Grammer (CFG)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0075" y="2000250"/>
            <a:ext cx="8372475" cy="1565275"/>
            <a:chOff x="0" y="0"/>
            <a:chExt cx="11163300" cy="20870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33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9113"/>
                    <a:pt x="11163300" y="198765"/>
                  </a:cubicBezTo>
                  <a:lnTo>
                    <a:pt x="11163300" y="1888268"/>
                  </a:lnTo>
                  <a:cubicBezTo>
                    <a:pt x="11163300" y="1997920"/>
                    <a:pt x="11060811" y="2087033"/>
                    <a:pt x="10934700" y="2087033"/>
                  </a:cubicBez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0075" y="2000250"/>
            <a:ext cx="57150" cy="1565275"/>
            <a:chOff x="0" y="0"/>
            <a:chExt cx="76200" cy="20870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76200">
                  <a:moveTo>
                    <a:pt x="76200" y="0"/>
                  </a:move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222885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1741" y="2371725"/>
            <a:ext cx="442912" cy="434435"/>
            <a:chOff x="0" y="0"/>
            <a:chExt cx="590550" cy="5792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0550" cy="579247"/>
            </a:xfrm>
            <a:custGeom>
              <a:avLst/>
              <a:gdLst/>
              <a:ahLst/>
              <a:cxnLst/>
              <a:rect r="r" b="b" t="t" l="l"/>
              <a:pathLst>
                <a:path h="5792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791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905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71650" y="2228850"/>
            <a:ext cx="7100888" cy="400050"/>
            <a:chOff x="0" y="0"/>
            <a:chExt cx="946785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Expression Logical AND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71650" y="2686050"/>
            <a:ext cx="7072312" cy="636146"/>
            <a:chOff x="0" y="0"/>
            <a:chExt cx="9429750" cy="8481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29750" cy="848195"/>
            </a:xfrm>
            <a:custGeom>
              <a:avLst/>
              <a:gdLst/>
              <a:ahLst/>
              <a:cxnLst/>
              <a:rect r="r" b="b" t="t" l="l"/>
              <a:pathLst>
                <a:path h="848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848195"/>
                  </a:lnTo>
                  <a:lnTo>
                    <a:pt x="0" y="848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795" r="0" b="-1424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9429750" cy="92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Log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icalAnd → Equality LogicalAndTail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LogicalAndTail → &amp;&amp; Equality LogicalAndTail  | ε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44025" y="2000250"/>
            <a:ext cx="8372475" cy="1565275"/>
            <a:chOff x="0" y="0"/>
            <a:chExt cx="11163300" cy="20870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633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9113"/>
                    <a:pt x="11163300" y="198765"/>
                  </a:cubicBezTo>
                  <a:lnTo>
                    <a:pt x="11163300" y="1888268"/>
                  </a:lnTo>
                  <a:cubicBezTo>
                    <a:pt x="11163300" y="1997920"/>
                    <a:pt x="11060811" y="2087033"/>
                    <a:pt x="10934700" y="2087033"/>
                  </a:cubicBez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44025" y="2000250"/>
            <a:ext cx="57150" cy="1565275"/>
            <a:chOff x="0" y="0"/>
            <a:chExt cx="76200" cy="20870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76200">
                  <a:moveTo>
                    <a:pt x="76200" y="0"/>
                  </a:move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0" y="222885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69793" y="2371725"/>
            <a:ext cx="485775" cy="434435"/>
            <a:chOff x="0" y="0"/>
            <a:chExt cx="647700" cy="5792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700" cy="579247"/>
            </a:xfrm>
            <a:custGeom>
              <a:avLst/>
              <a:gdLst/>
              <a:ahLst/>
              <a:cxnLst/>
              <a:rect r="r" b="b" t="t" l="l"/>
              <a:pathLst>
                <a:path h="579247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791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4770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20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15600" y="2228850"/>
            <a:ext cx="7100888" cy="400050"/>
            <a:chOff x="0" y="0"/>
            <a:chExt cx="946785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Expression ADDITION / SUBTRACTION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15600" y="2686050"/>
            <a:ext cx="7072312" cy="636146"/>
            <a:chOff x="0" y="0"/>
            <a:chExt cx="9429750" cy="8481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29750" cy="848195"/>
            </a:xfrm>
            <a:custGeom>
              <a:avLst/>
              <a:gdLst/>
              <a:ahLst/>
              <a:cxnLst/>
              <a:rect r="r" b="b" t="t" l="l"/>
              <a:pathLst>
                <a:path h="848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848195"/>
                  </a:lnTo>
                  <a:lnTo>
                    <a:pt x="0" y="848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795" r="0" b="-1424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9429750" cy="92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Additive → Multiplicative AdditiveT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ail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AdditiveTail → + Multiplicative AdditiveTail  | - Multiplicative AdditiveTail  | ε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00075" y="3700463"/>
            <a:ext cx="8372475" cy="1548386"/>
            <a:chOff x="0" y="0"/>
            <a:chExt cx="11163300" cy="206451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63300" cy="2064514"/>
            </a:xfrm>
            <a:custGeom>
              <a:avLst/>
              <a:gdLst/>
              <a:ahLst/>
              <a:cxnLst/>
              <a:rect r="r" b="b" t="t" l="l"/>
              <a:pathLst>
                <a:path h="2064514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8151"/>
                    <a:pt x="11163300" y="196620"/>
                  </a:cubicBezTo>
                  <a:lnTo>
                    <a:pt x="11163300" y="1867894"/>
                  </a:lnTo>
                  <a:cubicBezTo>
                    <a:pt x="11163300" y="1976363"/>
                    <a:pt x="11060811" y="2064514"/>
                    <a:pt x="10934700" y="2064514"/>
                  </a:cubicBezTo>
                  <a:lnTo>
                    <a:pt x="76200" y="2064514"/>
                  </a:lnTo>
                  <a:cubicBezTo>
                    <a:pt x="34163" y="2064514"/>
                    <a:pt x="0" y="2035130"/>
                    <a:pt x="0" y="1998974"/>
                  </a:cubicBezTo>
                  <a:lnTo>
                    <a:pt x="0" y="65540"/>
                  </a:lnTo>
                  <a:cubicBezTo>
                    <a:pt x="0" y="2938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00075" y="3700463"/>
            <a:ext cx="57150" cy="1548386"/>
            <a:chOff x="0" y="0"/>
            <a:chExt cx="76200" cy="206451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" cy="2064514"/>
            </a:xfrm>
            <a:custGeom>
              <a:avLst/>
              <a:gdLst/>
              <a:ahLst/>
              <a:cxnLst/>
              <a:rect r="r" b="b" t="t" l="l"/>
              <a:pathLst>
                <a:path h="2064514" w="76200">
                  <a:moveTo>
                    <a:pt x="76200" y="0"/>
                  </a:moveTo>
                  <a:lnTo>
                    <a:pt x="76200" y="2064514"/>
                  </a:lnTo>
                  <a:cubicBezTo>
                    <a:pt x="34163" y="2064514"/>
                    <a:pt x="0" y="2035130"/>
                    <a:pt x="0" y="1998974"/>
                  </a:cubicBezTo>
                  <a:lnTo>
                    <a:pt x="0" y="65540"/>
                  </a:lnTo>
                  <a:cubicBezTo>
                    <a:pt x="0" y="2938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57250" y="3929063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25842" y="4071938"/>
            <a:ext cx="485775" cy="434435"/>
            <a:chOff x="0" y="0"/>
            <a:chExt cx="647700" cy="5792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7700" cy="579247"/>
            </a:xfrm>
            <a:custGeom>
              <a:avLst/>
              <a:gdLst/>
              <a:ahLst/>
              <a:cxnLst/>
              <a:rect r="r" b="b" t="t" l="l"/>
              <a:pathLst>
                <a:path h="579247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791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4770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17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71650" y="3929063"/>
            <a:ext cx="7100888" cy="400050"/>
            <a:chOff x="0" y="0"/>
            <a:chExt cx="946785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Expression EQUALITY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71650" y="4386263"/>
            <a:ext cx="7072312" cy="636146"/>
            <a:chOff x="0" y="0"/>
            <a:chExt cx="9429750" cy="8481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429750" cy="848195"/>
            </a:xfrm>
            <a:custGeom>
              <a:avLst/>
              <a:gdLst/>
              <a:ahLst/>
              <a:cxnLst/>
              <a:rect r="r" b="b" t="t" l="l"/>
              <a:pathLst>
                <a:path h="848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848195"/>
                  </a:lnTo>
                  <a:lnTo>
                    <a:pt x="0" y="848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795" r="0" b="-1424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9429750" cy="92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Equality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→ Relational EqualityTail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EqualityTail → == Relational EqualityTail  | != Relational EqualityTail | ε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00075" y="5449921"/>
            <a:ext cx="8372475" cy="1790905"/>
            <a:chOff x="0" y="0"/>
            <a:chExt cx="11163300" cy="238787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163300" cy="2387873"/>
            </a:xfrm>
            <a:custGeom>
              <a:avLst/>
              <a:gdLst/>
              <a:ahLst/>
              <a:cxnLst/>
              <a:rect r="r" b="b" t="t" l="l"/>
              <a:pathLst>
                <a:path h="238787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1958"/>
                    <a:pt x="11163300" y="227416"/>
                  </a:cubicBezTo>
                  <a:lnTo>
                    <a:pt x="11163300" y="2160457"/>
                  </a:lnTo>
                  <a:cubicBezTo>
                    <a:pt x="11163300" y="2285915"/>
                    <a:pt x="11060811" y="2387873"/>
                    <a:pt x="10934700" y="2387873"/>
                  </a:cubicBezTo>
                  <a:lnTo>
                    <a:pt x="76200" y="2387873"/>
                  </a:lnTo>
                  <a:cubicBezTo>
                    <a:pt x="34163" y="2387873"/>
                    <a:pt x="0" y="2353887"/>
                    <a:pt x="0" y="2312068"/>
                  </a:cubicBezTo>
                  <a:lnTo>
                    <a:pt x="0" y="75805"/>
                  </a:lnTo>
                  <a:cubicBezTo>
                    <a:pt x="0" y="33986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00075" y="5449921"/>
            <a:ext cx="57150" cy="1790905"/>
            <a:chOff x="0" y="0"/>
            <a:chExt cx="76200" cy="238787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" cy="2387873"/>
            </a:xfrm>
            <a:custGeom>
              <a:avLst/>
              <a:gdLst/>
              <a:ahLst/>
              <a:cxnLst/>
              <a:rect r="r" b="b" t="t" l="l"/>
              <a:pathLst>
                <a:path h="2387873" w="76200">
                  <a:moveTo>
                    <a:pt x="76200" y="0"/>
                  </a:moveTo>
                  <a:lnTo>
                    <a:pt x="76200" y="2387873"/>
                  </a:lnTo>
                  <a:cubicBezTo>
                    <a:pt x="34163" y="2387873"/>
                    <a:pt x="0" y="2353887"/>
                    <a:pt x="0" y="2312068"/>
                  </a:cubicBezTo>
                  <a:lnTo>
                    <a:pt x="0" y="75805"/>
                  </a:lnTo>
                  <a:cubicBezTo>
                    <a:pt x="0" y="33986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57250" y="5678521"/>
            <a:ext cx="685800" cy="685800"/>
            <a:chOff x="0" y="0"/>
            <a:chExt cx="91440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25842" y="5821396"/>
            <a:ext cx="485775" cy="434435"/>
            <a:chOff x="0" y="0"/>
            <a:chExt cx="647700" cy="5792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7700" cy="579247"/>
            </a:xfrm>
            <a:custGeom>
              <a:avLst/>
              <a:gdLst/>
              <a:ahLst/>
              <a:cxnLst/>
              <a:rect r="r" b="b" t="t" l="l"/>
              <a:pathLst>
                <a:path h="579247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791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4770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18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71650" y="5678521"/>
            <a:ext cx="7100888" cy="400050"/>
            <a:chOff x="0" y="0"/>
            <a:chExt cx="9467850" cy="533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Expression RELATIONAL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71650" y="6135721"/>
            <a:ext cx="7072312" cy="969521"/>
            <a:chOff x="0" y="0"/>
            <a:chExt cx="9429750" cy="12926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429750" cy="1292695"/>
            </a:xfrm>
            <a:custGeom>
              <a:avLst/>
              <a:gdLst/>
              <a:ahLst/>
              <a:cxnLst/>
              <a:rect r="r" b="b" t="t" l="l"/>
              <a:pathLst>
                <a:path h="12926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1292695"/>
                  </a:lnTo>
                  <a:lnTo>
                    <a:pt x="0" y="1292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189" r="0" b="-5908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9429750" cy="1368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Relational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→ Additive RelationalTail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RelationalTail → &lt; Additive RelationalTail  | &gt; Additive RelationalTail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              | &lt;= Additive RelationalTail  | &gt;= Additive RelationalTail | ε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20212" y="3709988"/>
            <a:ext cx="8372475" cy="1565275"/>
            <a:chOff x="0" y="0"/>
            <a:chExt cx="11163300" cy="208703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1633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9113"/>
                    <a:pt x="11163300" y="198765"/>
                  </a:cubicBezTo>
                  <a:lnTo>
                    <a:pt x="11163300" y="1888268"/>
                  </a:lnTo>
                  <a:cubicBezTo>
                    <a:pt x="11163300" y="1997920"/>
                    <a:pt x="11060811" y="2087033"/>
                    <a:pt x="10934700" y="2087033"/>
                  </a:cubicBez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320212" y="3709988"/>
            <a:ext cx="57150" cy="1565275"/>
            <a:chOff x="0" y="0"/>
            <a:chExt cx="76200" cy="208703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62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76200">
                  <a:moveTo>
                    <a:pt x="76200" y="0"/>
                  </a:move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577388" y="3938588"/>
            <a:ext cx="685800" cy="685800"/>
            <a:chOff x="0" y="0"/>
            <a:chExt cx="91440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771878" y="4081463"/>
            <a:ext cx="442912" cy="844010"/>
            <a:chOff x="0" y="0"/>
            <a:chExt cx="590550" cy="112534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0550" cy="1125347"/>
            </a:xfrm>
            <a:custGeom>
              <a:avLst/>
              <a:gdLst/>
              <a:ahLst/>
              <a:cxnLst/>
              <a:rect r="r" b="b" t="t" l="l"/>
              <a:pathLst>
                <a:path h="11253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1125347"/>
                  </a:lnTo>
                  <a:lnTo>
                    <a:pt x="0" y="1125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5260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590550" cy="1182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21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491788" y="3938588"/>
            <a:ext cx="7100888" cy="400050"/>
            <a:chOff x="0" y="0"/>
            <a:chExt cx="9467850" cy="533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Expression UNARY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491788" y="4395788"/>
            <a:ext cx="7072312" cy="328612"/>
            <a:chOff x="0" y="0"/>
            <a:chExt cx="9429750" cy="4381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429750" cy="438150"/>
            </a:xfrm>
            <a:custGeom>
              <a:avLst/>
              <a:gdLst/>
              <a:ahLst/>
              <a:cxnLst/>
              <a:rect r="r" b="b" t="t" l="l"/>
              <a:pathLst>
                <a:path h="43815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351" r="0" b="-36935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94297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Una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ry → ! Unary | - Unary | Primary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320212" y="5431885"/>
            <a:ext cx="8372475" cy="1565275"/>
            <a:chOff x="0" y="0"/>
            <a:chExt cx="11163300" cy="208703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1633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9113"/>
                    <a:pt x="11163300" y="198765"/>
                  </a:cubicBezTo>
                  <a:lnTo>
                    <a:pt x="11163300" y="1888268"/>
                  </a:lnTo>
                  <a:cubicBezTo>
                    <a:pt x="11163300" y="1997920"/>
                    <a:pt x="11060811" y="2087033"/>
                    <a:pt x="10934700" y="2087033"/>
                  </a:cubicBez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320212" y="5431885"/>
            <a:ext cx="57150" cy="1565275"/>
            <a:chOff x="0" y="0"/>
            <a:chExt cx="76200" cy="208703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2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76200">
                  <a:moveTo>
                    <a:pt x="76200" y="0"/>
                  </a:move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577388" y="5660485"/>
            <a:ext cx="685800" cy="685800"/>
            <a:chOff x="0" y="0"/>
            <a:chExt cx="914400" cy="914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71878" y="5803360"/>
            <a:ext cx="442912" cy="434435"/>
            <a:chOff x="0" y="0"/>
            <a:chExt cx="590550" cy="57924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0550" cy="579247"/>
            </a:xfrm>
            <a:custGeom>
              <a:avLst/>
              <a:gdLst/>
              <a:ahLst/>
              <a:cxnLst/>
              <a:rect r="r" b="b" t="t" l="l"/>
              <a:pathLst>
                <a:path h="5792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791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5905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22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491788" y="5660485"/>
            <a:ext cx="7100888" cy="400050"/>
            <a:chOff x="0" y="0"/>
            <a:chExt cx="9467850" cy="533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Primary Expressions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491788" y="6117685"/>
            <a:ext cx="7072312" cy="636146"/>
            <a:chOff x="0" y="0"/>
            <a:chExt cx="9429750" cy="8481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429750" cy="848195"/>
            </a:xfrm>
            <a:custGeom>
              <a:avLst/>
              <a:gdLst/>
              <a:ahLst/>
              <a:cxnLst/>
              <a:rect r="r" b="b" t="t" l="l"/>
              <a:pathLst>
                <a:path h="848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848195"/>
                  </a:lnTo>
                  <a:lnTo>
                    <a:pt x="0" y="848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795" r="0" b="-14245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76200"/>
              <a:ext cx="9429750" cy="924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Pr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imary → INT_LITERAL | STRING_LITERAL | true | false | IDENTIFIER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                    | IDENTIFIER ( ArgList ) | ( Expression 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44025" y="7674008"/>
            <a:ext cx="8372475" cy="1565275"/>
            <a:chOff x="0" y="0"/>
            <a:chExt cx="11163300" cy="208703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1633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89113"/>
                    <a:pt x="11163300" y="198765"/>
                  </a:cubicBezTo>
                  <a:lnTo>
                    <a:pt x="11163300" y="1888268"/>
                  </a:lnTo>
                  <a:cubicBezTo>
                    <a:pt x="11163300" y="1997920"/>
                    <a:pt x="11060811" y="2087033"/>
                    <a:pt x="10934700" y="2087033"/>
                  </a:cubicBez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344025" y="7674008"/>
            <a:ext cx="57150" cy="1565275"/>
            <a:chOff x="0" y="0"/>
            <a:chExt cx="76200" cy="208703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200" cy="2087033"/>
            </a:xfrm>
            <a:custGeom>
              <a:avLst/>
              <a:gdLst/>
              <a:ahLst/>
              <a:cxnLst/>
              <a:rect r="r" b="b" t="t" l="l"/>
              <a:pathLst>
                <a:path h="2087033" w="76200">
                  <a:moveTo>
                    <a:pt x="76200" y="0"/>
                  </a:moveTo>
                  <a:lnTo>
                    <a:pt x="76200" y="2087033"/>
                  </a:lnTo>
                  <a:cubicBezTo>
                    <a:pt x="34163" y="2087033"/>
                    <a:pt x="0" y="2057329"/>
                    <a:pt x="0" y="2020778"/>
                  </a:cubicBezTo>
                  <a:lnTo>
                    <a:pt x="0" y="66255"/>
                  </a:lnTo>
                  <a:cubicBezTo>
                    <a:pt x="0" y="2970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601200" y="7902608"/>
            <a:ext cx="685800" cy="685800"/>
            <a:chOff x="0" y="0"/>
            <a:chExt cx="91440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795691" y="8045483"/>
            <a:ext cx="442912" cy="434435"/>
            <a:chOff x="0" y="0"/>
            <a:chExt cx="590550" cy="57924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90550" cy="579247"/>
            </a:xfrm>
            <a:custGeom>
              <a:avLst/>
              <a:gdLst/>
              <a:ahLst/>
              <a:cxnLst/>
              <a:rect r="r" b="b" t="t" l="l"/>
              <a:pathLst>
                <a:path h="579247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791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59055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23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515600" y="7902608"/>
            <a:ext cx="7100888" cy="400050"/>
            <a:chOff x="0" y="0"/>
            <a:chExt cx="9467850" cy="533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Function Call Argumant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515600" y="8359808"/>
            <a:ext cx="7072312" cy="1302896"/>
            <a:chOff x="0" y="0"/>
            <a:chExt cx="9429750" cy="173719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429750" cy="1737195"/>
            </a:xfrm>
            <a:custGeom>
              <a:avLst/>
              <a:gdLst/>
              <a:ahLst/>
              <a:cxnLst/>
              <a:rect r="r" b="b" t="t" l="l"/>
              <a:pathLst>
                <a:path h="17371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1737195"/>
                  </a:lnTo>
                  <a:lnTo>
                    <a:pt x="0" y="1737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156" r="0" b="-1837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76200"/>
              <a:ext cx="9429750" cy="1813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ArgList → Expression ArgListTa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il  | ε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ArgListTail → , Expression ArgListTail | ε</a:t>
              </a:r>
            </a:p>
            <a:p>
              <a:pPr algn="l">
                <a:lnSpc>
                  <a:spcPts val="2645"/>
                </a:lnSpc>
              </a:pPr>
            </a:p>
            <a:p>
              <a:pPr algn="l">
                <a:lnSpc>
                  <a:spcPts val="2645"/>
                </a:lnSpc>
              </a:pP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00075" y="7407206"/>
            <a:ext cx="8372475" cy="1790905"/>
            <a:chOff x="0" y="0"/>
            <a:chExt cx="11163300" cy="238787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1163300" cy="2387873"/>
            </a:xfrm>
            <a:custGeom>
              <a:avLst/>
              <a:gdLst/>
              <a:ahLst/>
              <a:cxnLst/>
              <a:rect r="r" b="b" t="t" l="l"/>
              <a:pathLst>
                <a:path h="2387873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01958"/>
                    <a:pt x="11163300" y="227416"/>
                  </a:cubicBezTo>
                  <a:lnTo>
                    <a:pt x="11163300" y="2160457"/>
                  </a:lnTo>
                  <a:cubicBezTo>
                    <a:pt x="11163300" y="2285915"/>
                    <a:pt x="11060811" y="2387873"/>
                    <a:pt x="10934700" y="2387873"/>
                  </a:cubicBezTo>
                  <a:lnTo>
                    <a:pt x="76200" y="2387873"/>
                  </a:lnTo>
                  <a:cubicBezTo>
                    <a:pt x="34163" y="2387873"/>
                    <a:pt x="0" y="2353887"/>
                    <a:pt x="0" y="2312068"/>
                  </a:cubicBezTo>
                  <a:lnTo>
                    <a:pt x="0" y="75805"/>
                  </a:lnTo>
                  <a:cubicBezTo>
                    <a:pt x="0" y="33986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600075" y="7407206"/>
            <a:ext cx="57150" cy="1790905"/>
            <a:chOff x="0" y="0"/>
            <a:chExt cx="76200" cy="238787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6200" cy="2387873"/>
            </a:xfrm>
            <a:custGeom>
              <a:avLst/>
              <a:gdLst/>
              <a:ahLst/>
              <a:cxnLst/>
              <a:rect r="r" b="b" t="t" l="l"/>
              <a:pathLst>
                <a:path h="2387873" w="76200">
                  <a:moveTo>
                    <a:pt x="76200" y="0"/>
                  </a:moveTo>
                  <a:lnTo>
                    <a:pt x="76200" y="2387873"/>
                  </a:lnTo>
                  <a:cubicBezTo>
                    <a:pt x="34163" y="2387873"/>
                    <a:pt x="0" y="2353887"/>
                    <a:pt x="0" y="2312068"/>
                  </a:cubicBezTo>
                  <a:lnTo>
                    <a:pt x="0" y="75805"/>
                  </a:lnTo>
                  <a:cubicBezTo>
                    <a:pt x="0" y="33986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857250" y="7635806"/>
            <a:ext cx="685800" cy="685800"/>
            <a:chOff x="0" y="0"/>
            <a:chExt cx="914400" cy="9144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68326"/>
                    <a:pt x="914400" y="152400"/>
                  </a:cubicBezTo>
                  <a:lnTo>
                    <a:pt x="914400" y="762000"/>
                  </a:lnTo>
                  <a:cubicBezTo>
                    <a:pt x="914400" y="846074"/>
                    <a:pt x="846074" y="914400"/>
                    <a:pt x="7620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025842" y="7778681"/>
            <a:ext cx="485775" cy="434435"/>
            <a:chOff x="0" y="0"/>
            <a:chExt cx="647700" cy="57924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47700" cy="579247"/>
            </a:xfrm>
            <a:custGeom>
              <a:avLst/>
              <a:gdLst/>
              <a:ahLst/>
              <a:cxnLst/>
              <a:rect r="r" b="b" t="t" l="l"/>
              <a:pathLst>
                <a:path h="579247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79247"/>
                  </a:lnTo>
                  <a:lnTo>
                    <a:pt x="0" y="579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791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57150"/>
              <a:ext cx="647700" cy="6363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19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771650" y="7635806"/>
            <a:ext cx="7100888" cy="400050"/>
            <a:chOff x="0" y="0"/>
            <a:chExt cx="9467850" cy="5334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467850" cy="533400"/>
            </a:xfrm>
            <a:custGeom>
              <a:avLst/>
              <a:gdLst/>
              <a:ahLst/>
              <a:cxnLst/>
              <a:rect r="r" b="b" t="t" l="l"/>
              <a:pathLst>
                <a:path h="53340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76200"/>
              <a:ext cx="9467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Expression MULTIPLICATION / DIVISION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771650" y="8093006"/>
            <a:ext cx="7072312" cy="969521"/>
            <a:chOff x="0" y="0"/>
            <a:chExt cx="9429750" cy="129269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429750" cy="1292695"/>
            </a:xfrm>
            <a:custGeom>
              <a:avLst/>
              <a:gdLst/>
              <a:ahLst/>
              <a:cxnLst/>
              <a:rect r="r" b="b" t="t" l="l"/>
              <a:pathLst>
                <a:path h="1292695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1292695"/>
                  </a:lnTo>
                  <a:lnTo>
                    <a:pt x="0" y="1292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189" r="0" b="-5908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76200"/>
              <a:ext cx="9429750" cy="1368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Multipl</a:t>
              </a: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icative → Unary MultiplicativeTail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MultiplicativeTail → * Unary MultiplicativeTail  | / Unary MultiplicativeTail</a:t>
              </a:r>
            </a:p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                  | % Unary MultiplicativeTail  | ε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8395" y="568395"/>
            <a:ext cx="17250689" cy="284197"/>
            <a:chOff x="0" y="0"/>
            <a:chExt cx="23000919" cy="378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00914" cy="378928"/>
            </a:xfrm>
            <a:custGeom>
              <a:avLst/>
              <a:gdLst/>
              <a:ahLst/>
              <a:cxnLst/>
              <a:rect r="r" b="b" t="t" l="l"/>
              <a:pathLst>
                <a:path h="378928" w="23000914">
                  <a:moveTo>
                    <a:pt x="0" y="0"/>
                  </a:moveTo>
                  <a:lnTo>
                    <a:pt x="23000914" y="0"/>
                  </a:lnTo>
                  <a:lnTo>
                    <a:pt x="23000914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2741" r="0" b="-11327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000919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b="true" sz="1566" spc="78">
                  <a:solidFill>
                    <a:srgbClr val="FB923C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Implementation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8395" y="909428"/>
            <a:ext cx="17406995" cy="568395"/>
            <a:chOff x="0" y="0"/>
            <a:chExt cx="23209326" cy="7578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9324" cy="757856"/>
            </a:xfrm>
            <a:custGeom>
              <a:avLst/>
              <a:gdLst/>
              <a:ahLst/>
              <a:cxnLst/>
              <a:rect r="r" b="b" t="t" l="l"/>
              <a:pathLst>
                <a:path h="757856" w="23209324">
                  <a:moveTo>
                    <a:pt x="0" y="0"/>
                  </a:moveTo>
                  <a:lnTo>
                    <a:pt x="23209324" y="0"/>
                  </a:lnTo>
                  <a:lnTo>
                    <a:pt x="23209324" y="757856"/>
                  </a:lnTo>
                  <a:lnTo>
                    <a:pt x="0" y="757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728" r="0" b="-5467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9326" cy="71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49"/>
                </a:lnSpc>
              </a:pPr>
              <a:r>
                <a:rPr lang="en-US" sz="4027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Semantic Analysis &amp; IR Generation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8395" y="1534658"/>
            <a:ext cx="17264891" cy="341033"/>
            <a:chOff x="0" y="0"/>
            <a:chExt cx="23019855" cy="454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19860" cy="454714"/>
            </a:xfrm>
            <a:custGeom>
              <a:avLst/>
              <a:gdLst/>
              <a:ahLst/>
              <a:cxnLst/>
              <a:rect r="r" b="b" t="t" l="l"/>
              <a:pathLst>
                <a:path h="454714" w="23019860">
                  <a:moveTo>
                    <a:pt x="0" y="0"/>
                  </a:moveTo>
                  <a:lnTo>
                    <a:pt x="23019860" y="0"/>
                  </a:lnTo>
                  <a:lnTo>
                    <a:pt x="23019860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6428" r="0" b="-93642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3019855" cy="5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Phase 3-4: Single-Pass Design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6452" y="2044275"/>
            <a:ext cx="6733632" cy="5852627"/>
          </a:xfrm>
          <a:custGeom>
            <a:avLst/>
            <a:gdLst/>
            <a:ahLst/>
            <a:cxnLst/>
            <a:rect r="r" b="b" t="t" l="l"/>
            <a:pathLst>
              <a:path h="5852627" w="6733632">
                <a:moveTo>
                  <a:pt x="0" y="0"/>
                </a:moveTo>
                <a:lnTo>
                  <a:pt x="6733632" y="0"/>
                </a:lnTo>
                <a:lnTo>
                  <a:pt x="6733632" y="5852626"/>
                </a:lnTo>
                <a:lnTo>
                  <a:pt x="0" y="5852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0403" y="2341778"/>
            <a:ext cx="248669" cy="284197"/>
          </a:xfrm>
          <a:custGeom>
            <a:avLst/>
            <a:gdLst/>
            <a:ahLst/>
            <a:cxnLst/>
            <a:rect r="r" b="b" t="t" l="l"/>
            <a:pathLst>
              <a:path h="284197" w="248669">
                <a:moveTo>
                  <a:pt x="0" y="0"/>
                </a:moveTo>
                <a:lnTo>
                  <a:pt x="248669" y="0"/>
                </a:lnTo>
                <a:lnTo>
                  <a:pt x="248669" y="284198"/>
                </a:lnTo>
                <a:lnTo>
                  <a:pt x="0" y="284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32881" y="2284943"/>
            <a:ext cx="2586180" cy="397869"/>
            <a:chOff x="0" y="0"/>
            <a:chExt cx="3448240" cy="5304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48242" cy="530498"/>
            </a:xfrm>
            <a:custGeom>
              <a:avLst/>
              <a:gdLst/>
              <a:ahLst/>
              <a:cxnLst/>
              <a:rect r="r" b="b" t="t" l="l"/>
              <a:pathLst>
                <a:path h="530498" w="3448242">
                  <a:moveTo>
                    <a:pt x="0" y="0"/>
                  </a:moveTo>
                  <a:lnTo>
                    <a:pt x="3448242" y="0"/>
                  </a:lnTo>
                  <a:lnTo>
                    <a:pt x="3448242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3" r="0" b="-7665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3448240" cy="606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2"/>
                </a:lnSpc>
              </a:pPr>
              <a:r>
                <a:rPr lang="en-US" sz="2014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Scoped Symbol Table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07120" y="2853328"/>
            <a:ext cx="6351775" cy="653653"/>
            <a:chOff x="0" y="0"/>
            <a:chExt cx="8469033" cy="8715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69034" cy="871534"/>
            </a:xfrm>
            <a:custGeom>
              <a:avLst/>
              <a:gdLst/>
              <a:ahLst/>
              <a:cxnLst/>
              <a:rect r="r" b="b" t="t" l="l"/>
              <a:pathLst>
                <a:path h="871534" w="8469034">
                  <a:moveTo>
                    <a:pt x="0" y="0"/>
                  </a:moveTo>
                  <a:lnTo>
                    <a:pt x="8469034" y="0"/>
                  </a:lnTo>
                  <a:lnTo>
                    <a:pt x="8469034" y="871534"/>
                  </a:lnTo>
                  <a:lnTo>
                    <a:pt x="0" y="871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343" r="0" b="-1393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8469033" cy="947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0"/>
                </a:lnSpc>
              </a:pPr>
              <a:r>
                <a:rPr lang="en-US" sz="1566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Chain of hash maps enabling </a:t>
              </a:r>
              <a:r>
                <a:rPr lang="en-US" sz="1566" b="true">
                  <a:solidFill>
                    <a:srgbClr val="FB923C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lexical scoping</a:t>
              </a:r>
              <a:r>
                <a:rPr lang="en-US" sz="1566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and </a:t>
              </a:r>
              <a:r>
                <a:rPr lang="en-US" sz="1566" b="true">
                  <a:solidFill>
                    <a:srgbClr val="FB923C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variable shadowing</a:t>
              </a:r>
              <a:r>
                <a:rPr lang="en-US" sz="1566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identical to C/C++.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05177" y="3668458"/>
            <a:ext cx="6250496" cy="2186492"/>
          </a:xfrm>
          <a:custGeom>
            <a:avLst/>
            <a:gdLst/>
            <a:ahLst/>
            <a:cxnLst/>
            <a:rect r="r" b="b" t="t" l="l"/>
            <a:pathLst>
              <a:path h="2186492" w="6250496">
                <a:moveTo>
                  <a:pt x="0" y="0"/>
                </a:moveTo>
                <a:lnTo>
                  <a:pt x="6250495" y="0"/>
                </a:lnTo>
                <a:lnTo>
                  <a:pt x="6250495" y="2186493"/>
                </a:lnTo>
                <a:lnTo>
                  <a:pt x="0" y="21864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89000" y="3852272"/>
            <a:ext cx="5968108" cy="227352"/>
            <a:chOff x="0" y="0"/>
            <a:chExt cx="7957477" cy="3031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57482" cy="303142"/>
            </a:xfrm>
            <a:custGeom>
              <a:avLst/>
              <a:gdLst/>
              <a:ahLst/>
              <a:cxnLst/>
              <a:rect r="r" b="b" t="t" l="l"/>
              <a:pathLst>
                <a:path h="303142" w="7957482">
                  <a:moveTo>
                    <a:pt x="0" y="0"/>
                  </a:moveTo>
                  <a:lnTo>
                    <a:pt x="7957482" y="0"/>
                  </a:lnTo>
                  <a:lnTo>
                    <a:pt x="7957482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3" r="0" b="-4614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7957477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class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9000" y="4079453"/>
            <a:ext cx="5968108" cy="227352"/>
            <a:chOff x="0" y="0"/>
            <a:chExt cx="7957477" cy="3031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57482" cy="303142"/>
            </a:xfrm>
            <a:custGeom>
              <a:avLst/>
              <a:gdLst/>
              <a:ahLst/>
              <a:cxnLst/>
              <a:rect r="r" b="b" t="t" l="l"/>
              <a:pathLst>
                <a:path h="303142" w="7957482">
                  <a:moveTo>
                    <a:pt x="0" y="0"/>
                  </a:moveTo>
                  <a:lnTo>
                    <a:pt x="7957482" y="0"/>
                  </a:lnTo>
                  <a:lnTo>
                    <a:pt x="7957482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3" r="0" b="-46148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957477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SymbolTable {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9516" y="4306634"/>
            <a:ext cx="5797591" cy="227352"/>
            <a:chOff x="0" y="0"/>
            <a:chExt cx="7730122" cy="3031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30126" cy="303142"/>
            </a:xfrm>
            <a:custGeom>
              <a:avLst/>
              <a:gdLst/>
              <a:ahLst/>
              <a:cxnLst/>
              <a:rect r="r" b="b" t="t" l="l"/>
              <a:pathLst>
                <a:path h="303142" w="7730126">
                  <a:moveTo>
                    <a:pt x="0" y="0"/>
                  </a:moveTo>
                  <a:lnTo>
                    <a:pt x="7730126" y="0"/>
                  </a:lnTo>
                  <a:lnTo>
                    <a:pt x="7730126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9" r="0" b="-44686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773012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parent: SymbolTable | null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9516" y="4533814"/>
            <a:ext cx="5797591" cy="227352"/>
            <a:chOff x="0" y="0"/>
            <a:chExt cx="7730122" cy="3031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730126" cy="303142"/>
            </a:xfrm>
            <a:custGeom>
              <a:avLst/>
              <a:gdLst/>
              <a:ahLst/>
              <a:cxnLst/>
              <a:rect r="r" b="b" t="t" l="l"/>
              <a:pathLst>
                <a:path h="303142" w="7730126">
                  <a:moveTo>
                    <a:pt x="0" y="0"/>
                  </a:moveTo>
                  <a:lnTo>
                    <a:pt x="7730126" y="0"/>
                  </a:lnTo>
                  <a:lnTo>
                    <a:pt x="7730126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9" r="0" b="-4468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773012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table: Map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59516" y="4760995"/>
            <a:ext cx="5797591" cy="227352"/>
            <a:chOff x="0" y="0"/>
            <a:chExt cx="7730122" cy="3031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730126" cy="303142"/>
            </a:xfrm>
            <a:custGeom>
              <a:avLst/>
              <a:gdLst/>
              <a:ahLst/>
              <a:cxnLst/>
              <a:rect r="r" b="b" t="t" l="l"/>
              <a:pathLst>
                <a:path h="303142" w="7730126">
                  <a:moveTo>
                    <a:pt x="0" y="0"/>
                  </a:moveTo>
                  <a:lnTo>
                    <a:pt x="7730126" y="0"/>
                  </a:lnTo>
                  <a:lnTo>
                    <a:pt x="7730126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9" r="0" b="-44686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773012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38BDF8"/>
                  </a:solidFill>
                  <a:latin typeface="Arimo"/>
                  <a:ea typeface="Arimo"/>
                  <a:cs typeface="Arimo"/>
                  <a:sym typeface="Arimo"/>
                </a:rPr>
                <a:t>define(name, info)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59516" y="4988166"/>
            <a:ext cx="5797591" cy="227352"/>
            <a:chOff x="0" y="0"/>
            <a:chExt cx="7730122" cy="3031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730126" cy="303142"/>
            </a:xfrm>
            <a:custGeom>
              <a:avLst/>
              <a:gdLst/>
              <a:ahLst/>
              <a:cxnLst/>
              <a:rect r="r" b="b" t="t" l="l"/>
              <a:pathLst>
                <a:path h="303142" w="7730126">
                  <a:moveTo>
                    <a:pt x="0" y="0"/>
                  </a:moveTo>
                  <a:lnTo>
                    <a:pt x="7730126" y="0"/>
                  </a:lnTo>
                  <a:lnTo>
                    <a:pt x="7730126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9" r="0" b="-44686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773012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38BDF8"/>
                  </a:solidFill>
                  <a:latin typeface="Arimo"/>
                  <a:ea typeface="Arimo"/>
                  <a:cs typeface="Arimo"/>
                  <a:sym typeface="Arimo"/>
                </a:rPr>
                <a:t>lookup(name)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9516" y="5215347"/>
            <a:ext cx="5797591" cy="227352"/>
            <a:chOff x="0" y="0"/>
            <a:chExt cx="7730122" cy="3031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730126" cy="303142"/>
            </a:xfrm>
            <a:custGeom>
              <a:avLst/>
              <a:gdLst/>
              <a:ahLst/>
              <a:cxnLst/>
              <a:rect r="r" b="b" t="t" l="l"/>
              <a:pathLst>
                <a:path h="303142" w="7730126">
                  <a:moveTo>
                    <a:pt x="0" y="0"/>
                  </a:moveTo>
                  <a:lnTo>
                    <a:pt x="7730126" y="0"/>
                  </a:lnTo>
                  <a:lnTo>
                    <a:pt x="7730126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9" r="0" b="-4468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773012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38BDF8"/>
                  </a:solidFill>
                  <a:latin typeface="Arimo"/>
                  <a:ea typeface="Arimo"/>
                  <a:cs typeface="Arimo"/>
                  <a:sym typeface="Arimo"/>
                </a:rPr>
                <a:t>has(name)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89000" y="5442528"/>
            <a:ext cx="5968108" cy="227352"/>
            <a:chOff x="0" y="0"/>
            <a:chExt cx="7957477" cy="3031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957482" cy="303142"/>
            </a:xfrm>
            <a:custGeom>
              <a:avLst/>
              <a:gdLst/>
              <a:ahLst/>
              <a:cxnLst/>
              <a:rect r="r" b="b" t="t" l="l"/>
              <a:pathLst>
                <a:path h="303142" w="7957482">
                  <a:moveTo>
                    <a:pt x="0" y="0"/>
                  </a:moveTo>
                  <a:lnTo>
                    <a:pt x="7957482" y="0"/>
                  </a:lnTo>
                  <a:lnTo>
                    <a:pt x="7957482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3" r="0" b="-46148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7957477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}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8427" y="6050356"/>
            <a:ext cx="170517" cy="170517"/>
            <a:chOff x="0" y="0"/>
            <a:chExt cx="227355" cy="2273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28321"/>
              <a:ext cx="227330" cy="170641"/>
            </a:xfrm>
            <a:custGeom>
              <a:avLst/>
              <a:gdLst/>
              <a:ahLst/>
              <a:cxnLst/>
              <a:rect r="r" b="b" t="t" l="l"/>
              <a:pathLst>
                <a:path h="170641" w="227330">
                  <a:moveTo>
                    <a:pt x="223139" y="95377"/>
                  </a:moveTo>
                  <a:cubicBezTo>
                    <a:pt x="228727" y="89789"/>
                    <a:pt x="228727" y="80772"/>
                    <a:pt x="223139" y="75311"/>
                  </a:cubicBezTo>
                  <a:lnTo>
                    <a:pt x="152146" y="4191"/>
                  </a:lnTo>
                  <a:cubicBezTo>
                    <a:pt x="146558" y="-1397"/>
                    <a:pt x="137541" y="-1397"/>
                    <a:pt x="132080" y="4191"/>
                  </a:cubicBezTo>
                  <a:cubicBezTo>
                    <a:pt x="126619" y="9779"/>
                    <a:pt x="126492" y="18796"/>
                    <a:pt x="132080" y="24257"/>
                  </a:cubicBezTo>
                  <a:lnTo>
                    <a:pt x="178943" y="71120"/>
                  </a:lnTo>
                  <a:lnTo>
                    <a:pt x="14224" y="71120"/>
                  </a:lnTo>
                  <a:cubicBezTo>
                    <a:pt x="6350" y="71120"/>
                    <a:pt x="0" y="77470"/>
                    <a:pt x="0" y="85344"/>
                  </a:cubicBezTo>
                  <a:cubicBezTo>
                    <a:pt x="0" y="93218"/>
                    <a:pt x="6350" y="99568"/>
                    <a:pt x="14224" y="99568"/>
                  </a:cubicBezTo>
                  <a:lnTo>
                    <a:pt x="178816" y="99568"/>
                  </a:lnTo>
                  <a:lnTo>
                    <a:pt x="132080" y="146431"/>
                  </a:lnTo>
                  <a:cubicBezTo>
                    <a:pt x="126492" y="152019"/>
                    <a:pt x="126492" y="161036"/>
                    <a:pt x="132080" y="166497"/>
                  </a:cubicBezTo>
                  <a:cubicBezTo>
                    <a:pt x="137668" y="171958"/>
                    <a:pt x="146685" y="172085"/>
                    <a:pt x="152146" y="166497"/>
                  </a:cubicBezTo>
                  <a:lnTo>
                    <a:pt x="223139" y="95504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33942" y="6022115"/>
            <a:ext cx="2230936" cy="227352"/>
            <a:chOff x="0" y="0"/>
            <a:chExt cx="2974581" cy="3031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74582" cy="303142"/>
            </a:xfrm>
            <a:custGeom>
              <a:avLst/>
              <a:gdLst/>
              <a:ahLst/>
              <a:cxnLst/>
              <a:rect r="r" b="b" t="t" l="l"/>
              <a:pathLst>
                <a:path h="303142" w="2974582">
                  <a:moveTo>
                    <a:pt x="0" y="0"/>
                  </a:moveTo>
                  <a:lnTo>
                    <a:pt x="2974582" y="0"/>
                  </a:lnTo>
                  <a:lnTo>
                    <a:pt x="2974582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197" r="0" b="-14119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2974581" cy="3221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Block { }</a:t>
              </a:r>
              <a:r>
                <a:rPr lang="en-US" sz="1342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— Push at {, Pop at }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8427" y="6334373"/>
            <a:ext cx="170517" cy="170517"/>
            <a:chOff x="0" y="0"/>
            <a:chExt cx="227355" cy="22735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28321"/>
              <a:ext cx="227330" cy="170641"/>
            </a:xfrm>
            <a:custGeom>
              <a:avLst/>
              <a:gdLst/>
              <a:ahLst/>
              <a:cxnLst/>
              <a:rect r="r" b="b" t="t" l="l"/>
              <a:pathLst>
                <a:path h="170641" w="227330">
                  <a:moveTo>
                    <a:pt x="223139" y="95377"/>
                  </a:moveTo>
                  <a:cubicBezTo>
                    <a:pt x="228727" y="89789"/>
                    <a:pt x="228727" y="80772"/>
                    <a:pt x="223139" y="75311"/>
                  </a:cubicBezTo>
                  <a:lnTo>
                    <a:pt x="152146" y="4191"/>
                  </a:lnTo>
                  <a:cubicBezTo>
                    <a:pt x="146558" y="-1397"/>
                    <a:pt x="137541" y="-1397"/>
                    <a:pt x="132080" y="4191"/>
                  </a:cubicBezTo>
                  <a:cubicBezTo>
                    <a:pt x="126619" y="9779"/>
                    <a:pt x="126492" y="18796"/>
                    <a:pt x="132080" y="24257"/>
                  </a:cubicBezTo>
                  <a:lnTo>
                    <a:pt x="178943" y="71120"/>
                  </a:lnTo>
                  <a:lnTo>
                    <a:pt x="14224" y="71120"/>
                  </a:lnTo>
                  <a:cubicBezTo>
                    <a:pt x="6350" y="71120"/>
                    <a:pt x="0" y="77470"/>
                    <a:pt x="0" y="85344"/>
                  </a:cubicBezTo>
                  <a:cubicBezTo>
                    <a:pt x="0" y="93218"/>
                    <a:pt x="6350" y="99568"/>
                    <a:pt x="14224" y="99568"/>
                  </a:cubicBezTo>
                  <a:lnTo>
                    <a:pt x="178816" y="99568"/>
                  </a:lnTo>
                  <a:lnTo>
                    <a:pt x="132080" y="146431"/>
                  </a:lnTo>
                  <a:cubicBezTo>
                    <a:pt x="126492" y="152019"/>
                    <a:pt x="126492" y="161036"/>
                    <a:pt x="132080" y="166497"/>
                  </a:cubicBezTo>
                  <a:cubicBezTo>
                    <a:pt x="137668" y="171958"/>
                    <a:pt x="146685" y="172085"/>
                    <a:pt x="152146" y="166497"/>
                  </a:cubicBezTo>
                  <a:lnTo>
                    <a:pt x="223139" y="95504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33942" y="6306131"/>
            <a:ext cx="3353514" cy="227352"/>
            <a:chOff x="0" y="0"/>
            <a:chExt cx="4471352" cy="3031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71348" cy="303142"/>
            </a:xfrm>
            <a:custGeom>
              <a:avLst/>
              <a:gdLst/>
              <a:ahLst/>
              <a:cxnLst/>
              <a:rect r="r" b="b" t="t" l="l"/>
              <a:pathLst>
                <a:path h="303142" w="4471348">
                  <a:moveTo>
                    <a:pt x="0" y="0"/>
                  </a:moveTo>
                  <a:lnTo>
                    <a:pt x="4471348" y="0"/>
                  </a:lnTo>
                  <a:lnTo>
                    <a:pt x="4471348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5" r="0" b="-23740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471352" cy="3221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Function</a:t>
              </a:r>
              <a:r>
                <a:rPr lang="en-US" sz="1342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— Push after name, Pop after body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8427" y="6618389"/>
            <a:ext cx="170517" cy="170517"/>
            <a:chOff x="0" y="0"/>
            <a:chExt cx="227355" cy="22735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28321"/>
              <a:ext cx="227330" cy="170641"/>
            </a:xfrm>
            <a:custGeom>
              <a:avLst/>
              <a:gdLst/>
              <a:ahLst/>
              <a:cxnLst/>
              <a:rect r="r" b="b" t="t" l="l"/>
              <a:pathLst>
                <a:path h="170641" w="227330">
                  <a:moveTo>
                    <a:pt x="223139" y="95377"/>
                  </a:moveTo>
                  <a:cubicBezTo>
                    <a:pt x="228727" y="89789"/>
                    <a:pt x="228727" y="80772"/>
                    <a:pt x="223139" y="75311"/>
                  </a:cubicBezTo>
                  <a:lnTo>
                    <a:pt x="152146" y="4191"/>
                  </a:lnTo>
                  <a:cubicBezTo>
                    <a:pt x="146558" y="-1397"/>
                    <a:pt x="137541" y="-1397"/>
                    <a:pt x="132080" y="4191"/>
                  </a:cubicBezTo>
                  <a:cubicBezTo>
                    <a:pt x="126619" y="9779"/>
                    <a:pt x="126492" y="18796"/>
                    <a:pt x="132080" y="24257"/>
                  </a:cubicBezTo>
                  <a:lnTo>
                    <a:pt x="178943" y="71120"/>
                  </a:lnTo>
                  <a:lnTo>
                    <a:pt x="14224" y="71120"/>
                  </a:lnTo>
                  <a:cubicBezTo>
                    <a:pt x="6350" y="71120"/>
                    <a:pt x="0" y="77470"/>
                    <a:pt x="0" y="85344"/>
                  </a:cubicBezTo>
                  <a:cubicBezTo>
                    <a:pt x="0" y="93218"/>
                    <a:pt x="6350" y="99568"/>
                    <a:pt x="14224" y="99568"/>
                  </a:cubicBezTo>
                  <a:lnTo>
                    <a:pt x="178816" y="99568"/>
                  </a:lnTo>
                  <a:lnTo>
                    <a:pt x="132080" y="146431"/>
                  </a:lnTo>
                  <a:cubicBezTo>
                    <a:pt x="126492" y="152019"/>
                    <a:pt x="126492" y="161036"/>
                    <a:pt x="132080" y="166497"/>
                  </a:cubicBezTo>
                  <a:cubicBezTo>
                    <a:pt x="137668" y="171958"/>
                    <a:pt x="146685" y="172085"/>
                    <a:pt x="152146" y="166497"/>
                  </a:cubicBezTo>
                  <a:lnTo>
                    <a:pt x="223139" y="95504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33942" y="6590147"/>
            <a:ext cx="3225622" cy="227352"/>
            <a:chOff x="0" y="0"/>
            <a:chExt cx="4300830" cy="3031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00830" cy="303142"/>
            </a:xfrm>
            <a:custGeom>
              <a:avLst/>
              <a:gdLst/>
              <a:ahLst/>
              <a:cxnLst/>
              <a:rect r="r" b="b" t="t" l="l"/>
              <a:pathLst>
                <a:path h="303142" w="4300830">
                  <a:moveTo>
                    <a:pt x="0" y="0"/>
                  </a:moveTo>
                  <a:lnTo>
                    <a:pt x="4300830" y="0"/>
                  </a:lnTo>
                  <a:lnTo>
                    <a:pt x="4300830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445" r="0" b="-22644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4300830" cy="3221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for loop</a:t>
              </a:r>
              <a:r>
                <a:rPr lang="en-US" sz="1342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— Push before init, Pop after body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566452" y="8062303"/>
            <a:ext cx="6733632" cy="2229126"/>
          </a:xfrm>
          <a:custGeom>
            <a:avLst/>
            <a:gdLst/>
            <a:ahLst/>
            <a:cxnLst/>
            <a:rect r="r" b="b" t="t" l="l"/>
            <a:pathLst>
              <a:path h="2229126" w="6733632">
                <a:moveTo>
                  <a:pt x="0" y="0"/>
                </a:moveTo>
                <a:lnTo>
                  <a:pt x="6733632" y="0"/>
                </a:lnTo>
                <a:lnTo>
                  <a:pt x="6733632" y="2229126"/>
                </a:lnTo>
                <a:lnTo>
                  <a:pt x="0" y="22291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860403" y="8359797"/>
            <a:ext cx="248669" cy="284197"/>
            <a:chOff x="0" y="0"/>
            <a:chExt cx="331559" cy="37893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29" y="-11872"/>
              <a:ext cx="331412" cy="402713"/>
            </a:xfrm>
            <a:custGeom>
              <a:avLst/>
              <a:gdLst/>
              <a:ahLst/>
              <a:cxnLst/>
              <a:rect r="r" b="b" t="t" l="l"/>
              <a:pathLst>
                <a:path h="402713" w="331412">
                  <a:moveTo>
                    <a:pt x="250669" y="4506"/>
                  </a:moveTo>
                  <a:cubicBezTo>
                    <a:pt x="259432" y="10856"/>
                    <a:pt x="262734" y="22413"/>
                    <a:pt x="258797" y="32446"/>
                  </a:cubicBezTo>
                  <a:lnTo>
                    <a:pt x="200758" y="177607"/>
                  </a:lnTo>
                  <a:lnTo>
                    <a:pt x="307819" y="177607"/>
                  </a:lnTo>
                  <a:cubicBezTo>
                    <a:pt x="317852" y="177607"/>
                    <a:pt x="326742" y="183830"/>
                    <a:pt x="330044" y="193228"/>
                  </a:cubicBezTo>
                  <a:cubicBezTo>
                    <a:pt x="333346" y="202626"/>
                    <a:pt x="330552" y="213167"/>
                    <a:pt x="322932" y="219517"/>
                  </a:cubicBezTo>
                  <a:lnTo>
                    <a:pt x="109826" y="397190"/>
                  </a:lnTo>
                  <a:cubicBezTo>
                    <a:pt x="101444" y="404175"/>
                    <a:pt x="89506" y="404556"/>
                    <a:pt x="80743" y="398206"/>
                  </a:cubicBezTo>
                  <a:cubicBezTo>
                    <a:pt x="71980" y="391856"/>
                    <a:pt x="68678" y="380299"/>
                    <a:pt x="72615" y="370266"/>
                  </a:cubicBezTo>
                  <a:lnTo>
                    <a:pt x="130781" y="224978"/>
                  </a:lnTo>
                  <a:lnTo>
                    <a:pt x="23593" y="224978"/>
                  </a:lnTo>
                  <a:cubicBezTo>
                    <a:pt x="13560" y="224978"/>
                    <a:pt x="4670" y="218755"/>
                    <a:pt x="1368" y="209357"/>
                  </a:cubicBezTo>
                  <a:cubicBezTo>
                    <a:pt x="-1934" y="199959"/>
                    <a:pt x="860" y="189418"/>
                    <a:pt x="8480" y="183068"/>
                  </a:cubicBezTo>
                  <a:lnTo>
                    <a:pt x="221586" y="5522"/>
                  </a:lnTo>
                  <a:cubicBezTo>
                    <a:pt x="229968" y="-1463"/>
                    <a:pt x="241906" y="-1844"/>
                    <a:pt x="250669" y="4506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32881" y="8302962"/>
            <a:ext cx="2571969" cy="397869"/>
            <a:chOff x="0" y="0"/>
            <a:chExt cx="3429292" cy="5304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29296" cy="530498"/>
            </a:xfrm>
            <a:custGeom>
              <a:avLst/>
              <a:gdLst/>
              <a:ahLst/>
              <a:cxnLst/>
              <a:rect r="r" b="b" t="t" l="l"/>
              <a:pathLst>
                <a:path h="530498" w="3429296">
                  <a:moveTo>
                    <a:pt x="0" y="0"/>
                  </a:moveTo>
                  <a:lnTo>
                    <a:pt x="3429296" y="0"/>
                  </a:lnTo>
                  <a:lnTo>
                    <a:pt x="3429296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57" r="0" b="-7595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3429292" cy="606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2"/>
                </a:lnSpc>
              </a:pPr>
              <a:r>
                <a:rPr lang="en-US" sz="2014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Single-Pass Rationale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07120" y="8814511"/>
            <a:ext cx="6351775" cy="653653"/>
            <a:chOff x="0" y="0"/>
            <a:chExt cx="8469033" cy="87153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469034" cy="871534"/>
            </a:xfrm>
            <a:custGeom>
              <a:avLst/>
              <a:gdLst/>
              <a:ahLst/>
              <a:cxnLst/>
              <a:rect r="r" b="b" t="t" l="l"/>
              <a:pathLst>
                <a:path h="871534" w="8469034">
                  <a:moveTo>
                    <a:pt x="0" y="0"/>
                  </a:moveTo>
                  <a:lnTo>
                    <a:pt x="8469034" y="0"/>
                  </a:lnTo>
                  <a:lnTo>
                    <a:pt x="8469034" y="871534"/>
                  </a:lnTo>
                  <a:lnTo>
                    <a:pt x="0" y="871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343" r="0" b="-1393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8469033" cy="947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0"/>
                </a:lnSpc>
              </a:pPr>
              <a:r>
                <a:rPr lang="en-US" sz="1566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Reduces memory usage by </a:t>
              </a:r>
              <a:r>
                <a:rPr lang="en-US" sz="1566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50% vs. multi-pass</a:t>
              </a:r>
              <a:r>
                <a:rPr lang="en-US" sz="1566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. Sound because language has no forward variable declarations.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805177" y="9572796"/>
            <a:ext cx="6250496" cy="481317"/>
          </a:xfrm>
          <a:custGeom>
            <a:avLst/>
            <a:gdLst/>
            <a:ahLst/>
            <a:cxnLst/>
            <a:rect r="r" b="b" t="t" l="l"/>
            <a:pathLst>
              <a:path h="481317" w="6250496">
                <a:moveTo>
                  <a:pt x="0" y="0"/>
                </a:moveTo>
                <a:lnTo>
                  <a:pt x="6250495" y="0"/>
                </a:lnTo>
                <a:lnTo>
                  <a:pt x="6250495" y="481318"/>
                </a:lnTo>
                <a:lnTo>
                  <a:pt x="0" y="4813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932164" y="9699784"/>
            <a:ext cx="6081789" cy="227352"/>
            <a:chOff x="0" y="0"/>
            <a:chExt cx="8109052" cy="3031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09054" cy="303142"/>
            </a:xfrm>
            <a:custGeom>
              <a:avLst/>
              <a:gdLst/>
              <a:ahLst/>
              <a:cxnLst/>
              <a:rect r="r" b="b" t="t" l="l"/>
              <a:pathLst>
                <a:path h="303142" w="8109054">
                  <a:moveTo>
                    <a:pt x="0" y="0"/>
                  </a:moveTo>
                  <a:lnTo>
                    <a:pt x="8109054" y="0"/>
                  </a:lnTo>
                  <a:lnTo>
                    <a:pt x="8109054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225" r="0" b="-47122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8109052" cy="3221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34D39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Critical optimization for embedded systems with limited memory resources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7518416" y="2044275"/>
            <a:ext cx="10200818" cy="3920090"/>
          </a:xfrm>
          <a:custGeom>
            <a:avLst/>
            <a:gdLst/>
            <a:ahLst/>
            <a:cxnLst/>
            <a:rect r="r" b="b" t="t" l="l"/>
            <a:pathLst>
              <a:path h="3920090" w="10200818">
                <a:moveTo>
                  <a:pt x="0" y="0"/>
                </a:moveTo>
                <a:lnTo>
                  <a:pt x="10200818" y="0"/>
                </a:lnTo>
                <a:lnTo>
                  <a:pt x="10200818" y="3920089"/>
                </a:lnTo>
                <a:lnTo>
                  <a:pt x="0" y="39200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7794603" y="2341778"/>
            <a:ext cx="284197" cy="284197"/>
          </a:xfrm>
          <a:custGeom>
            <a:avLst/>
            <a:gdLst/>
            <a:ahLst/>
            <a:cxnLst/>
            <a:rect r="r" b="b" t="t" l="l"/>
            <a:pathLst>
              <a:path h="284197" w="284197">
                <a:moveTo>
                  <a:pt x="0" y="0"/>
                </a:moveTo>
                <a:lnTo>
                  <a:pt x="284197" y="0"/>
                </a:lnTo>
                <a:lnTo>
                  <a:pt x="284197" y="284198"/>
                </a:lnTo>
                <a:lnTo>
                  <a:pt x="0" y="2841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8284845" y="2284943"/>
            <a:ext cx="2387241" cy="397869"/>
            <a:chOff x="0" y="0"/>
            <a:chExt cx="3182988" cy="5304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182994" cy="530498"/>
            </a:xfrm>
            <a:custGeom>
              <a:avLst/>
              <a:gdLst/>
              <a:ahLst/>
              <a:cxnLst/>
              <a:rect r="r" b="b" t="t" l="l"/>
              <a:pathLst>
                <a:path h="530498" w="3182994">
                  <a:moveTo>
                    <a:pt x="0" y="0"/>
                  </a:moveTo>
                  <a:lnTo>
                    <a:pt x="3182994" y="0"/>
                  </a:lnTo>
                  <a:lnTo>
                    <a:pt x="3182994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0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76200"/>
              <a:ext cx="3182988" cy="606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2"/>
                </a:lnSpc>
              </a:pPr>
              <a:r>
                <a:rPr lang="en-US" sz="2014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15 Semantic Checks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780391" y="2910173"/>
            <a:ext cx="170517" cy="170517"/>
            <a:chOff x="0" y="0"/>
            <a:chExt cx="227355" cy="22735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085906" y="2853328"/>
            <a:ext cx="1847269" cy="284197"/>
            <a:chOff x="0" y="0"/>
            <a:chExt cx="2463025" cy="37893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63030" cy="378928"/>
            </a:xfrm>
            <a:custGeom>
              <a:avLst/>
              <a:gdLst/>
              <a:ahLst/>
              <a:cxnLst/>
              <a:rect r="r" b="b" t="t" l="l"/>
              <a:pathLst>
                <a:path h="378928" w="2463030">
                  <a:moveTo>
                    <a:pt x="0" y="0"/>
                  </a:moveTo>
                  <a:lnTo>
                    <a:pt x="2463030" y="0"/>
                  </a:lnTo>
                  <a:lnTo>
                    <a:pt x="2463030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2463025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Undeclared variable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755594" y="2910173"/>
            <a:ext cx="170517" cy="170517"/>
            <a:chOff x="0" y="0"/>
            <a:chExt cx="227355" cy="22735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061109" y="2853328"/>
            <a:ext cx="1307297" cy="284197"/>
            <a:chOff x="0" y="0"/>
            <a:chExt cx="1743062" cy="37893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743068" cy="378928"/>
            </a:xfrm>
            <a:custGeom>
              <a:avLst/>
              <a:gdLst/>
              <a:ahLst/>
              <a:cxnLst/>
              <a:rect r="r" b="b" t="t" l="l"/>
              <a:pathLst>
                <a:path h="378928" w="1743068">
                  <a:moveTo>
                    <a:pt x="0" y="0"/>
                  </a:moveTo>
                  <a:lnTo>
                    <a:pt x="1743068" y="0"/>
                  </a:lnTo>
                  <a:lnTo>
                    <a:pt x="1743068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30" r="0" b="-3963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743062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Redeclaration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7780391" y="3279619"/>
            <a:ext cx="170517" cy="170517"/>
            <a:chOff x="0" y="0"/>
            <a:chExt cx="227355" cy="22735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8085906" y="3222784"/>
            <a:ext cx="2216725" cy="284197"/>
            <a:chOff x="0" y="0"/>
            <a:chExt cx="2955633" cy="37893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955636" cy="378928"/>
            </a:xfrm>
            <a:custGeom>
              <a:avLst/>
              <a:gdLst/>
              <a:ahLst/>
              <a:cxnLst/>
              <a:rect r="r" b="b" t="t" l="l"/>
              <a:pathLst>
                <a:path h="378928" w="2955636">
                  <a:moveTo>
                    <a:pt x="0" y="0"/>
                  </a:moveTo>
                  <a:lnTo>
                    <a:pt x="2955636" y="0"/>
                  </a:lnTo>
                  <a:lnTo>
                    <a:pt x="2955636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2" r="0" b="-10198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955633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Type mismatch (assign)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755594" y="3279619"/>
            <a:ext cx="170517" cy="170517"/>
            <a:chOff x="0" y="0"/>
            <a:chExt cx="227355" cy="22735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061109" y="3222784"/>
            <a:ext cx="2031997" cy="284197"/>
            <a:chOff x="0" y="0"/>
            <a:chExt cx="2709329" cy="37893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709334" cy="378928"/>
            </a:xfrm>
            <a:custGeom>
              <a:avLst/>
              <a:gdLst/>
              <a:ahLst/>
              <a:cxnLst/>
              <a:rect r="r" b="b" t="t" l="l"/>
              <a:pathLst>
                <a:path h="378928" w="2709334">
                  <a:moveTo>
                    <a:pt x="0" y="0"/>
                  </a:moveTo>
                  <a:lnTo>
                    <a:pt x="2709334" y="0"/>
                  </a:lnTo>
                  <a:lnTo>
                    <a:pt x="2709334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317" r="0" b="-8931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2709329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Type mismatch (arith)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780391" y="3649075"/>
            <a:ext cx="170517" cy="170517"/>
            <a:chOff x="0" y="0"/>
            <a:chExt cx="227355" cy="22735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085906" y="3592239"/>
            <a:ext cx="2074631" cy="284197"/>
            <a:chOff x="0" y="0"/>
            <a:chExt cx="2766174" cy="37893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766172" cy="378928"/>
            </a:xfrm>
            <a:custGeom>
              <a:avLst/>
              <a:gdLst/>
              <a:ahLst/>
              <a:cxnLst/>
              <a:rect r="r" b="b" t="t" l="l"/>
              <a:pathLst>
                <a:path h="378928" w="2766172">
                  <a:moveTo>
                    <a:pt x="0" y="0"/>
                  </a:moveTo>
                  <a:lnTo>
                    <a:pt x="2766172" y="0"/>
                  </a:lnTo>
                  <a:lnTo>
                    <a:pt x="2766172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1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766174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Comparison mismatch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755594" y="3649075"/>
            <a:ext cx="170517" cy="170517"/>
            <a:chOff x="0" y="0"/>
            <a:chExt cx="227355" cy="22735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061109" y="3592239"/>
            <a:ext cx="1719386" cy="284197"/>
            <a:chOff x="0" y="0"/>
            <a:chExt cx="2292515" cy="37893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92512" cy="378928"/>
            </a:xfrm>
            <a:custGeom>
              <a:avLst/>
              <a:gdLst/>
              <a:ahLst/>
              <a:cxnLst/>
              <a:rect r="r" b="b" t="t" l="l"/>
              <a:pathLst>
                <a:path h="378928" w="2292512">
                  <a:moveTo>
                    <a:pt x="0" y="0"/>
                  </a:moveTo>
                  <a:lnTo>
                    <a:pt x="2292512" y="0"/>
                  </a:lnTo>
                  <a:lnTo>
                    <a:pt x="2292512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84" r="0" b="-6788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292515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Equality mismatch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780391" y="4018531"/>
            <a:ext cx="170517" cy="170517"/>
            <a:chOff x="0" y="0"/>
            <a:chExt cx="227355" cy="22735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8085906" y="3961695"/>
            <a:ext cx="1875692" cy="284197"/>
            <a:chOff x="0" y="0"/>
            <a:chExt cx="2500922" cy="37893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500924" cy="378928"/>
            </a:xfrm>
            <a:custGeom>
              <a:avLst/>
              <a:gdLst/>
              <a:ahLst/>
              <a:cxnLst/>
              <a:rect r="r" b="b" t="t" l="l"/>
              <a:pathLst>
                <a:path h="378928" w="2500924">
                  <a:moveTo>
                    <a:pt x="0" y="0"/>
                  </a:moveTo>
                  <a:lnTo>
                    <a:pt x="2500924" y="0"/>
                  </a:lnTo>
                  <a:lnTo>
                    <a:pt x="2500924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0" r="0" b="-78601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500922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Undeclared function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755594" y="4018531"/>
            <a:ext cx="170517" cy="170517"/>
            <a:chOff x="0" y="0"/>
            <a:chExt cx="227355" cy="22735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3061109" y="3961695"/>
            <a:ext cx="1619917" cy="284197"/>
            <a:chOff x="0" y="0"/>
            <a:chExt cx="2159889" cy="37893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59888" cy="378928"/>
            </a:xfrm>
            <a:custGeom>
              <a:avLst/>
              <a:gdLst/>
              <a:ahLst/>
              <a:cxnLst/>
              <a:rect r="r" b="b" t="t" l="l"/>
              <a:pathLst>
                <a:path h="378928" w="2159888">
                  <a:moveTo>
                    <a:pt x="0" y="0"/>
                  </a:moveTo>
                  <a:lnTo>
                    <a:pt x="2159888" y="0"/>
                  </a:lnTo>
                  <a:lnTo>
                    <a:pt x="2159888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064" r="0" b="-61064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2159889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Non-function call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780391" y="4387987"/>
            <a:ext cx="170517" cy="170517"/>
            <a:chOff x="0" y="0"/>
            <a:chExt cx="227355" cy="22735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8085906" y="4331151"/>
            <a:ext cx="1563081" cy="284197"/>
            <a:chOff x="0" y="0"/>
            <a:chExt cx="2084108" cy="37893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084102" cy="378928"/>
            </a:xfrm>
            <a:custGeom>
              <a:avLst/>
              <a:gdLst/>
              <a:ahLst/>
              <a:cxnLst/>
              <a:rect r="r" b="b" t="t" l="l"/>
              <a:pathLst>
                <a:path h="378928" w="2084102">
                  <a:moveTo>
                    <a:pt x="0" y="0"/>
                  </a:moveTo>
                  <a:lnTo>
                    <a:pt x="2084102" y="0"/>
                  </a:lnTo>
                  <a:lnTo>
                    <a:pt x="2084102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084108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Wrong arg count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755594" y="4387987"/>
            <a:ext cx="170517" cy="170517"/>
            <a:chOff x="0" y="0"/>
            <a:chExt cx="227355" cy="227355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3061109" y="4331151"/>
            <a:ext cx="1747809" cy="284197"/>
            <a:chOff x="0" y="0"/>
            <a:chExt cx="2330412" cy="37893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330406" cy="378928"/>
            </a:xfrm>
            <a:custGeom>
              <a:avLst/>
              <a:gdLst/>
              <a:ahLst/>
              <a:cxnLst/>
              <a:rect r="r" b="b" t="t" l="l"/>
              <a:pathLst>
                <a:path h="378928" w="2330406">
                  <a:moveTo>
                    <a:pt x="0" y="0"/>
                  </a:moveTo>
                  <a:lnTo>
                    <a:pt x="2330406" y="0"/>
                  </a:lnTo>
                  <a:lnTo>
                    <a:pt x="2330406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32" r="0" b="-69833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2330412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Arg type mismatch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780391" y="4757442"/>
            <a:ext cx="170517" cy="170517"/>
            <a:chOff x="0" y="0"/>
            <a:chExt cx="227355" cy="22735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8085906" y="4700607"/>
            <a:ext cx="2017786" cy="284197"/>
            <a:chOff x="0" y="0"/>
            <a:chExt cx="2690381" cy="37893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690386" cy="378928"/>
            </a:xfrm>
            <a:custGeom>
              <a:avLst/>
              <a:gdLst/>
              <a:ahLst/>
              <a:cxnLst/>
              <a:rect r="r" b="b" t="t" l="l"/>
              <a:pathLst>
                <a:path h="378928" w="2690386">
                  <a:moveTo>
                    <a:pt x="0" y="0"/>
                  </a:moveTo>
                  <a:lnTo>
                    <a:pt x="2690386" y="0"/>
                  </a:lnTo>
                  <a:lnTo>
                    <a:pt x="2690386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2690381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Return type mismatch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755594" y="4757442"/>
            <a:ext cx="170517" cy="170517"/>
            <a:chOff x="0" y="0"/>
            <a:chExt cx="227355" cy="227355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3061109" y="4700607"/>
            <a:ext cx="1804645" cy="284197"/>
            <a:chOff x="0" y="0"/>
            <a:chExt cx="2406193" cy="37893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406192" cy="378928"/>
            </a:xfrm>
            <a:custGeom>
              <a:avLst/>
              <a:gdLst/>
              <a:ahLst/>
              <a:cxnLst/>
              <a:rect r="r" b="b" t="t" l="l"/>
              <a:pathLst>
                <a:path h="378928" w="2406192">
                  <a:moveTo>
                    <a:pt x="0" y="0"/>
                  </a:moveTo>
                  <a:lnTo>
                    <a:pt x="2406192" y="0"/>
                  </a:lnTo>
                  <a:lnTo>
                    <a:pt x="2406192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29" r="0" b="-7373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2406193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Return outside func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7780391" y="5126898"/>
            <a:ext cx="170517" cy="170517"/>
            <a:chOff x="0" y="0"/>
            <a:chExt cx="227355" cy="22735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8085906" y="5070053"/>
            <a:ext cx="1705175" cy="284197"/>
            <a:chOff x="0" y="0"/>
            <a:chExt cx="2273567" cy="37893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273566" cy="378928"/>
            </a:xfrm>
            <a:custGeom>
              <a:avLst/>
              <a:gdLst/>
              <a:ahLst/>
              <a:cxnLst/>
              <a:rect r="r" b="b" t="t" l="l"/>
              <a:pathLst>
                <a:path h="378928" w="2273566">
                  <a:moveTo>
                    <a:pt x="0" y="0"/>
                  </a:moveTo>
                  <a:lnTo>
                    <a:pt x="2273566" y="0"/>
                  </a:lnTo>
                  <a:lnTo>
                    <a:pt x="2273566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09" r="0" b="-6691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2273567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break outside loop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2755594" y="5126898"/>
            <a:ext cx="170517" cy="170517"/>
            <a:chOff x="0" y="0"/>
            <a:chExt cx="227355" cy="227355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3061109" y="5070053"/>
            <a:ext cx="1975161" cy="284197"/>
            <a:chOff x="0" y="0"/>
            <a:chExt cx="2633548" cy="37893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633548" cy="378928"/>
            </a:xfrm>
            <a:custGeom>
              <a:avLst/>
              <a:gdLst/>
              <a:ahLst/>
              <a:cxnLst/>
              <a:rect r="r" b="b" t="t" l="l"/>
              <a:pathLst>
                <a:path h="378928" w="2633548">
                  <a:moveTo>
                    <a:pt x="0" y="0"/>
                  </a:moveTo>
                  <a:lnTo>
                    <a:pt x="2633548" y="0"/>
                  </a:lnTo>
                  <a:lnTo>
                    <a:pt x="2633548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20" r="0" b="-85421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2633548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continue outside loop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7780391" y="5496354"/>
            <a:ext cx="170517" cy="170517"/>
            <a:chOff x="0" y="0"/>
            <a:chExt cx="227355" cy="227355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27330" cy="227330"/>
            </a:xfrm>
            <a:custGeom>
              <a:avLst/>
              <a:gdLst/>
              <a:ahLst/>
              <a:cxnLst/>
              <a:rect r="r" b="b" t="t" l="l"/>
              <a:pathLst>
                <a:path h="227330" w="227330">
                  <a:moveTo>
                    <a:pt x="113665" y="227330"/>
                  </a:moveTo>
                  <a:cubicBezTo>
                    <a:pt x="176403" y="227330"/>
                    <a:pt x="227330" y="176403"/>
                    <a:pt x="227330" y="113665"/>
                  </a:cubicBezTo>
                  <a:cubicBezTo>
                    <a:pt x="227330" y="50927"/>
                    <a:pt x="176403" y="0"/>
                    <a:pt x="113665" y="0"/>
                  </a:cubicBezTo>
                  <a:cubicBezTo>
                    <a:pt x="50927" y="0"/>
                    <a:pt x="0" y="50927"/>
                    <a:pt x="0" y="113665"/>
                  </a:cubicBezTo>
                  <a:cubicBezTo>
                    <a:pt x="0" y="176403"/>
                    <a:pt x="50927" y="227330"/>
                    <a:pt x="113665" y="227330"/>
                  </a:cubicBezTo>
                  <a:close/>
                  <a:moveTo>
                    <a:pt x="151130" y="94488"/>
                  </a:moveTo>
                  <a:lnTo>
                    <a:pt x="115570" y="151257"/>
                  </a:lnTo>
                  <a:cubicBezTo>
                    <a:pt x="113665" y="154178"/>
                    <a:pt x="110490" y="156083"/>
                    <a:pt x="107061" y="156337"/>
                  </a:cubicBezTo>
                  <a:cubicBezTo>
                    <a:pt x="103632" y="156591"/>
                    <a:pt x="100203" y="154940"/>
                    <a:pt x="98044" y="152019"/>
                  </a:cubicBezTo>
                  <a:lnTo>
                    <a:pt x="76835" y="123571"/>
                  </a:lnTo>
                  <a:cubicBezTo>
                    <a:pt x="73279" y="118872"/>
                    <a:pt x="74295" y="112141"/>
                    <a:pt x="78994" y="108712"/>
                  </a:cubicBezTo>
                  <a:cubicBezTo>
                    <a:pt x="83693" y="105283"/>
                    <a:pt x="90424" y="106172"/>
                    <a:pt x="93853" y="110871"/>
                  </a:cubicBezTo>
                  <a:lnTo>
                    <a:pt x="105791" y="126873"/>
                  </a:lnTo>
                  <a:lnTo>
                    <a:pt x="133096" y="83185"/>
                  </a:lnTo>
                  <a:cubicBezTo>
                    <a:pt x="136144" y="78232"/>
                    <a:pt x="142748" y="76708"/>
                    <a:pt x="147828" y="79756"/>
                  </a:cubicBezTo>
                  <a:cubicBezTo>
                    <a:pt x="152908" y="82804"/>
                    <a:pt x="154305" y="89408"/>
                    <a:pt x="151257" y="9448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8085906" y="5439508"/>
            <a:ext cx="1889903" cy="284197"/>
            <a:chOff x="0" y="0"/>
            <a:chExt cx="2519870" cy="37893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519870" cy="378928"/>
            </a:xfrm>
            <a:custGeom>
              <a:avLst/>
              <a:gdLst/>
              <a:ahLst/>
              <a:cxnLst/>
              <a:rect r="r" b="b" t="t" l="l"/>
              <a:pathLst>
                <a:path h="378928" w="2519870">
                  <a:moveTo>
                    <a:pt x="0" y="0"/>
                  </a:moveTo>
                  <a:lnTo>
                    <a:pt x="2519870" y="0"/>
                  </a:lnTo>
                  <a:lnTo>
                    <a:pt x="2519870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575" r="0" b="-79575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2519870" cy="417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5"/>
                </a:lnSpc>
              </a:pPr>
              <a:r>
                <a:rPr lang="en-US" sz="1566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Unary op type check</a:t>
              </a:r>
            </a:p>
          </p:txBody>
        </p:sp>
      </p:grpSp>
      <p:sp>
        <p:nvSpPr>
          <p:cNvPr name="Freeform 152" id="152"/>
          <p:cNvSpPr/>
          <p:nvPr/>
        </p:nvSpPr>
        <p:spPr>
          <a:xfrm flipH="false" flipV="false" rot="0">
            <a:off x="7518416" y="6131014"/>
            <a:ext cx="10200818" cy="4161653"/>
          </a:xfrm>
          <a:custGeom>
            <a:avLst/>
            <a:gdLst/>
            <a:ahLst/>
            <a:cxnLst/>
            <a:rect r="r" b="b" t="t" l="l"/>
            <a:pathLst>
              <a:path h="4161653" w="10200818">
                <a:moveTo>
                  <a:pt x="0" y="0"/>
                </a:moveTo>
                <a:lnTo>
                  <a:pt x="10200818" y="0"/>
                </a:lnTo>
                <a:lnTo>
                  <a:pt x="10200818" y="4161653"/>
                </a:lnTo>
                <a:lnTo>
                  <a:pt x="0" y="416165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3" id="153"/>
          <p:cNvSpPr/>
          <p:nvPr/>
        </p:nvSpPr>
        <p:spPr>
          <a:xfrm flipH="false" flipV="false" rot="0">
            <a:off x="7776839" y="6428508"/>
            <a:ext cx="319716" cy="284197"/>
          </a:xfrm>
          <a:custGeom>
            <a:avLst/>
            <a:gdLst/>
            <a:ahLst/>
            <a:cxnLst/>
            <a:rect r="r" b="b" t="t" l="l"/>
            <a:pathLst>
              <a:path h="284197" w="319716">
                <a:moveTo>
                  <a:pt x="0" y="0"/>
                </a:moveTo>
                <a:lnTo>
                  <a:pt x="319716" y="0"/>
                </a:lnTo>
                <a:lnTo>
                  <a:pt x="319716" y="284198"/>
                </a:lnTo>
                <a:lnTo>
                  <a:pt x="0" y="28419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4" id="154"/>
          <p:cNvGrpSpPr/>
          <p:nvPr/>
        </p:nvGrpSpPr>
        <p:grpSpPr>
          <a:xfrm rot="0">
            <a:off x="8284845" y="6371673"/>
            <a:ext cx="2202513" cy="397869"/>
            <a:chOff x="0" y="0"/>
            <a:chExt cx="2936684" cy="53049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936690" cy="530498"/>
            </a:xfrm>
            <a:custGeom>
              <a:avLst/>
              <a:gdLst/>
              <a:ahLst/>
              <a:cxnLst/>
              <a:rect r="r" b="b" t="t" l="l"/>
              <a:pathLst>
                <a:path h="530498" w="2936690">
                  <a:moveTo>
                    <a:pt x="0" y="0"/>
                  </a:moveTo>
                  <a:lnTo>
                    <a:pt x="2936690" y="0"/>
                  </a:lnTo>
                  <a:lnTo>
                    <a:pt x="2936690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4" r="0" b="-57862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76200"/>
              <a:ext cx="2936684" cy="606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2"/>
                </a:lnSpc>
              </a:pPr>
              <a:r>
                <a:rPr lang="en-US" sz="2014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TAC IR Generation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7759075" y="6940058"/>
            <a:ext cx="9818970" cy="653653"/>
            <a:chOff x="0" y="0"/>
            <a:chExt cx="13091960" cy="87153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3091954" cy="871534"/>
            </a:xfrm>
            <a:custGeom>
              <a:avLst/>
              <a:gdLst/>
              <a:ahLst/>
              <a:cxnLst/>
              <a:rect r="r" b="b" t="t" l="l"/>
              <a:pathLst>
                <a:path h="871534" w="13091954">
                  <a:moveTo>
                    <a:pt x="0" y="0"/>
                  </a:moveTo>
                  <a:lnTo>
                    <a:pt x="13091954" y="0"/>
                  </a:lnTo>
                  <a:lnTo>
                    <a:pt x="13091954" y="871534"/>
                  </a:lnTo>
                  <a:lnTo>
                    <a:pt x="0" y="871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699" r="0" b="-242699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76200"/>
              <a:ext cx="13091960" cy="947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0"/>
                </a:lnSpc>
              </a:pPr>
              <a:r>
                <a:rPr lang="en-US" sz="1566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Three-Address Code:</a:t>
              </a:r>
              <a:r>
                <a:rPr lang="en-US" sz="1566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industry-standard IR used in GCC and LLVM. Each instruction has at most one operator, two operands, one destination.</a:t>
              </a:r>
            </a:p>
          </p:txBody>
        </p:sp>
      </p:grpSp>
      <p:sp>
        <p:nvSpPr>
          <p:cNvPr name="Freeform 160" id="160"/>
          <p:cNvSpPr/>
          <p:nvPr/>
        </p:nvSpPr>
        <p:spPr>
          <a:xfrm flipH="false" flipV="false" rot="0">
            <a:off x="7757141" y="7755188"/>
            <a:ext cx="9731893" cy="2300173"/>
          </a:xfrm>
          <a:custGeom>
            <a:avLst/>
            <a:gdLst/>
            <a:ahLst/>
            <a:cxnLst/>
            <a:rect r="r" b="b" t="t" l="l"/>
            <a:pathLst>
              <a:path h="2300173" w="9731893">
                <a:moveTo>
                  <a:pt x="0" y="0"/>
                </a:moveTo>
                <a:lnTo>
                  <a:pt x="9731892" y="0"/>
                </a:lnTo>
                <a:lnTo>
                  <a:pt x="9731892" y="2300174"/>
                </a:lnTo>
                <a:lnTo>
                  <a:pt x="0" y="230017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1" id="161"/>
          <p:cNvGrpSpPr/>
          <p:nvPr/>
        </p:nvGrpSpPr>
        <p:grpSpPr>
          <a:xfrm rot="0">
            <a:off x="7940964" y="7939011"/>
            <a:ext cx="9449514" cy="227352"/>
            <a:chOff x="0" y="0"/>
            <a:chExt cx="12599352" cy="30313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2599348" cy="303142"/>
            </a:xfrm>
            <a:custGeom>
              <a:avLst/>
              <a:gdLst/>
              <a:ahLst/>
              <a:cxnLst/>
              <a:rect r="r" b="b" t="t" l="l"/>
              <a:pathLst>
                <a:path h="303142" w="12599348">
                  <a:moveTo>
                    <a:pt x="0" y="0"/>
                  </a:moveTo>
                  <a:lnTo>
                    <a:pt x="12599348" y="0"/>
                  </a:lnTo>
                  <a:lnTo>
                    <a:pt x="12599348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48" r="0" b="-759846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28575"/>
              <a:ext cx="1259935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// if (x &gt; 0) { print(x); } else { print(0); }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7940964" y="8279863"/>
            <a:ext cx="9449514" cy="227352"/>
            <a:chOff x="0" y="0"/>
            <a:chExt cx="12599352" cy="30313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2599348" cy="303142"/>
            </a:xfrm>
            <a:custGeom>
              <a:avLst/>
              <a:gdLst/>
              <a:ahLst/>
              <a:cxnLst/>
              <a:rect r="r" b="b" t="t" l="l"/>
              <a:pathLst>
                <a:path h="303142" w="12599348">
                  <a:moveTo>
                    <a:pt x="0" y="0"/>
                  </a:moveTo>
                  <a:lnTo>
                    <a:pt x="12599348" y="0"/>
                  </a:lnTo>
                  <a:lnTo>
                    <a:pt x="12599348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48" r="0" b="-75984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28575"/>
              <a:ext cx="1259935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000: </a:t>
              </a:r>
              <a:r>
                <a:rPr lang="en-US" sz="134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t1 = x GT 0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7940964" y="8507054"/>
            <a:ext cx="9449514" cy="227352"/>
            <a:chOff x="0" y="0"/>
            <a:chExt cx="12599352" cy="30313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2599348" cy="303142"/>
            </a:xfrm>
            <a:custGeom>
              <a:avLst/>
              <a:gdLst/>
              <a:ahLst/>
              <a:cxnLst/>
              <a:rect r="r" b="b" t="t" l="l"/>
              <a:pathLst>
                <a:path h="303142" w="12599348">
                  <a:moveTo>
                    <a:pt x="0" y="0"/>
                  </a:moveTo>
                  <a:lnTo>
                    <a:pt x="12599348" y="0"/>
                  </a:lnTo>
                  <a:lnTo>
                    <a:pt x="12599348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48" r="0" b="-759846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28575"/>
              <a:ext cx="1259935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001: </a:t>
              </a:r>
              <a:r>
                <a:rPr lang="en-US" sz="1342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IF_FALSE</a:t>
              </a:r>
              <a:r>
                <a:rPr lang="en-US" sz="134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t1 GOTO else1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7940964" y="8734225"/>
            <a:ext cx="9449514" cy="227352"/>
            <a:chOff x="0" y="0"/>
            <a:chExt cx="12599352" cy="30313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2599348" cy="303142"/>
            </a:xfrm>
            <a:custGeom>
              <a:avLst/>
              <a:gdLst/>
              <a:ahLst/>
              <a:cxnLst/>
              <a:rect r="r" b="b" t="t" l="l"/>
              <a:pathLst>
                <a:path h="303142" w="12599348">
                  <a:moveTo>
                    <a:pt x="0" y="0"/>
                  </a:moveTo>
                  <a:lnTo>
                    <a:pt x="12599348" y="0"/>
                  </a:lnTo>
                  <a:lnTo>
                    <a:pt x="12599348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48" r="0" b="-759846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28575"/>
              <a:ext cx="1259935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002: </a:t>
              </a:r>
              <a:r>
                <a:rPr lang="en-US" sz="1342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PRINT</a:t>
              </a:r>
              <a:r>
                <a:rPr lang="en-US" sz="134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x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7940964" y="8961406"/>
            <a:ext cx="9449514" cy="227352"/>
            <a:chOff x="0" y="0"/>
            <a:chExt cx="12599352" cy="30313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2599348" cy="303142"/>
            </a:xfrm>
            <a:custGeom>
              <a:avLst/>
              <a:gdLst/>
              <a:ahLst/>
              <a:cxnLst/>
              <a:rect r="r" b="b" t="t" l="l"/>
              <a:pathLst>
                <a:path h="303142" w="12599348">
                  <a:moveTo>
                    <a:pt x="0" y="0"/>
                  </a:moveTo>
                  <a:lnTo>
                    <a:pt x="12599348" y="0"/>
                  </a:lnTo>
                  <a:lnTo>
                    <a:pt x="12599348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48" r="0" b="-759846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28575"/>
              <a:ext cx="1259935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003: </a:t>
              </a:r>
              <a:r>
                <a:rPr lang="en-US" sz="1342">
                  <a:solidFill>
                    <a:srgbClr val="F472B6"/>
                  </a:solidFill>
                  <a:latin typeface="Arimo"/>
                  <a:ea typeface="Arimo"/>
                  <a:cs typeface="Arimo"/>
                  <a:sym typeface="Arimo"/>
                </a:rPr>
                <a:t>GOTO</a:t>
              </a:r>
              <a:r>
                <a:rPr lang="en-US" sz="1342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endif2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7940964" y="9188587"/>
            <a:ext cx="9449514" cy="227352"/>
            <a:chOff x="0" y="0"/>
            <a:chExt cx="12599352" cy="30313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2599348" cy="303142"/>
            </a:xfrm>
            <a:custGeom>
              <a:avLst/>
              <a:gdLst/>
              <a:ahLst/>
              <a:cxnLst/>
              <a:rect r="r" b="b" t="t" l="l"/>
              <a:pathLst>
                <a:path h="303142" w="12599348">
                  <a:moveTo>
                    <a:pt x="0" y="0"/>
                  </a:moveTo>
                  <a:lnTo>
                    <a:pt x="12599348" y="0"/>
                  </a:lnTo>
                  <a:lnTo>
                    <a:pt x="12599348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48" r="0" b="-759846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28575"/>
              <a:ext cx="1259935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004: </a:t>
              </a:r>
              <a:r>
                <a:rPr lang="en-US" sz="1342">
                  <a:solidFill>
                    <a:srgbClr val="34D399"/>
                  </a:solidFill>
                  <a:latin typeface="Arimo"/>
                  <a:ea typeface="Arimo"/>
                  <a:cs typeface="Arimo"/>
                  <a:sym typeface="Arimo"/>
                </a:rPr>
                <a:t>else1: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7940964" y="9415758"/>
            <a:ext cx="9449514" cy="227352"/>
            <a:chOff x="0" y="0"/>
            <a:chExt cx="12599352" cy="30313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2599348" cy="303142"/>
            </a:xfrm>
            <a:custGeom>
              <a:avLst/>
              <a:gdLst/>
              <a:ahLst/>
              <a:cxnLst/>
              <a:rect r="r" b="b" t="t" l="l"/>
              <a:pathLst>
                <a:path h="303142" w="12599348">
                  <a:moveTo>
                    <a:pt x="0" y="0"/>
                  </a:moveTo>
                  <a:lnTo>
                    <a:pt x="12599348" y="0"/>
                  </a:lnTo>
                  <a:lnTo>
                    <a:pt x="12599348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48" r="0" b="-759846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28575"/>
              <a:ext cx="1259935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005: </a:t>
              </a:r>
              <a:r>
                <a:rPr lang="en-US" sz="1342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PRINT</a:t>
              </a:r>
              <a:r>
                <a:rPr lang="en-US" sz="1342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0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7940964" y="9642948"/>
            <a:ext cx="9449514" cy="227352"/>
            <a:chOff x="0" y="0"/>
            <a:chExt cx="12599352" cy="303136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2599348" cy="303142"/>
            </a:xfrm>
            <a:custGeom>
              <a:avLst/>
              <a:gdLst/>
              <a:ahLst/>
              <a:cxnLst/>
              <a:rect r="r" b="b" t="t" l="l"/>
              <a:pathLst>
                <a:path h="303142" w="12599348">
                  <a:moveTo>
                    <a:pt x="0" y="0"/>
                  </a:moveTo>
                  <a:lnTo>
                    <a:pt x="12599348" y="0"/>
                  </a:lnTo>
                  <a:lnTo>
                    <a:pt x="12599348" y="303142"/>
                  </a:lnTo>
                  <a:lnTo>
                    <a:pt x="0" y="30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848" r="0" b="-759846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28575"/>
              <a:ext cx="12599352" cy="331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2"/>
                </a:lnSpc>
              </a:pPr>
              <a:r>
                <a:rPr lang="en-US" sz="1342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006: </a:t>
              </a:r>
              <a:r>
                <a:rPr lang="en-US" sz="1342">
                  <a:solidFill>
                    <a:srgbClr val="34D399"/>
                  </a:solidFill>
                  <a:latin typeface="Arimo"/>
                  <a:ea typeface="Arimo"/>
                  <a:cs typeface="Arimo"/>
                  <a:sym typeface="Arimo"/>
                </a:rPr>
                <a:t>endif2: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45012" cy="285750"/>
            <a:chOff x="0" y="0"/>
            <a:chExt cx="229933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Implementation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9144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Code Generation &amp; Virtual Machine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1543050"/>
            <a:ext cx="17259300" cy="342900"/>
            <a:chOff x="0" y="0"/>
            <a:chExt cx="2301240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3012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Phase 5-6: Assembly &amp; VM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9595" y="2055495"/>
            <a:ext cx="8456295" cy="7984807"/>
          </a:xfrm>
          <a:custGeom>
            <a:avLst/>
            <a:gdLst/>
            <a:ahLst/>
            <a:cxnLst/>
            <a:rect r="r" b="b" t="t" l="l"/>
            <a:pathLst>
              <a:path h="7984807" w="8456295">
                <a:moveTo>
                  <a:pt x="0" y="0"/>
                </a:moveTo>
                <a:lnTo>
                  <a:pt x="8456295" y="0"/>
                </a:lnTo>
                <a:lnTo>
                  <a:pt x="8456295" y="7984807"/>
                </a:lnTo>
                <a:lnTo>
                  <a:pt x="0" y="7984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11530" y="2354580"/>
            <a:ext cx="571500" cy="571500"/>
            <a:chOff x="0" y="0"/>
            <a:chExt cx="762000" cy="76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472B6">
                <a:alpha val="78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14946" y="2440305"/>
            <a:ext cx="314325" cy="400050"/>
            <a:chOff x="0" y="0"/>
            <a:chExt cx="41910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91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191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472B6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4480" y="2297430"/>
            <a:ext cx="2428875" cy="400050"/>
            <a:chOff x="0" y="0"/>
            <a:chExt cx="323850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38500" cy="533400"/>
            </a:xfrm>
            <a:custGeom>
              <a:avLst/>
              <a:gdLst/>
              <a:ahLst/>
              <a:cxnLst/>
              <a:rect r="r" b="b" t="t" l="l"/>
              <a:pathLst>
                <a:path h="533400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3238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Assembly Generator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4480" y="2697480"/>
            <a:ext cx="2400300" cy="285750"/>
            <a:chOff x="0" y="0"/>
            <a:chExt cx="3200400" cy="38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00400" cy="381000"/>
            </a:xfrm>
            <a:custGeom>
              <a:avLst/>
              <a:gdLst/>
              <a:ahLst/>
              <a:cxnLst/>
              <a:rect r="r" b="b" t="t" l="l"/>
              <a:pathLst>
                <a:path h="3810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2004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Code Generation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1530" y="3154680"/>
            <a:ext cx="8072438" cy="657225"/>
            <a:chOff x="0" y="0"/>
            <a:chExt cx="10763250" cy="8763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63250" cy="876300"/>
            </a:xfrm>
            <a:custGeom>
              <a:avLst/>
              <a:gdLst/>
              <a:ahLst/>
              <a:cxnLst/>
              <a:rect r="r" b="b" t="t" l="l"/>
              <a:pathLst>
                <a:path h="8763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27" r="0" b="-1893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076325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Translates TAC IR to </a:t>
              </a:r>
              <a:r>
                <a:rPr lang="en-US" sz="1575" b="true">
                  <a:solidFill>
                    <a:srgbClr val="F472B6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x86-64 pseudo-assembly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. Educational reference output demonstrates mapping from IR to hardware instructions.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54393" y="4033361"/>
            <a:ext cx="200025" cy="228600"/>
            <a:chOff x="0" y="0"/>
            <a:chExt cx="266700" cy="304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1580" y="3976211"/>
            <a:ext cx="3600450" cy="285750"/>
            <a:chOff x="0" y="0"/>
            <a:chExt cx="4800600" cy="38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00600" cy="381000"/>
            </a:xfrm>
            <a:custGeom>
              <a:avLst/>
              <a:gdLst/>
              <a:ahLst/>
              <a:cxnLst/>
              <a:rect r="r" b="b" t="t" l="l"/>
              <a:pathLst>
                <a:path h="38100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511" r="0" b="-19551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8006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Label/Function Maps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1580" y="4261961"/>
            <a:ext cx="3586162" cy="228600"/>
            <a:chOff x="0" y="0"/>
            <a:chExt cx="4781550" cy="304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81550" cy="304800"/>
            </a:xfrm>
            <a:custGeom>
              <a:avLst/>
              <a:gdLst/>
              <a:ahLst/>
              <a:cxnLst/>
              <a:rect r="r" b="b" t="t" l="l"/>
              <a:pathLst>
                <a:path h="3048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671" r="0" b="-25567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7815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Built at startup for O(1) jump and call resolution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54393" y="4661830"/>
            <a:ext cx="200025" cy="228600"/>
            <a:chOff x="0" y="0"/>
            <a:chExt cx="266700" cy="304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11580" y="4604680"/>
            <a:ext cx="3957638" cy="285750"/>
            <a:chOff x="0" y="0"/>
            <a:chExt cx="5276850" cy="381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76850" cy="381000"/>
            </a:xfrm>
            <a:custGeom>
              <a:avLst/>
              <a:gdLst/>
              <a:ahLst/>
              <a:cxnLst/>
              <a:rect r="r" b="b" t="t" l="l"/>
              <a:pathLst>
                <a:path h="381000" w="5276850">
                  <a:moveTo>
                    <a:pt x="0" y="0"/>
                  </a:moveTo>
                  <a:lnTo>
                    <a:pt x="5276850" y="0"/>
                  </a:lnTo>
                  <a:lnTo>
                    <a:pt x="5276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67" r="0" b="-21986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276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Call Stack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1580" y="4890430"/>
            <a:ext cx="3943350" cy="228600"/>
            <a:chOff x="0" y="0"/>
            <a:chExt cx="5257800" cy="304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57800" cy="304800"/>
            </a:xfrm>
            <a:custGeom>
              <a:avLst/>
              <a:gdLst/>
              <a:ahLst/>
              <a:cxnLst/>
              <a:rect r="r" b="b" t="t" l="l"/>
              <a:pathLst>
                <a:path h="3048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16" r="0" b="-28611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2578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Supports nested and recursive function invocations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809625" y="5288394"/>
            <a:ext cx="7984807" cy="2769870"/>
          </a:xfrm>
          <a:custGeom>
            <a:avLst/>
            <a:gdLst/>
            <a:ahLst/>
            <a:cxnLst/>
            <a:rect r="r" b="b" t="t" l="l"/>
            <a:pathLst>
              <a:path h="2769870" w="7984807">
                <a:moveTo>
                  <a:pt x="0" y="0"/>
                </a:moveTo>
                <a:lnTo>
                  <a:pt x="7984807" y="0"/>
                </a:lnTo>
                <a:lnTo>
                  <a:pt x="7984807" y="2769870"/>
                </a:lnTo>
                <a:lnTo>
                  <a:pt x="0" y="2769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994410" y="5473189"/>
            <a:ext cx="7700962" cy="228600"/>
            <a:chOff x="0" y="0"/>
            <a:chExt cx="10267950" cy="304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0267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// Key Assembly Patterns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94410" y="5815908"/>
            <a:ext cx="7700962" cy="228600"/>
            <a:chOff x="0" y="0"/>
            <a:chExt cx="10267950" cy="304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0267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// ASSIGN: x = 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94410" y="6101477"/>
            <a:ext cx="7700962" cy="228600"/>
            <a:chOff x="0" y="0"/>
            <a:chExt cx="10267950" cy="304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0267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mov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rax</a:t>
              </a: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, </a:t>
              </a:r>
              <a:r>
                <a:rPr lang="en-US" sz="1350">
                  <a:solidFill>
                    <a:srgbClr val="FB923C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94410" y="6329896"/>
            <a:ext cx="7700962" cy="228600"/>
            <a:chOff x="0" y="0"/>
            <a:chExt cx="10267950" cy="304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0267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mov</a:t>
              </a: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 [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rbp</a:t>
              </a: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-8], 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rax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94410" y="6672615"/>
            <a:ext cx="7700962" cy="228600"/>
            <a:chOff x="0" y="0"/>
            <a:chExt cx="10267950" cy="304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10267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// ADD: t1 = x + 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94410" y="6958193"/>
            <a:ext cx="7700962" cy="228600"/>
            <a:chOff x="0" y="0"/>
            <a:chExt cx="10267950" cy="304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0267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mov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rax</a:t>
              </a: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, [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rbp</a:t>
              </a: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-8]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94410" y="7186612"/>
            <a:ext cx="7700962" cy="228600"/>
            <a:chOff x="0" y="0"/>
            <a:chExt cx="10267950" cy="304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267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mov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rbx</a:t>
              </a: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, [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rbp</a:t>
              </a: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-16]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94410" y="7415041"/>
            <a:ext cx="7700962" cy="228600"/>
            <a:chOff x="0" y="0"/>
            <a:chExt cx="10267950" cy="304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267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add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rax</a:t>
              </a: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, 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rbx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94410" y="7643460"/>
            <a:ext cx="7700962" cy="228600"/>
            <a:chOff x="0" y="0"/>
            <a:chExt cx="10267950" cy="304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0267950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78BFA"/>
                  </a:solidFill>
                  <a:latin typeface="Arimo"/>
                  <a:ea typeface="Arimo"/>
                  <a:cs typeface="Arimo"/>
                  <a:sym typeface="Arimo"/>
                </a:rPr>
                <a:t>mov</a:t>
              </a: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 [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rbp</a:t>
              </a:r>
              <a:r>
                <a:rPr lang="en-US" sz="1350">
                  <a:solidFill>
                    <a:srgbClr val="F1F5F9"/>
                  </a:solidFill>
                  <a:latin typeface="Arimo"/>
                  <a:ea typeface="Arimo"/>
                  <a:cs typeface="Arimo"/>
                  <a:sym typeface="Arimo"/>
                </a:rPr>
                <a:t>-24], </a:t>
              </a:r>
              <a:r>
                <a:rPr lang="en-US" sz="1350">
                  <a:solidFill>
                    <a:srgbClr val="22D3EE"/>
                  </a:solidFill>
                  <a:latin typeface="Arimo"/>
                  <a:ea typeface="Arimo"/>
                  <a:cs typeface="Arimo"/>
                  <a:sym typeface="Arimo"/>
                </a:rPr>
                <a:t>rax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9256395" y="2055495"/>
            <a:ext cx="8456295" cy="5670232"/>
          </a:xfrm>
          <a:custGeom>
            <a:avLst/>
            <a:gdLst/>
            <a:ahLst/>
            <a:cxnLst/>
            <a:rect r="r" b="b" t="t" l="l"/>
            <a:pathLst>
              <a:path h="5670232" w="8456295">
                <a:moveTo>
                  <a:pt x="0" y="0"/>
                </a:moveTo>
                <a:lnTo>
                  <a:pt x="8456295" y="0"/>
                </a:lnTo>
                <a:lnTo>
                  <a:pt x="8456295" y="5670233"/>
                </a:lnTo>
                <a:lnTo>
                  <a:pt x="0" y="56702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9498330" y="2354580"/>
            <a:ext cx="571500" cy="571500"/>
            <a:chOff x="0" y="0"/>
            <a:chExt cx="762000" cy="762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2D3EE">
                <a:alpha val="784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698536" y="2440305"/>
            <a:ext cx="314325" cy="400050"/>
            <a:chOff x="0" y="0"/>
            <a:chExt cx="419100" cy="533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191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295" t="0" r="-113295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4191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6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241280" y="2297430"/>
            <a:ext cx="1900238" cy="400050"/>
            <a:chOff x="0" y="0"/>
            <a:chExt cx="2533650" cy="533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533650" cy="533400"/>
            </a:xfrm>
            <a:custGeom>
              <a:avLst/>
              <a:gdLst/>
              <a:ahLst/>
              <a:cxnLst/>
              <a:rect r="r" b="b" t="t" l="l"/>
              <a:pathLst>
                <a:path h="533400" w="2533650">
                  <a:moveTo>
                    <a:pt x="0" y="0"/>
                  </a:moveTo>
                  <a:lnTo>
                    <a:pt x="2533650" y="0"/>
                  </a:lnTo>
                  <a:lnTo>
                    <a:pt x="2533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25336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Virtual Machine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241280" y="2697480"/>
            <a:ext cx="1871662" cy="285750"/>
            <a:chOff x="0" y="0"/>
            <a:chExt cx="2495550" cy="381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95550" cy="381000"/>
            </a:xfrm>
            <a:custGeom>
              <a:avLst/>
              <a:gdLst/>
              <a:ahLst/>
              <a:cxnLst/>
              <a:rect r="r" b="b" t="t" l="l"/>
              <a:pathLst>
                <a:path h="38100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627" r="0" b="-7762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24955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Execution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498330" y="3154680"/>
            <a:ext cx="8072438" cy="328612"/>
            <a:chOff x="0" y="0"/>
            <a:chExt cx="10763250" cy="43815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763250" cy="438150"/>
            </a:xfrm>
            <a:custGeom>
              <a:avLst/>
              <a:gdLst/>
              <a:ahLst/>
              <a:cxnLst/>
              <a:rect r="r" b="b" t="t" l="l"/>
              <a:pathLst>
                <a:path h="4381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654" r="0" b="-42865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76200"/>
              <a:ext cx="1076325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In-memory IR interpreter with </a:t>
              </a:r>
              <a:r>
                <a:rPr lang="en-US" sz="1575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O(1) jump resolution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and full function call support.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9496425" y="3649275"/>
            <a:ext cx="3941445" cy="883920"/>
          </a:xfrm>
          <a:custGeom>
            <a:avLst/>
            <a:gdLst/>
            <a:ahLst/>
            <a:cxnLst/>
            <a:rect r="r" b="b" t="t" l="l"/>
            <a:pathLst>
              <a:path h="883920" w="3941445">
                <a:moveTo>
                  <a:pt x="0" y="0"/>
                </a:moveTo>
                <a:lnTo>
                  <a:pt x="3941445" y="0"/>
                </a:lnTo>
                <a:lnTo>
                  <a:pt x="3941445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9559766" y="3776901"/>
            <a:ext cx="3814762" cy="400050"/>
            <a:chOff x="0" y="0"/>
            <a:chExt cx="5086350" cy="533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086350" cy="533400"/>
            </a:xfrm>
            <a:custGeom>
              <a:avLst/>
              <a:gdLst/>
              <a:ahLst/>
              <a:cxnLst/>
              <a:rect r="r" b="b" t="t" l="l"/>
              <a:pathLst>
                <a:path h="533400" w="5086350">
                  <a:moveTo>
                    <a:pt x="0" y="0"/>
                  </a:moveTo>
                  <a:lnTo>
                    <a:pt x="5086350" y="0"/>
                  </a:lnTo>
                  <a:lnTo>
                    <a:pt x="5086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03" r="0" b="-13580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76200"/>
              <a:ext cx="50863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sz="2025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O(1)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81198" y="4176951"/>
            <a:ext cx="3771900" cy="228600"/>
            <a:chOff x="0" y="0"/>
            <a:chExt cx="5029200" cy="304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0292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50292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Jumps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13542645" y="3649275"/>
            <a:ext cx="3941445" cy="883920"/>
          </a:xfrm>
          <a:custGeom>
            <a:avLst/>
            <a:gdLst/>
            <a:ahLst/>
            <a:cxnLst/>
            <a:rect r="r" b="b" t="t" l="l"/>
            <a:pathLst>
              <a:path h="883920" w="3941445">
                <a:moveTo>
                  <a:pt x="0" y="0"/>
                </a:moveTo>
                <a:lnTo>
                  <a:pt x="3941445" y="0"/>
                </a:lnTo>
                <a:lnTo>
                  <a:pt x="3941445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13605986" y="3776901"/>
            <a:ext cx="3814762" cy="400050"/>
            <a:chOff x="0" y="0"/>
            <a:chExt cx="5086350" cy="533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086350" cy="533400"/>
            </a:xfrm>
            <a:custGeom>
              <a:avLst/>
              <a:gdLst/>
              <a:ahLst/>
              <a:cxnLst/>
              <a:rect r="r" b="b" t="t" l="l"/>
              <a:pathLst>
                <a:path h="533400" w="5086350">
                  <a:moveTo>
                    <a:pt x="0" y="0"/>
                  </a:moveTo>
                  <a:lnTo>
                    <a:pt x="5086350" y="0"/>
                  </a:lnTo>
                  <a:lnTo>
                    <a:pt x="5086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03" r="0" b="-135803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76200"/>
              <a:ext cx="50863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sz="2025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Call Stack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627418" y="4176951"/>
            <a:ext cx="3771900" cy="228600"/>
            <a:chOff x="0" y="0"/>
            <a:chExt cx="5029200" cy="304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0292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50292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Recursion</a:t>
              </a: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9496425" y="4643504"/>
            <a:ext cx="3941445" cy="883920"/>
          </a:xfrm>
          <a:custGeom>
            <a:avLst/>
            <a:gdLst/>
            <a:ahLst/>
            <a:cxnLst/>
            <a:rect r="r" b="b" t="t" l="l"/>
            <a:pathLst>
              <a:path h="883920" w="3941445">
                <a:moveTo>
                  <a:pt x="0" y="0"/>
                </a:moveTo>
                <a:lnTo>
                  <a:pt x="3941445" y="0"/>
                </a:lnTo>
                <a:lnTo>
                  <a:pt x="3941445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9559766" y="4771130"/>
            <a:ext cx="3814762" cy="400050"/>
            <a:chOff x="0" y="0"/>
            <a:chExt cx="5086350" cy="5334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086350" cy="533400"/>
            </a:xfrm>
            <a:custGeom>
              <a:avLst/>
              <a:gdLst/>
              <a:ahLst/>
              <a:cxnLst/>
              <a:rect r="r" b="b" t="t" l="l"/>
              <a:pathLst>
                <a:path h="533400" w="5086350">
                  <a:moveTo>
                    <a:pt x="0" y="0"/>
                  </a:moveTo>
                  <a:lnTo>
                    <a:pt x="5086350" y="0"/>
                  </a:lnTo>
                  <a:lnTo>
                    <a:pt x="5086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03" r="0" b="-13580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76200"/>
              <a:ext cx="50863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sz="2025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500K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581198" y="5171180"/>
            <a:ext cx="3771900" cy="228600"/>
            <a:chOff x="0" y="0"/>
            <a:chExt cx="5029200" cy="3048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0292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50292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Step Limit</a:t>
              </a:r>
            </a:p>
          </p:txBody>
        </p:sp>
      </p:grpSp>
      <p:sp>
        <p:nvSpPr>
          <p:cNvPr name="Freeform 106" id="106"/>
          <p:cNvSpPr/>
          <p:nvPr/>
        </p:nvSpPr>
        <p:spPr>
          <a:xfrm flipH="false" flipV="false" rot="0">
            <a:off x="13542645" y="4643504"/>
            <a:ext cx="3941445" cy="883920"/>
          </a:xfrm>
          <a:custGeom>
            <a:avLst/>
            <a:gdLst/>
            <a:ahLst/>
            <a:cxnLst/>
            <a:rect r="r" b="b" t="t" l="l"/>
            <a:pathLst>
              <a:path h="883920" w="3941445">
                <a:moveTo>
                  <a:pt x="0" y="0"/>
                </a:moveTo>
                <a:lnTo>
                  <a:pt x="3941445" y="0"/>
                </a:lnTo>
                <a:lnTo>
                  <a:pt x="3941445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13605986" y="4771130"/>
            <a:ext cx="3814762" cy="400050"/>
            <a:chOff x="0" y="0"/>
            <a:chExt cx="5086350" cy="533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086350" cy="533400"/>
            </a:xfrm>
            <a:custGeom>
              <a:avLst/>
              <a:gdLst/>
              <a:ahLst/>
              <a:cxnLst/>
              <a:rect r="r" b="b" t="t" l="l"/>
              <a:pathLst>
                <a:path h="533400" w="5086350">
                  <a:moveTo>
                    <a:pt x="0" y="0"/>
                  </a:moveTo>
                  <a:lnTo>
                    <a:pt x="5086350" y="0"/>
                  </a:lnTo>
                  <a:lnTo>
                    <a:pt x="5086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03" r="0" b="-13580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76200"/>
              <a:ext cx="50863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sz="2025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&lt; 4ms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627418" y="5171180"/>
            <a:ext cx="3771900" cy="228600"/>
            <a:chOff x="0" y="0"/>
            <a:chExt cx="5029200" cy="3048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0292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50292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Execution</a:t>
              </a:r>
            </a:p>
          </p:txBody>
        </p:sp>
      </p:grpSp>
      <p:sp>
        <p:nvSpPr>
          <p:cNvPr name="Freeform 113" id="113"/>
          <p:cNvSpPr/>
          <p:nvPr/>
        </p:nvSpPr>
        <p:spPr>
          <a:xfrm flipH="false" flipV="false" rot="0">
            <a:off x="9496425" y="5694883"/>
            <a:ext cx="7984807" cy="1798320"/>
          </a:xfrm>
          <a:custGeom>
            <a:avLst/>
            <a:gdLst/>
            <a:ahLst/>
            <a:cxnLst/>
            <a:rect r="r" b="b" t="t" l="l"/>
            <a:pathLst>
              <a:path h="1798320" w="7984807">
                <a:moveTo>
                  <a:pt x="0" y="0"/>
                </a:moveTo>
                <a:lnTo>
                  <a:pt x="7984807" y="0"/>
                </a:lnTo>
                <a:lnTo>
                  <a:pt x="7984807" y="1798320"/>
                </a:lnTo>
                <a:lnTo>
                  <a:pt x="0" y="17983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9681210" y="5879659"/>
            <a:ext cx="7700962" cy="228600"/>
            <a:chOff x="0" y="0"/>
            <a:chExt cx="10267950" cy="304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0267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402" r="0" b="-606402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102679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22D3EE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VM Features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713357" y="6250781"/>
            <a:ext cx="150019" cy="171450"/>
            <a:chOff x="0" y="0"/>
            <a:chExt cx="200025" cy="2286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127" y="28500"/>
              <a:ext cx="199973" cy="185679"/>
            </a:xfrm>
            <a:custGeom>
              <a:avLst/>
              <a:gdLst/>
              <a:ahLst/>
              <a:cxnLst/>
              <a:rect r="r" b="b" t="t" l="l"/>
              <a:pathLst>
                <a:path h="185679" w="199973">
                  <a:moveTo>
                    <a:pt x="194056" y="2742"/>
                  </a:moveTo>
                  <a:cubicBezTo>
                    <a:pt x="200406" y="7441"/>
                    <a:pt x="201930" y="16331"/>
                    <a:pt x="197231" y="22681"/>
                  </a:cubicBezTo>
                  <a:lnTo>
                    <a:pt x="82931" y="179780"/>
                  </a:lnTo>
                  <a:cubicBezTo>
                    <a:pt x="80518" y="183209"/>
                    <a:pt x="76708" y="185241"/>
                    <a:pt x="72517" y="185622"/>
                  </a:cubicBezTo>
                  <a:cubicBezTo>
                    <a:pt x="68326" y="186003"/>
                    <a:pt x="64262" y="184479"/>
                    <a:pt x="61341" y="181431"/>
                  </a:cubicBezTo>
                  <a:lnTo>
                    <a:pt x="4191" y="124281"/>
                  </a:lnTo>
                  <a:cubicBezTo>
                    <a:pt x="-1397" y="118693"/>
                    <a:pt x="-1397" y="109676"/>
                    <a:pt x="4191" y="104088"/>
                  </a:cubicBezTo>
                  <a:cubicBezTo>
                    <a:pt x="9779" y="98500"/>
                    <a:pt x="18796" y="98500"/>
                    <a:pt x="24384" y="104088"/>
                  </a:cubicBezTo>
                  <a:lnTo>
                    <a:pt x="69723" y="149427"/>
                  </a:lnTo>
                  <a:lnTo>
                    <a:pt x="174117" y="5917"/>
                  </a:lnTo>
                  <a:cubicBezTo>
                    <a:pt x="178816" y="-433"/>
                    <a:pt x="187706" y="-1957"/>
                    <a:pt x="194056" y="2742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0009822" y="6222387"/>
            <a:ext cx="2957512" cy="228600"/>
            <a:chOff x="0" y="0"/>
            <a:chExt cx="3943350" cy="3048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943350" cy="304800"/>
            </a:xfrm>
            <a:custGeom>
              <a:avLst/>
              <a:gdLst/>
              <a:ahLst/>
              <a:cxnLst/>
              <a:rect r="r" b="b" t="t" l="l"/>
              <a:pathLst>
                <a:path h="304800" w="3943350">
                  <a:moveTo>
                    <a:pt x="0" y="0"/>
                  </a:moveTo>
                  <a:lnTo>
                    <a:pt x="3943350" y="0"/>
                  </a:lnTo>
                  <a:lnTo>
                    <a:pt x="39433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087" r="0" b="-202087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39433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Label/function map for O(1) resolution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713357" y="6536360"/>
            <a:ext cx="150019" cy="171450"/>
            <a:chOff x="0" y="0"/>
            <a:chExt cx="200025" cy="2286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27" y="28500"/>
              <a:ext cx="199973" cy="185679"/>
            </a:xfrm>
            <a:custGeom>
              <a:avLst/>
              <a:gdLst/>
              <a:ahLst/>
              <a:cxnLst/>
              <a:rect r="r" b="b" t="t" l="l"/>
              <a:pathLst>
                <a:path h="185679" w="199973">
                  <a:moveTo>
                    <a:pt x="194056" y="2742"/>
                  </a:moveTo>
                  <a:cubicBezTo>
                    <a:pt x="200406" y="7441"/>
                    <a:pt x="201930" y="16331"/>
                    <a:pt x="197231" y="22681"/>
                  </a:cubicBezTo>
                  <a:lnTo>
                    <a:pt x="82931" y="179780"/>
                  </a:lnTo>
                  <a:cubicBezTo>
                    <a:pt x="80518" y="183209"/>
                    <a:pt x="76708" y="185241"/>
                    <a:pt x="72517" y="185622"/>
                  </a:cubicBezTo>
                  <a:cubicBezTo>
                    <a:pt x="68326" y="186003"/>
                    <a:pt x="64262" y="184479"/>
                    <a:pt x="61341" y="181431"/>
                  </a:cubicBezTo>
                  <a:lnTo>
                    <a:pt x="4191" y="124281"/>
                  </a:lnTo>
                  <a:cubicBezTo>
                    <a:pt x="-1397" y="118693"/>
                    <a:pt x="-1397" y="109676"/>
                    <a:pt x="4191" y="104088"/>
                  </a:cubicBezTo>
                  <a:cubicBezTo>
                    <a:pt x="9779" y="98500"/>
                    <a:pt x="18796" y="98500"/>
                    <a:pt x="24384" y="104088"/>
                  </a:cubicBezTo>
                  <a:lnTo>
                    <a:pt x="69723" y="149427"/>
                  </a:lnTo>
                  <a:lnTo>
                    <a:pt x="174117" y="5917"/>
                  </a:lnTo>
                  <a:cubicBezTo>
                    <a:pt x="178816" y="-433"/>
                    <a:pt x="187706" y="-1957"/>
                    <a:pt x="194056" y="2742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0009822" y="6507956"/>
            <a:ext cx="2771775" cy="228600"/>
            <a:chOff x="0" y="0"/>
            <a:chExt cx="3695700" cy="3048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695700" cy="304800"/>
            </a:xfrm>
            <a:custGeom>
              <a:avLst/>
              <a:gdLst/>
              <a:ahLst/>
              <a:cxnLst/>
              <a:rect r="r" b="b" t="t" l="l"/>
              <a:pathLst>
                <a:path h="304800" w="3695700">
                  <a:moveTo>
                    <a:pt x="0" y="0"/>
                  </a:moveTo>
                  <a:lnTo>
                    <a:pt x="3695700" y="0"/>
                  </a:lnTo>
                  <a:lnTo>
                    <a:pt x="36957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36957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Environment hash map for variables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713357" y="6821929"/>
            <a:ext cx="150019" cy="171450"/>
            <a:chOff x="0" y="0"/>
            <a:chExt cx="200025" cy="2286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27" y="28500"/>
              <a:ext cx="199973" cy="185679"/>
            </a:xfrm>
            <a:custGeom>
              <a:avLst/>
              <a:gdLst/>
              <a:ahLst/>
              <a:cxnLst/>
              <a:rect r="r" b="b" t="t" l="l"/>
              <a:pathLst>
                <a:path h="185679" w="199973">
                  <a:moveTo>
                    <a:pt x="194056" y="2742"/>
                  </a:moveTo>
                  <a:cubicBezTo>
                    <a:pt x="200406" y="7441"/>
                    <a:pt x="201930" y="16331"/>
                    <a:pt x="197231" y="22681"/>
                  </a:cubicBezTo>
                  <a:lnTo>
                    <a:pt x="82931" y="179780"/>
                  </a:lnTo>
                  <a:cubicBezTo>
                    <a:pt x="80518" y="183209"/>
                    <a:pt x="76708" y="185241"/>
                    <a:pt x="72517" y="185622"/>
                  </a:cubicBezTo>
                  <a:cubicBezTo>
                    <a:pt x="68326" y="186003"/>
                    <a:pt x="64262" y="184479"/>
                    <a:pt x="61341" y="181431"/>
                  </a:cubicBezTo>
                  <a:lnTo>
                    <a:pt x="4191" y="124281"/>
                  </a:lnTo>
                  <a:cubicBezTo>
                    <a:pt x="-1397" y="118693"/>
                    <a:pt x="-1397" y="109676"/>
                    <a:pt x="4191" y="104088"/>
                  </a:cubicBezTo>
                  <a:cubicBezTo>
                    <a:pt x="9779" y="98500"/>
                    <a:pt x="18796" y="98500"/>
                    <a:pt x="24384" y="104088"/>
                  </a:cubicBezTo>
                  <a:lnTo>
                    <a:pt x="69723" y="149427"/>
                  </a:lnTo>
                  <a:lnTo>
                    <a:pt x="174117" y="5917"/>
                  </a:lnTo>
                  <a:cubicBezTo>
                    <a:pt x="178816" y="-433"/>
                    <a:pt x="187706" y="-1957"/>
                    <a:pt x="194056" y="2742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0009822" y="6793535"/>
            <a:ext cx="3629025" cy="228600"/>
            <a:chOff x="0" y="0"/>
            <a:chExt cx="4838700" cy="3048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4838700" cy="304800"/>
            </a:xfrm>
            <a:custGeom>
              <a:avLst/>
              <a:gdLst/>
              <a:ahLst/>
              <a:cxnLst/>
              <a:rect r="r" b="b" t="t" l="l"/>
              <a:pathLst>
                <a:path h="304800" w="4838700">
                  <a:moveTo>
                    <a:pt x="0" y="0"/>
                  </a:moveTo>
                  <a:lnTo>
                    <a:pt x="4838700" y="0"/>
                  </a:lnTo>
                  <a:lnTo>
                    <a:pt x="48387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324" r="0" b="-259324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19050"/>
              <a:ext cx="48387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500,000 instruction cap prevents infinite loops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713357" y="7107498"/>
            <a:ext cx="150019" cy="171450"/>
            <a:chOff x="0" y="0"/>
            <a:chExt cx="200025" cy="2286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127" y="28500"/>
              <a:ext cx="199973" cy="185679"/>
            </a:xfrm>
            <a:custGeom>
              <a:avLst/>
              <a:gdLst/>
              <a:ahLst/>
              <a:cxnLst/>
              <a:rect r="r" b="b" t="t" l="l"/>
              <a:pathLst>
                <a:path h="185679" w="199973">
                  <a:moveTo>
                    <a:pt x="194056" y="2742"/>
                  </a:moveTo>
                  <a:cubicBezTo>
                    <a:pt x="200406" y="7441"/>
                    <a:pt x="201930" y="16331"/>
                    <a:pt x="197231" y="22681"/>
                  </a:cubicBezTo>
                  <a:lnTo>
                    <a:pt x="82931" y="179780"/>
                  </a:lnTo>
                  <a:cubicBezTo>
                    <a:pt x="80518" y="183209"/>
                    <a:pt x="76708" y="185241"/>
                    <a:pt x="72517" y="185622"/>
                  </a:cubicBezTo>
                  <a:cubicBezTo>
                    <a:pt x="68326" y="186003"/>
                    <a:pt x="64262" y="184479"/>
                    <a:pt x="61341" y="181431"/>
                  </a:cubicBezTo>
                  <a:lnTo>
                    <a:pt x="4191" y="124281"/>
                  </a:lnTo>
                  <a:cubicBezTo>
                    <a:pt x="-1397" y="118693"/>
                    <a:pt x="-1397" y="109676"/>
                    <a:pt x="4191" y="104088"/>
                  </a:cubicBezTo>
                  <a:cubicBezTo>
                    <a:pt x="9779" y="98500"/>
                    <a:pt x="18796" y="98500"/>
                    <a:pt x="24384" y="104088"/>
                  </a:cubicBezTo>
                  <a:lnTo>
                    <a:pt x="69723" y="149427"/>
                  </a:lnTo>
                  <a:lnTo>
                    <a:pt x="174117" y="5917"/>
                  </a:lnTo>
                  <a:cubicBezTo>
                    <a:pt x="178816" y="-433"/>
                    <a:pt x="187706" y="-1957"/>
                    <a:pt x="194056" y="2742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0009822" y="7079104"/>
            <a:ext cx="2914650" cy="228600"/>
            <a:chOff x="0" y="0"/>
            <a:chExt cx="3886200" cy="3048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8862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86200">
                  <a:moveTo>
                    <a:pt x="0" y="0"/>
                  </a:moveTo>
                  <a:lnTo>
                    <a:pt x="3886200" y="0"/>
                  </a:lnTo>
                  <a:lnTo>
                    <a:pt x="38862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388620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Top-level execution outside functions</a:t>
              </a:r>
            </a:p>
          </p:txBody>
        </p:sp>
      </p:grpSp>
      <p:sp>
        <p:nvSpPr>
          <p:cNvPr name="Freeform 137" id="137"/>
          <p:cNvSpPr/>
          <p:nvPr/>
        </p:nvSpPr>
        <p:spPr>
          <a:xfrm flipH="false" flipV="false" rot="0">
            <a:off x="9256395" y="7899978"/>
            <a:ext cx="8456295" cy="2141220"/>
          </a:xfrm>
          <a:custGeom>
            <a:avLst/>
            <a:gdLst/>
            <a:ahLst/>
            <a:cxnLst/>
            <a:rect r="r" b="b" t="t" l="l"/>
            <a:pathLst>
              <a:path h="2141220" w="8456295">
                <a:moveTo>
                  <a:pt x="0" y="0"/>
                </a:moveTo>
                <a:lnTo>
                  <a:pt x="8456295" y="0"/>
                </a:lnTo>
                <a:lnTo>
                  <a:pt x="8456295" y="2141220"/>
                </a:lnTo>
                <a:lnTo>
                  <a:pt x="0" y="21412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8" id="138"/>
          <p:cNvSpPr/>
          <p:nvPr/>
        </p:nvSpPr>
        <p:spPr>
          <a:xfrm flipH="false" flipV="false" rot="0">
            <a:off x="9534049" y="8199063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9" id="139"/>
          <p:cNvGrpSpPr/>
          <p:nvPr/>
        </p:nvGrpSpPr>
        <p:grpSpPr>
          <a:xfrm rot="0">
            <a:off x="10026968" y="8141913"/>
            <a:ext cx="1928812" cy="400050"/>
            <a:chOff x="0" y="0"/>
            <a:chExt cx="2571750" cy="5334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571750" cy="533400"/>
            </a:xfrm>
            <a:custGeom>
              <a:avLst/>
              <a:gdLst/>
              <a:ahLst/>
              <a:cxnLst/>
              <a:rect r="r" b="b" t="t" l="l"/>
              <a:pathLst>
                <a:path h="533400" w="2571750">
                  <a:moveTo>
                    <a:pt x="0" y="0"/>
                  </a:moveTo>
                  <a:lnTo>
                    <a:pt x="2571750" y="0"/>
                  </a:lnTo>
                  <a:lnTo>
                    <a:pt x="2571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76200"/>
              <a:ext cx="25717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Web-Based IDE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526905" y="8756275"/>
            <a:ext cx="200025" cy="200025"/>
            <a:chOff x="0" y="0"/>
            <a:chExt cx="266700" cy="266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862661" y="8713413"/>
            <a:ext cx="1428750" cy="285750"/>
            <a:chOff x="0" y="0"/>
            <a:chExt cx="1905000" cy="3810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905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1905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3-Panel Layout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3573125" y="8756275"/>
            <a:ext cx="200025" cy="200025"/>
            <a:chOff x="0" y="0"/>
            <a:chExt cx="266700" cy="2667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3908881" y="8713413"/>
            <a:ext cx="1100138" cy="285750"/>
            <a:chOff x="0" y="0"/>
            <a:chExt cx="1466850" cy="3810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466850" cy="381000"/>
            </a:xfrm>
            <a:custGeom>
              <a:avLst/>
              <a:gdLst/>
              <a:ahLst/>
              <a:cxnLst/>
              <a:rect r="r" b="b" t="t" l="l"/>
              <a:pathLst>
                <a:path h="381000" w="1466850">
                  <a:moveTo>
                    <a:pt x="0" y="0"/>
                  </a:moveTo>
                  <a:lnTo>
                    <a:pt x="1466850" y="0"/>
                  </a:lnTo>
                  <a:lnTo>
                    <a:pt x="1466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17" r="0" b="-25017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466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7 Examples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526905" y="9156325"/>
            <a:ext cx="200025" cy="200025"/>
            <a:chOff x="0" y="0"/>
            <a:chExt cx="266700" cy="26670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862661" y="9113463"/>
            <a:ext cx="1557338" cy="285750"/>
            <a:chOff x="0" y="0"/>
            <a:chExt cx="2076450" cy="3810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076450" cy="381000"/>
            </a:xfrm>
            <a:custGeom>
              <a:avLst/>
              <a:gdLst/>
              <a:ahLst/>
              <a:cxnLst/>
              <a:rect r="r" b="b" t="t" l="l"/>
              <a:pathLst>
                <a:path h="381000" w="2076450">
                  <a:moveTo>
                    <a:pt x="0" y="0"/>
                  </a:moveTo>
                  <a:lnTo>
                    <a:pt x="2076450" y="0"/>
                  </a:lnTo>
                  <a:lnTo>
                    <a:pt x="2076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93" r="0" b="-56193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20764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Syntax Highlight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3573125" y="9156325"/>
            <a:ext cx="200025" cy="200025"/>
            <a:chOff x="0" y="0"/>
            <a:chExt cx="266700" cy="26670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3908881" y="9113463"/>
            <a:ext cx="1357312" cy="285750"/>
            <a:chOff x="0" y="0"/>
            <a:chExt cx="1809750" cy="3810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809750" cy="381000"/>
            </a:xfrm>
            <a:custGeom>
              <a:avLst/>
              <a:gdLst/>
              <a:ahLst/>
              <a:cxnLst/>
              <a:rect r="r" b="b" t="t" l="l"/>
              <a:pathLst>
                <a:path h="381000" w="1809750">
                  <a:moveTo>
                    <a:pt x="0" y="0"/>
                  </a:moveTo>
                  <a:lnTo>
                    <a:pt x="1809750" y="0"/>
                  </a:lnTo>
                  <a:lnTo>
                    <a:pt x="1809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18097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6 Output Tabs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9526905" y="9556375"/>
            <a:ext cx="200025" cy="200025"/>
            <a:chOff x="0" y="0"/>
            <a:chExt cx="266700" cy="266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862661" y="9513513"/>
            <a:ext cx="2028825" cy="285750"/>
            <a:chOff x="0" y="0"/>
            <a:chExt cx="2705100" cy="3810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705100" cy="381000"/>
            </a:xfrm>
            <a:custGeom>
              <a:avLst/>
              <a:gdLst/>
              <a:ahLst/>
              <a:cxnLst/>
              <a:rect r="r" b="b" t="t" l="l"/>
              <a:pathLst>
                <a:path h="3810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27051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Real-time compilation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3573125" y="9556375"/>
            <a:ext cx="200025" cy="200025"/>
            <a:chOff x="0" y="0"/>
            <a:chExt cx="266700" cy="26670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908881" y="9513513"/>
            <a:ext cx="1900238" cy="285750"/>
            <a:chOff x="0" y="0"/>
            <a:chExt cx="2533650" cy="38100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533650" cy="381000"/>
            </a:xfrm>
            <a:custGeom>
              <a:avLst/>
              <a:gdLst/>
              <a:ahLst/>
              <a:cxnLst/>
              <a:rect r="r" b="b" t="t" l="l"/>
              <a:pathLst>
                <a:path h="381000" w="2533650">
                  <a:moveTo>
                    <a:pt x="0" y="0"/>
                  </a:moveTo>
                  <a:lnTo>
                    <a:pt x="2533650" y="0"/>
                  </a:lnTo>
                  <a:lnTo>
                    <a:pt x="25336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575" r="0" b="-79575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38100"/>
              <a:ext cx="25336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Phase timing display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9551" y="519551"/>
            <a:ext cx="17339824" cy="259775"/>
            <a:chOff x="0" y="0"/>
            <a:chExt cx="23119766" cy="3463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19772" cy="346364"/>
            </a:xfrm>
            <a:custGeom>
              <a:avLst/>
              <a:gdLst/>
              <a:ahLst/>
              <a:cxnLst/>
              <a:rect r="r" b="b" t="t" l="l"/>
              <a:pathLst>
                <a:path h="346364" w="23119772">
                  <a:moveTo>
                    <a:pt x="0" y="0"/>
                  </a:moveTo>
                  <a:lnTo>
                    <a:pt x="23119772" y="0"/>
                  </a:lnTo>
                  <a:lnTo>
                    <a:pt x="23119772" y="346364"/>
                  </a:lnTo>
                  <a:lnTo>
                    <a:pt x="0" y="346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0624" r="0" b="-12506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119766" cy="384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2"/>
                </a:lnSpc>
              </a:pPr>
              <a:r>
                <a:rPr lang="en-US" b="true" sz="1432" spc="72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Language Features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9551" y="831275"/>
            <a:ext cx="17482699" cy="713877"/>
            <a:chOff x="0" y="0"/>
            <a:chExt cx="23310266" cy="9518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10272" cy="951827"/>
            </a:xfrm>
            <a:custGeom>
              <a:avLst/>
              <a:gdLst/>
              <a:ahLst/>
              <a:cxnLst/>
              <a:rect r="r" b="b" t="t" l="l"/>
              <a:pathLst>
                <a:path h="951827" w="23310272">
                  <a:moveTo>
                    <a:pt x="0" y="0"/>
                  </a:moveTo>
                  <a:lnTo>
                    <a:pt x="23310272" y="0"/>
                  </a:lnTo>
                  <a:lnTo>
                    <a:pt x="23310272" y="951827"/>
                  </a:lnTo>
                  <a:lnTo>
                    <a:pt x="0" y="951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799" r="0" b="-41357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310266" cy="904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77"/>
                </a:lnSpc>
              </a:pPr>
              <a:r>
                <a:rPr lang="en-US" sz="3682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Symbols Table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225" y="2343150"/>
            <a:ext cx="8372475" cy="2543175"/>
            <a:chOff x="0" y="0"/>
            <a:chExt cx="11163300" cy="3390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63300" cy="3390900"/>
            </a:xfrm>
            <a:custGeom>
              <a:avLst/>
              <a:gdLst/>
              <a:ahLst/>
              <a:cxnLst/>
              <a:rect r="r" b="b" t="t" l="l"/>
              <a:pathLst>
                <a:path h="3390900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44786"/>
                    <a:pt x="11163300" y="322943"/>
                  </a:cubicBezTo>
                  <a:lnTo>
                    <a:pt x="11163300" y="3067957"/>
                  </a:lnTo>
                  <a:cubicBezTo>
                    <a:pt x="11163300" y="3246114"/>
                    <a:pt x="11060811" y="3390900"/>
                    <a:pt x="10934700" y="3390900"/>
                  </a:cubicBezTo>
                  <a:lnTo>
                    <a:pt x="76200" y="3390900"/>
                  </a:lnTo>
                  <a:cubicBezTo>
                    <a:pt x="34163" y="3390900"/>
                    <a:pt x="0" y="3342638"/>
                    <a:pt x="0" y="3283252"/>
                  </a:cubicBezTo>
                  <a:lnTo>
                    <a:pt x="0" y="107648"/>
                  </a:lnTo>
                  <a:cubicBezTo>
                    <a:pt x="0" y="48262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7225" y="2343150"/>
            <a:ext cx="57150" cy="2543175"/>
            <a:chOff x="0" y="0"/>
            <a:chExt cx="76200" cy="3390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3390900"/>
            </a:xfrm>
            <a:custGeom>
              <a:avLst/>
              <a:gdLst/>
              <a:ahLst/>
              <a:cxnLst/>
              <a:rect r="r" b="b" t="t" l="l"/>
              <a:pathLst>
                <a:path h="3390900" w="76200">
                  <a:moveTo>
                    <a:pt x="76200" y="0"/>
                  </a:moveTo>
                  <a:lnTo>
                    <a:pt x="76200" y="3390900"/>
                  </a:lnTo>
                  <a:cubicBezTo>
                    <a:pt x="34163" y="3390900"/>
                    <a:pt x="0" y="3342638"/>
                    <a:pt x="0" y="3283252"/>
                  </a:cubicBezTo>
                  <a:lnTo>
                    <a:pt x="0" y="107648"/>
                  </a:lnTo>
                  <a:cubicBezTo>
                    <a:pt x="0" y="48262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666093"/>
            <a:ext cx="685800" cy="968829"/>
            <a:chOff x="0" y="0"/>
            <a:chExt cx="914400" cy="12917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1291771"/>
            </a:xfrm>
            <a:custGeom>
              <a:avLst/>
              <a:gdLst/>
              <a:ahLst/>
              <a:cxnLst/>
              <a:rect r="r" b="b" t="t" l="l"/>
              <a:pathLst>
                <a:path h="1291771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96524"/>
                    <a:pt x="914400" y="215295"/>
                  </a:cubicBezTo>
                  <a:lnTo>
                    <a:pt x="914400" y="1076476"/>
                  </a:lnTo>
                  <a:cubicBezTo>
                    <a:pt x="914400" y="1195247"/>
                    <a:pt x="846074" y="1291771"/>
                    <a:pt x="762000" y="1291771"/>
                  </a:cubicBezTo>
                  <a:lnTo>
                    <a:pt x="152400" y="1291771"/>
                  </a:lnTo>
                  <a:cubicBezTo>
                    <a:pt x="68326" y="1291771"/>
                    <a:pt x="0" y="1195247"/>
                    <a:pt x="0" y="1076476"/>
                  </a:cubicBezTo>
                  <a:lnTo>
                    <a:pt x="0" y="215295"/>
                  </a:lnTo>
                  <a:cubicBezTo>
                    <a:pt x="0" y="96524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8BDF8">
                <a:alpha val="78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08891" y="2867932"/>
            <a:ext cx="442912" cy="565150"/>
            <a:chOff x="0" y="0"/>
            <a:chExt cx="590550" cy="7535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0550" cy="753533"/>
            </a:xfrm>
            <a:custGeom>
              <a:avLst/>
              <a:gdLst/>
              <a:ahLst/>
              <a:cxnLst/>
              <a:rect r="r" b="b" t="t" l="l"/>
              <a:pathLst>
                <a:path h="753533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753533"/>
                  </a:lnTo>
                  <a:lnTo>
                    <a:pt x="0" y="753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887" t="0" r="-65887" b="292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90550" cy="810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28800" y="2666093"/>
            <a:ext cx="7100888" cy="565150"/>
            <a:chOff x="0" y="0"/>
            <a:chExt cx="9467850" cy="7535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67850" cy="753533"/>
            </a:xfrm>
            <a:custGeom>
              <a:avLst/>
              <a:gdLst/>
              <a:ahLst/>
              <a:cxnLst/>
              <a:rect r="r" b="b" t="t" l="l"/>
              <a:pathLst>
                <a:path h="753533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753533"/>
                  </a:lnTo>
                  <a:lnTo>
                    <a:pt x="0" y="7535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428" r="0" b="-18021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467850" cy="829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Definition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28775" y="3311979"/>
            <a:ext cx="7272338" cy="1525623"/>
            <a:chOff x="0" y="0"/>
            <a:chExt cx="9696450" cy="2034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96450" cy="2034163"/>
            </a:xfrm>
            <a:custGeom>
              <a:avLst/>
              <a:gdLst/>
              <a:ahLst/>
              <a:cxnLst/>
              <a:rect r="r" b="b" t="t" l="l"/>
              <a:pathLst>
                <a:path h="2034163" w="9696450">
                  <a:moveTo>
                    <a:pt x="0" y="0"/>
                  </a:moveTo>
                  <a:lnTo>
                    <a:pt x="9696450" y="0"/>
                  </a:lnTo>
                  <a:lnTo>
                    <a:pt x="9696450" y="2034163"/>
                  </a:lnTo>
                  <a:lnTo>
                    <a:pt x="0" y="2034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556" r="2750" b="-109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9696450" cy="211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81"/>
                </a:lnSpc>
              </a:pPr>
              <a:r>
                <a:rPr lang="en-US" sz="1774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A data structure that stores information about every identifier   name, type, kind, scope, and line number. It acts as the central registry of the entire compiler.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44025" y="2356051"/>
            <a:ext cx="8372475" cy="2530274"/>
            <a:chOff x="0" y="0"/>
            <a:chExt cx="11163300" cy="33736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63300" cy="3373698"/>
            </a:xfrm>
            <a:custGeom>
              <a:avLst/>
              <a:gdLst/>
              <a:ahLst/>
              <a:cxnLst/>
              <a:rect r="r" b="b" t="t" l="l"/>
              <a:pathLst>
                <a:path h="3373698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44052"/>
                    <a:pt x="11163300" y="321305"/>
                  </a:cubicBezTo>
                  <a:lnTo>
                    <a:pt x="11163300" y="3052394"/>
                  </a:lnTo>
                  <a:cubicBezTo>
                    <a:pt x="11163300" y="3229647"/>
                    <a:pt x="11060811" y="3373698"/>
                    <a:pt x="10934700" y="3373698"/>
                  </a:cubicBezTo>
                  <a:lnTo>
                    <a:pt x="76200" y="3373698"/>
                  </a:lnTo>
                  <a:cubicBezTo>
                    <a:pt x="34163" y="3373698"/>
                    <a:pt x="0" y="3325681"/>
                    <a:pt x="0" y="3266597"/>
                  </a:cubicBezTo>
                  <a:lnTo>
                    <a:pt x="0" y="107102"/>
                  </a:lnTo>
                  <a:cubicBezTo>
                    <a:pt x="0" y="48017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08618" y="2371725"/>
            <a:ext cx="78282" cy="2465876"/>
            <a:chOff x="0" y="0"/>
            <a:chExt cx="76200" cy="24003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86925" y="2677356"/>
            <a:ext cx="685800" cy="963914"/>
            <a:chOff x="0" y="0"/>
            <a:chExt cx="914400" cy="12852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1285218"/>
            </a:xfrm>
            <a:custGeom>
              <a:avLst/>
              <a:gdLst/>
              <a:ahLst/>
              <a:cxnLst/>
              <a:rect r="r" b="b" t="t" l="l"/>
              <a:pathLst>
                <a:path h="1285218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96034"/>
                    <a:pt x="914400" y="214203"/>
                  </a:cubicBezTo>
                  <a:lnTo>
                    <a:pt x="914400" y="1071015"/>
                  </a:lnTo>
                  <a:cubicBezTo>
                    <a:pt x="914400" y="1189184"/>
                    <a:pt x="846074" y="1285218"/>
                    <a:pt x="762000" y="1285218"/>
                  </a:cubicBezTo>
                  <a:lnTo>
                    <a:pt x="152400" y="1285218"/>
                  </a:lnTo>
                  <a:cubicBezTo>
                    <a:pt x="68326" y="1285218"/>
                    <a:pt x="0" y="1189184"/>
                    <a:pt x="0" y="1071015"/>
                  </a:cubicBezTo>
                  <a:lnTo>
                    <a:pt x="0" y="214203"/>
                  </a:lnTo>
                  <a:cubicBezTo>
                    <a:pt x="0" y="96034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D399">
                <a:alpha val="784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44088" y="2958497"/>
            <a:ext cx="485775" cy="400050"/>
            <a:chOff x="0" y="0"/>
            <a:chExt cx="647700" cy="533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477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15600" y="2677356"/>
            <a:ext cx="7100888" cy="562283"/>
            <a:chOff x="0" y="0"/>
            <a:chExt cx="9467850" cy="749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67850" cy="749711"/>
            </a:xfrm>
            <a:custGeom>
              <a:avLst/>
              <a:gdLst/>
              <a:ahLst/>
              <a:cxnLst/>
              <a:rect r="r" b="b" t="t" l="l"/>
              <a:pathLst>
                <a:path h="749711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749711"/>
                  </a:lnTo>
                  <a:lnTo>
                    <a:pt x="0" y="7497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96" r="0" b="-18164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9467850" cy="825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What Does Each Record Store?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15600" y="3202327"/>
            <a:ext cx="7072312" cy="1362693"/>
            <a:chOff x="0" y="0"/>
            <a:chExt cx="9429750" cy="18169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29750" cy="1816924"/>
            </a:xfrm>
            <a:custGeom>
              <a:avLst/>
              <a:gdLst/>
              <a:ahLst/>
              <a:cxnLst/>
              <a:rect r="r" b="b" t="t" l="l"/>
              <a:pathLst>
                <a:path h="1816924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1816924"/>
                  </a:lnTo>
                  <a:lnTo>
                    <a:pt x="0" y="1816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068" r="0" b="-1318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9429750" cy="18931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Every entry contains: name, kind (var/func/param), varType (int/bool/string), scope (global/main/function name), line of declaration, and line of usage.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6210300"/>
            <a:ext cx="8372475" cy="2508151"/>
            <a:chOff x="0" y="0"/>
            <a:chExt cx="11163300" cy="334420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63300" cy="3344201"/>
            </a:xfrm>
            <a:custGeom>
              <a:avLst/>
              <a:gdLst/>
              <a:ahLst/>
              <a:cxnLst/>
              <a:rect r="r" b="b" t="t" l="l"/>
              <a:pathLst>
                <a:path h="3344201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42792"/>
                    <a:pt x="11163300" y="318495"/>
                  </a:cubicBezTo>
                  <a:lnTo>
                    <a:pt x="11163300" y="3025706"/>
                  </a:lnTo>
                  <a:cubicBezTo>
                    <a:pt x="11163300" y="3201410"/>
                    <a:pt x="11060811" y="3344201"/>
                    <a:pt x="10934700" y="3344201"/>
                  </a:cubicBezTo>
                  <a:lnTo>
                    <a:pt x="76200" y="3344201"/>
                  </a:lnTo>
                  <a:cubicBezTo>
                    <a:pt x="34163" y="3344201"/>
                    <a:pt x="0" y="3296604"/>
                    <a:pt x="0" y="3238036"/>
                  </a:cubicBezTo>
                  <a:lnTo>
                    <a:pt x="0" y="106165"/>
                  </a:lnTo>
                  <a:cubicBezTo>
                    <a:pt x="0" y="47597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85800" y="6210300"/>
            <a:ext cx="57150" cy="2508151"/>
            <a:chOff x="0" y="0"/>
            <a:chExt cx="76200" cy="33442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" cy="3344201"/>
            </a:xfrm>
            <a:custGeom>
              <a:avLst/>
              <a:gdLst/>
              <a:ahLst/>
              <a:cxnLst/>
              <a:rect r="r" b="b" t="t" l="l"/>
              <a:pathLst>
                <a:path h="3344201" w="76200">
                  <a:moveTo>
                    <a:pt x="76200" y="0"/>
                  </a:moveTo>
                  <a:lnTo>
                    <a:pt x="76200" y="3344201"/>
                  </a:lnTo>
                  <a:cubicBezTo>
                    <a:pt x="34163" y="3344201"/>
                    <a:pt x="0" y="3296604"/>
                    <a:pt x="0" y="3238036"/>
                  </a:cubicBezTo>
                  <a:lnTo>
                    <a:pt x="0" y="106165"/>
                  </a:lnTo>
                  <a:cubicBezTo>
                    <a:pt x="0" y="47597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42975" y="6528795"/>
            <a:ext cx="685800" cy="955486"/>
            <a:chOff x="0" y="0"/>
            <a:chExt cx="914400" cy="127398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1273982"/>
            </a:xfrm>
            <a:custGeom>
              <a:avLst/>
              <a:gdLst/>
              <a:ahLst/>
              <a:cxnLst/>
              <a:rect r="r" b="b" t="t" l="l"/>
              <a:pathLst>
                <a:path h="1273982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95195"/>
                    <a:pt x="914400" y="212330"/>
                  </a:cubicBezTo>
                  <a:lnTo>
                    <a:pt x="914400" y="1061651"/>
                  </a:lnTo>
                  <a:cubicBezTo>
                    <a:pt x="914400" y="1178787"/>
                    <a:pt x="846074" y="1273982"/>
                    <a:pt x="762000" y="1273982"/>
                  </a:cubicBezTo>
                  <a:lnTo>
                    <a:pt x="152400" y="1273982"/>
                  </a:lnTo>
                  <a:cubicBezTo>
                    <a:pt x="68326" y="1273982"/>
                    <a:pt x="0" y="1178787"/>
                    <a:pt x="0" y="1061651"/>
                  </a:cubicBezTo>
                  <a:lnTo>
                    <a:pt x="0" y="212330"/>
                  </a:lnTo>
                  <a:cubicBezTo>
                    <a:pt x="0" y="95195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A78BFA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10320" y="6727855"/>
            <a:ext cx="500062" cy="557367"/>
            <a:chOff x="0" y="0"/>
            <a:chExt cx="666750" cy="7431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6750" cy="743156"/>
            </a:xfrm>
            <a:custGeom>
              <a:avLst/>
              <a:gdLst/>
              <a:ahLst/>
              <a:cxnLst/>
              <a:rect r="r" b="b" t="t" l="l"/>
              <a:pathLst>
                <a:path h="743156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743156"/>
                  </a:lnTo>
                  <a:lnTo>
                    <a:pt x="0" y="743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282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66750" cy="800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57375" y="6528795"/>
            <a:ext cx="7100888" cy="557367"/>
            <a:chOff x="0" y="0"/>
            <a:chExt cx="9467850" cy="7431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67850" cy="743156"/>
            </a:xfrm>
            <a:custGeom>
              <a:avLst/>
              <a:gdLst/>
              <a:ahLst/>
              <a:cxnLst/>
              <a:rect r="r" b="b" t="t" l="l"/>
              <a:pathLst>
                <a:path h="743156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743156"/>
                  </a:lnTo>
                  <a:lnTo>
                    <a:pt x="0" y="7431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353" r="0" b="-18412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9467850" cy="8193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How Does Scoped Symbol Table Work?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28775" y="7086162"/>
            <a:ext cx="7300912" cy="1350779"/>
            <a:chOff x="0" y="0"/>
            <a:chExt cx="9734550" cy="180103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34550" cy="1801038"/>
            </a:xfrm>
            <a:custGeom>
              <a:avLst/>
              <a:gdLst/>
              <a:ahLst/>
              <a:cxnLst/>
              <a:rect r="r" b="b" t="t" l="l"/>
              <a:pathLst>
                <a:path h="1801038" w="9734550">
                  <a:moveTo>
                    <a:pt x="0" y="0"/>
                  </a:moveTo>
                  <a:lnTo>
                    <a:pt x="9734550" y="0"/>
                  </a:lnTo>
                  <a:lnTo>
                    <a:pt x="9734550" y="1801038"/>
                  </a:lnTo>
                  <a:lnTo>
                    <a:pt x="0" y="18010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854" r="3131" b="-141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9734550" cy="18772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The SymbolTable class has a parent pointer. lookup(name) first checks the current scope, then walks up to the parent. pushScope() creates a new scope when a block starts, popScope() discards it when the block ends.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86900" y="6185940"/>
            <a:ext cx="8372475" cy="2556870"/>
            <a:chOff x="0" y="0"/>
            <a:chExt cx="11163300" cy="340916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163300" cy="3409161"/>
            </a:xfrm>
            <a:custGeom>
              <a:avLst/>
              <a:gdLst/>
              <a:ahLst/>
              <a:cxnLst/>
              <a:rect r="r" b="b" t="t" l="l"/>
              <a:pathLst>
                <a:path h="3409161" w="11163300">
                  <a:moveTo>
                    <a:pt x="76200" y="0"/>
                  </a:moveTo>
                  <a:lnTo>
                    <a:pt x="10934700" y="0"/>
                  </a:lnTo>
                  <a:cubicBezTo>
                    <a:pt x="11060811" y="0"/>
                    <a:pt x="11163300" y="145566"/>
                    <a:pt x="11163300" y="324682"/>
                  </a:cubicBezTo>
                  <a:lnTo>
                    <a:pt x="11163300" y="3084479"/>
                  </a:lnTo>
                  <a:cubicBezTo>
                    <a:pt x="11163300" y="3263595"/>
                    <a:pt x="11060811" y="3409161"/>
                    <a:pt x="10934700" y="3409161"/>
                  </a:cubicBezTo>
                  <a:lnTo>
                    <a:pt x="76200" y="3409161"/>
                  </a:lnTo>
                  <a:cubicBezTo>
                    <a:pt x="34163" y="3409161"/>
                    <a:pt x="0" y="3360639"/>
                    <a:pt x="0" y="3300933"/>
                  </a:cubicBezTo>
                  <a:lnTo>
                    <a:pt x="0" y="108227"/>
                  </a:lnTo>
                  <a:cubicBezTo>
                    <a:pt x="0" y="48522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486900" y="6185940"/>
            <a:ext cx="57150" cy="2556870"/>
            <a:chOff x="0" y="0"/>
            <a:chExt cx="76200" cy="340916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" cy="3409161"/>
            </a:xfrm>
            <a:custGeom>
              <a:avLst/>
              <a:gdLst/>
              <a:ahLst/>
              <a:cxnLst/>
              <a:rect r="r" b="b" t="t" l="l"/>
              <a:pathLst>
                <a:path h="3409161" w="76200">
                  <a:moveTo>
                    <a:pt x="76200" y="0"/>
                  </a:moveTo>
                  <a:lnTo>
                    <a:pt x="76200" y="3409161"/>
                  </a:lnTo>
                  <a:cubicBezTo>
                    <a:pt x="34163" y="3409161"/>
                    <a:pt x="0" y="3360639"/>
                    <a:pt x="0" y="3300933"/>
                  </a:cubicBezTo>
                  <a:lnTo>
                    <a:pt x="0" y="108227"/>
                  </a:lnTo>
                  <a:cubicBezTo>
                    <a:pt x="0" y="48522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472B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744075" y="6510622"/>
            <a:ext cx="685800" cy="974046"/>
            <a:chOff x="0" y="0"/>
            <a:chExt cx="914400" cy="12987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1298728"/>
            </a:xfrm>
            <a:custGeom>
              <a:avLst/>
              <a:gdLst/>
              <a:ahLst/>
              <a:cxnLst/>
              <a:rect r="r" b="b" t="t" l="l"/>
              <a:pathLst>
                <a:path h="1298728" w="914400">
                  <a:moveTo>
                    <a:pt x="152400" y="0"/>
                  </a:moveTo>
                  <a:lnTo>
                    <a:pt x="762000" y="0"/>
                  </a:lnTo>
                  <a:cubicBezTo>
                    <a:pt x="846074" y="0"/>
                    <a:pt x="914400" y="97044"/>
                    <a:pt x="914400" y="216455"/>
                  </a:cubicBezTo>
                  <a:lnTo>
                    <a:pt x="914400" y="1082273"/>
                  </a:lnTo>
                  <a:cubicBezTo>
                    <a:pt x="914400" y="1201684"/>
                    <a:pt x="846074" y="1298728"/>
                    <a:pt x="762000" y="1298728"/>
                  </a:cubicBezTo>
                  <a:lnTo>
                    <a:pt x="152400" y="1298728"/>
                  </a:lnTo>
                  <a:cubicBezTo>
                    <a:pt x="68326" y="1298728"/>
                    <a:pt x="0" y="1201684"/>
                    <a:pt x="0" y="1082273"/>
                  </a:cubicBezTo>
                  <a:lnTo>
                    <a:pt x="0" y="216455"/>
                  </a:lnTo>
                  <a:cubicBezTo>
                    <a:pt x="0" y="97044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472B6">
                <a:alpha val="784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911601" y="6713549"/>
            <a:ext cx="500062" cy="568193"/>
            <a:chOff x="0" y="0"/>
            <a:chExt cx="666750" cy="7575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6750" cy="757591"/>
            </a:xfrm>
            <a:custGeom>
              <a:avLst/>
              <a:gdLst/>
              <a:ahLst/>
              <a:cxnLst/>
              <a:rect r="r" b="b" t="t" l="l"/>
              <a:pathLst>
                <a:path h="757591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757591"/>
                  </a:lnTo>
                  <a:lnTo>
                    <a:pt x="0" y="7575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2959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66750" cy="81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472B6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04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58475" y="6510622"/>
            <a:ext cx="7100888" cy="771120"/>
            <a:chOff x="0" y="0"/>
            <a:chExt cx="9467850" cy="10281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467850" cy="1028160"/>
            </a:xfrm>
            <a:custGeom>
              <a:avLst/>
              <a:gdLst/>
              <a:ahLst/>
              <a:cxnLst/>
              <a:rect r="r" b="b" t="t" l="l"/>
              <a:pathLst>
                <a:path h="102816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1028160"/>
                  </a:lnTo>
                  <a:lnTo>
                    <a:pt x="0" y="1028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89" r="0" b="-10536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9467850" cy="1104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What are the Three Kinds of Symbols?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658475" y="7159986"/>
            <a:ext cx="7072312" cy="1377017"/>
            <a:chOff x="0" y="0"/>
            <a:chExt cx="9429750" cy="183602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429750" cy="1836022"/>
            </a:xfrm>
            <a:custGeom>
              <a:avLst/>
              <a:gdLst/>
              <a:ahLst/>
              <a:cxnLst/>
              <a:rect r="r" b="b" t="t" l="l"/>
              <a:pathLst>
                <a:path h="1836022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1836022"/>
                  </a:lnTo>
                  <a:lnTo>
                    <a:pt x="0" y="18360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142" r="0" b="-1200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9429750" cy="1912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function  stores return type and parameter list, used for call validation. variable  stores only varType. param  stores type and is defined inside the parent function's scope, treated exactly like a variable inside the function body.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45012" cy="285750"/>
            <a:chOff x="0" y="0"/>
            <a:chExt cx="229933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9144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Symbol Table Diagram (STD)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69595" y="1655445"/>
            <a:ext cx="17143095" cy="8067675"/>
          </a:xfrm>
          <a:custGeom>
            <a:avLst/>
            <a:gdLst/>
            <a:ahLst/>
            <a:cxnLst/>
            <a:rect r="r" b="b" t="t" l="l"/>
            <a:pathLst>
              <a:path h="8067675" w="17143095">
                <a:moveTo>
                  <a:pt x="0" y="0"/>
                </a:moveTo>
                <a:lnTo>
                  <a:pt x="17143095" y="0"/>
                </a:lnTo>
                <a:lnTo>
                  <a:pt x="17143095" y="8067675"/>
                </a:lnTo>
                <a:lnTo>
                  <a:pt x="0" y="8067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1500" y="1655445"/>
            <a:ext cx="17043082" cy="8067675"/>
          </a:xfrm>
          <a:custGeom>
            <a:avLst/>
            <a:gdLst/>
            <a:ahLst/>
            <a:cxnLst/>
            <a:rect r="r" b="b" t="t" l="l"/>
            <a:pathLst>
              <a:path h="8067675" w="17043082">
                <a:moveTo>
                  <a:pt x="0" y="0"/>
                </a:moveTo>
                <a:lnTo>
                  <a:pt x="17043082" y="0"/>
                </a:lnTo>
                <a:lnTo>
                  <a:pt x="17043082" y="8067675"/>
                </a:lnTo>
                <a:lnTo>
                  <a:pt x="0" y="8067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1" t="0" r="-8654" b="-2026"/>
            </a:stretch>
          </a:blipFill>
        </p:spPr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45012" cy="285750"/>
            <a:chOff x="0" y="0"/>
            <a:chExt cx="229933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F87171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Design Foundation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1975" y="9144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32029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Assumptions &amp; Trade-offs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69595" y="1655445"/>
            <a:ext cx="8456295" cy="8056245"/>
          </a:xfrm>
          <a:custGeom>
            <a:avLst/>
            <a:gdLst/>
            <a:ahLst/>
            <a:cxnLst/>
            <a:rect r="r" b="b" t="t" l="l"/>
            <a:pathLst>
              <a:path h="8056245" w="8456295">
                <a:moveTo>
                  <a:pt x="0" y="0"/>
                </a:moveTo>
                <a:lnTo>
                  <a:pt x="8456295" y="0"/>
                </a:lnTo>
                <a:lnTo>
                  <a:pt x="8456295" y="8056245"/>
                </a:lnTo>
                <a:lnTo>
                  <a:pt x="0" y="8056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2968" y="1954530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40168" y="1897380"/>
            <a:ext cx="2100262" cy="400050"/>
            <a:chOff x="0" y="0"/>
            <a:chExt cx="280035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00350" cy="533400"/>
            </a:xfrm>
            <a:custGeom>
              <a:avLst/>
              <a:gdLst/>
              <a:ahLst/>
              <a:cxnLst/>
              <a:rect r="r" b="b" t="t" l="l"/>
              <a:pathLst>
                <a:path h="533400" w="2800350">
                  <a:moveTo>
                    <a:pt x="0" y="0"/>
                  </a:moveTo>
                  <a:lnTo>
                    <a:pt x="2800350" y="0"/>
                  </a:lnTo>
                  <a:lnTo>
                    <a:pt x="2800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8003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Key Assumptions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0105" y="2468880"/>
            <a:ext cx="7943850" cy="1185862"/>
            <a:chOff x="0" y="0"/>
            <a:chExt cx="10591800" cy="15811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918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591800">
                  <a:moveTo>
                    <a:pt x="76200" y="0"/>
                  </a:moveTo>
                  <a:lnTo>
                    <a:pt x="10439400" y="0"/>
                  </a:lnTo>
                  <a:cubicBezTo>
                    <a:pt x="10523601" y="0"/>
                    <a:pt x="10591800" y="68199"/>
                    <a:pt x="10591800" y="152400"/>
                  </a:cubicBezTo>
                  <a:lnTo>
                    <a:pt x="10591800" y="1428750"/>
                  </a:lnTo>
                  <a:cubicBezTo>
                    <a:pt x="10591800" y="1512951"/>
                    <a:pt x="10523601" y="1581150"/>
                    <a:pt x="10439400" y="1581150"/>
                  </a:cubicBezTo>
                  <a:lnTo>
                    <a:pt x="76200" y="1581150"/>
                  </a:lnTo>
                  <a:cubicBezTo>
                    <a:pt x="34163" y="1581150"/>
                    <a:pt x="0" y="1546987"/>
                    <a:pt x="0" y="15049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0105" y="2468880"/>
            <a:ext cx="57150" cy="1185862"/>
            <a:chOff x="0" y="0"/>
            <a:chExt cx="76200" cy="1581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76200">
                  <a:moveTo>
                    <a:pt x="76200" y="0"/>
                  </a:moveTo>
                  <a:lnTo>
                    <a:pt x="76200" y="1581150"/>
                  </a:lnTo>
                  <a:cubicBezTo>
                    <a:pt x="34163" y="1581150"/>
                    <a:pt x="0" y="1546987"/>
                    <a:pt x="0" y="15049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0130" y="2668905"/>
            <a:ext cx="342900" cy="342900"/>
            <a:chOff x="0" y="0"/>
            <a:chExt cx="457200" cy="45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7171">
                <a:alpha val="784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77290" y="2726055"/>
            <a:ext cx="157162" cy="228600"/>
            <a:chOff x="0" y="0"/>
            <a:chExt cx="209550" cy="304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550" cy="304800"/>
            </a:xfrm>
            <a:custGeom>
              <a:avLst/>
              <a:gdLst/>
              <a:ahLst/>
              <a:cxnLst/>
              <a:rect r="r" b="b" t="t" l="l"/>
              <a:pathLst>
                <a:path h="3048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623" t="0" r="-13662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095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F87171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54480" y="2640330"/>
            <a:ext cx="7158038" cy="285750"/>
            <a:chOff x="0" y="0"/>
            <a:chExt cx="9544050" cy="38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44050" cy="381000"/>
            </a:xfrm>
            <a:custGeom>
              <a:avLst/>
              <a:gdLst/>
              <a:ahLst/>
              <a:cxnLst/>
              <a:rect r="r" b="b" t="t" l="l"/>
              <a:pathLst>
                <a:path h="381000" w="9544050">
                  <a:moveTo>
                    <a:pt x="0" y="0"/>
                  </a:moveTo>
                  <a:lnTo>
                    <a:pt x="9544050" y="0"/>
                  </a:lnTo>
                  <a:lnTo>
                    <a:pt x="9544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100" r="0" b="-4381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544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Integer-Only Arithmetic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54480" y="2926080"/>
            <a:ext cx="7143750" cy="557212"/>
            <a:chOff x="0" y="0"/>
            <a:chExt cx="9525000" cy="7429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25000" cy="742950"/>
            </a:xfrm>
            <a:custGeom>
              <a:avLst/>
              <a:gdLst/>
              <a:ahLst/>
              <a:cxnLst/>
              <a:rect r="r" b="b" t="t" l="l"/>
              <a:pathLst>
                <a:path h="74295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808" r="0" b="-1998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525000" cy="80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Language supports only integer variables and basic arithmetic operations (+, -, *, /, %). No floating-point numbers to simplify semantic analysis.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40105" y="3769042"/>
            <a:ext cx="7943850" cy="1185862"/>
            <a:chOff x="0" y="0"/>
            <a:chExt cx="10591800" cy="15811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918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591800">
                  <a:moveTo>
                    <a:pt x="76200" y="0"/>
                  </a:moveTo>
                  <a:lnTo>
                    <a:pt x="10439400" y="0"/>
                  </a:lnTo>
                  <a:cubicBezTo>
                    <a:pt x="10523601" y="0"/>
                    <a:pt x="10591800" y="68199"/>
                    <a:pt x="10591800" y="152400"/>
                  </a:cubicBezTo>
                  <a:lnTo>
                    <a:pt x="10591800" y="1428750"/>
                  </a:lnTo>
                  <a:cubicBezTo>
                    <a:pt x="10591800" y="1512951"/>
                    <a:pt x="10523601" y="1581150"/>
                    <a:pt x="10439400" y="1581150"/>
                  </a:cubicBezTo>
                  <a:lnTo>
                    <a:pt x="76200" y="1581150"/>
                  </a:lnTo>
                  <a:cubicBezTo>
                    <a:pt x="34163" y="1581150"/>
                    <a:pt x="0" y="1546987"/>
                    <a:pt x="0" y="15049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40105" y="3769042"/>
            <a:ext cx="57150" cy="1185862"/>
            <a:chOff x="0" y="0"/>
            <a:chExt cx="76200" cy="15811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2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76200">
                  <a:moveTo>
                    <a:pt x="76200" y="0"/>
                  </a:moveTo>
                  <a:lnTo>
                    <a:pt x="76200" y="1581150"/>
                  </a:lnTo>
                  <a:cubicBezTo>
                    <a:pt x="34163" y="1581150"/>
                    <a:pt x="0" y="1546987"/>
                    <a:pt x="0" y="15049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40130" y="3969067"/>
            <a:ext cx="342900" cy="342900"/>
            <a:chOff x="0" y="0"/>
            <a:chExt cx="457200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7171">
                <a:alpha val="784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1755" y="4026217"/>
            <a:ext cx="185738" cy="228600"/>
            <a:chOff x="0" y="0"/>
            <a:chExt cx="247650" cy="304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7650" cy="304800"/>
            </a:xfrm>
            <a:custGeom>
              <a:avLst/>
              <a:gdLst/>
              <a:ahLst/>
              <a:cxnLst/>
              <a:rect r="r" b="b" t="t" l="l"/>
              <a:pathLst>
                <a:path h="3048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912" t="0" r="-10791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2476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F87171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54480" y="3940492"/>
            <a:ext cx="7158038" cy="285750"/>
            <a:chOff x="0" y="0"/>
            <a:chExt cx="9544050" cy="381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44050" cy="381000"/>
            </a:xfrm>
            <a:custGeom>
              <a:avLst/>
              <a:gdLst/>
              <a:ahLst/>
              <a:cxnLst/>
              <a:rect r="r" b="b" t="t" l="l"/>
              <a:pathLst>
                <a:path h="381000" w="9544050">
                  <a:moveTo>
                    <a:pt x="0" y="0"/>
                  </a:moveTo>
                  <a:lnTo>
                    <a:pt x="9544050" y="0"/>
                  </a:lnTo>
                  <a:lnTo>
                    <a:pt x="9544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100" r="0" b="-4381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544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Single-Pass Architecture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54480" y="4226242"/>
            <a:ext cx="7143750" cy="557212"/>
            <a:chOff x="0" y="0"/>
            <a:chExt cx="9525000" cy="7429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25000" cy="742950"/>
            </a:xfrm>
            <a:custGeom>
              <a:avLst/>
              <a:gdLst/>
              <a:ahLst/>
              <a:cxnLst/>
              <a:rect r="r" b="b" t="t" l="l"/>
              <a:pathLst>
                <a:path h="74295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808" r="0" b="-19980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9525000" cy="80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Compiler is single-pass to reduce memory usage, sacrificing some optimization opportunities. No separate optimization passes.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40105" y="5069205"/>
            <a:ext cx="7943850" cy="1185862"/>
            <a:chOff x="0" y="0"/>
            <a:chExt cx="10591800" cy="15811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918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591800">
                  <a:moveTo>
                    <a:pt x="76200" y="0"/>
                  </a:moveTo>
                  <a:lnTo>
                    <a:pt x="10439400" y="0"/>
                  </a:lnTo>
                  <a:cubicBezTo>
                    <a:pt x="10523601" y="0"/>
                    <a:pt x="10591800" y="68199"/>
                    <a:pt x="10591800" y="152400"/>
                  </a:cubicBezTo>
                  <a:lnTo>
                    <a:pt x="10591800" y="1428750"/>
                  </a:lnTo>
                  <a:cubicBezTo>
                    <a:pt x="10591800" y="1512951"/>
                    <a:pt x="10523601" y="1581150"/>
                    <a:pt x="10439400" y="1581150"/>
                  </a:cubicBezTo>
                  <a:lnTo>
                    <a:pt x="76200" y="1581150"/>
                  </a:lnTo>
                  <a:cubicBezTo>
                    <a:pt x="34163" y="1581150"/>
                    <a:pt x="0" y="1546987"/>
                    <a:pt x="0" y="15049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40105" y="5069205"/>
            <a:ext cx="57150" cy="1185862"/>
            <a:chOff x="0" y="0"/>
            <a:chExt cx="76200" cy="15811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2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76200">
                  <a:moveTo>
                    <a:pt x="76200" y="0"/>
                  </a:moveTo>
                  <a:lnTo>
                    <a:pt x="76200" y="1581150"/>
                  </a:lnTo>
                  <a:cubicBezTo>
                    <a:pt x="34163" y="1581150"/>
                    <a:pt x="0" y="1546987"/>
                    <a:pt x="0" y="15049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40130" y="5269230"/>
            <a:ext cx="342900" cy="342900"/>
            <a:chOff x="0" y="0"/>
            <a:chExt cx="457200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7171">
                <a:alpha val="784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0859" y="5326380"/>
            <a:ext cx="185738" cy="228600"/>
            <a:chOff x="0" y="0"/>
            <a:chExt cx="247650" cy="304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7650" cy="304800"/>
            </a:xfrm>
            <a:custGeom>
              <a:avLst/>
              <a:gdLst/>
              <a:ahLst/>
              <a:cxnLst/>
              <a:rect r="r" b="b" t="t" l="l"/>
              <a:pathLst>
                <a:path h="3048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912" t="0" r="-10791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476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F87171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54480" y="5240655"/>
            <a:ext cx="7158038" cy="285750"/>
            <a:chOff x="0" y="0"/>
            <a:chExt cx="9544050" cy="381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44050" cy="381000"/>
            </a:xfrm>
            <a:custGeom>
              <a:avLst/>
              <a:gdLst/>
              <a:ahLst/>
              <a:cxnLst/>
              <a:rect r="r" b="b" t="t" l="l"/>
              <a:pathLst>
                <a:path h="381000" w="9544050">
                  <a:moveTo>
                    <a:pt x="0" y="0"/>
                  </a:moveTo>
                  <a:lnTo>
                    <a:pt x="9544050" y="0"/>
                  </a:lnTo>
                  <a:lnTo>
                    <a:pt x="9544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100" r="0" b="-4381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544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Error Handling Focus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54480" y="5526405"/>
            <a:ext cx="7143750" cy="557212"/>
            <a:chOff x="0" y="0"/>
            <a:chExt cx="9525000" cy="7429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525000" cy="742950"/>
            </a:xfrm>
            <a:custGeom>
              <a:avLst/>
              <a:gdLst/>
              <a:ahLst/>
              <a:cxnLst/>
              <a:rect r="r" b="b" t="t" l="l"/>
              <a:pathLst>
                <a:path h="74295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808" r="0" b="-19980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9525000" cy="80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Error handling focuses on syntax errors and undeclared variables. Semantic errors are collected and reported together.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40105" y="6369368"/>
            <a:ext cx="7943850" cy="1185862"/>
            <a:chOff x="0" y="0"/>
            <a:chExt cx="10591800" cy="15811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5918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591800">
                  <a:moveTo>
                    <a:pt x="76200" y="0"/>
                  </a:moveTo>
                  <a:lnTo>
                    <a:pt x="10439400" y="0"/>
                  </a:lnTo>
                  <a:cubicBezTo>
                    <a:pt x="10523601" y="0"/>
                    <a:pt x="10591800" y="68199"/>
                    <a:pt x="10591800" y="152400"/>
                  </a:cubicBezTo>
                  <a:lnTo>
                    <a:pt x="10591800" y="1428750"/>
                  </a:lnTo>
                  <a:cubicBezTo>
                    <a:pt x="10591800" y="1512951"/>
                    <a:pt x="10523601" y="1581150"/>
                    <a:pt x="10439400" y="1581150"/>
                  </a:cubicBezTo>
                  <a:lnTo>
                    <a:pt x="76200" y="1581150"/>
                  </a:lnTo>
                  <a:cubicBezTo>
                    <a:pt x="34163" y="1581150"/>
                    <a:pt x="0" y="1546987"/>
                    <a:pt x="0" y="15049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40105" y="6369368"/>
            <a:ext cx="57150" cy="1185862"/>
            <a:chOff x="0" y="0"/>
            <a:chExt cx="76200" cy="15811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62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76200">
                  <a:moveTo>
                    <a:pt x="76200" y="0"/>
                  </a:moveTo>
                  <a:lnTo>
                    <a:pt x="76200" y="1581150"/>
                  </a:lnTo>
                  <a:cubicBezTo>
                    <a:pt x="34163" y="1581150"/>
                    <a:pt x="0" y="1546987"/>
                    <a:pt x="0" y="15049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40130" y="6569393"/>
            <a:ext cx="342900" cy="342900"/>
            <a:chOff x="0" y="0"/>
            <a:chExt cx="457200" cy="457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7171">
                <a:alpha val="784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61040" y="6626543"/>
            <a:ext cx="185738" cy="228600"/>
            <a:chOff x="0" y="0"/>
            <a:chExt cx="247650" cy="304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7650" cy="304800"/>
            </a:xfrm>
            <a:custGeom>
              <a:avLst/>
              <a:gdLst/>
              <a:ahLst/>
              <a:cxnLst/>
              <a:rect r="r" b="b" t="t" l="l"/>
              <a:pathLst>
                <a:path h="3048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912" t="0" r="-10791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2476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F87171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54480" y="6540818"/>
            <a:ext cx="7158038" cy="285750"/>
            <a:chOff x="0" y="0"/>
            <a:chExt cx="9544050" cy="381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544050" cy="381000"/>
            </a:xfrm>
            <a:custGeom>
              <a:avLst/>
              <a:gdLst/>
              <a:ahLst/>
              <a:cxnLst/>
              <a:rect r="r" b="b" t="t" l="l"/>
              <a:pathLst>
                <a:path h="381000" w="9544050">
                  <a:moveTo>
                    <a:pt x="0" y="0"/>
                  </a:moveTo>
                  <a:lnTo>
                    <a:pt x="9544050" y="0"/>
                  </a:lnTo>
                  <a:lnTo>
                    <a:pt x="9544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100" r="0" b="-4381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9544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Target Output: IR for VM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554480" y="6826568"/>
            <a:ext cx="7143750" cy="557212"/>
            <a:chOff x="0" y="0"/>
            <a:chExt cx="9525000" cy="7429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525000" cy="742950"/>
            </a:xfrm>
            <a:custGeom>
              <a:avLst/>
              <a:gdLst/>
              <a:ahLst/>
              <a:cxnLst/>
              <a:rect r="r" b="b" t="t" l="l"/>
              <a:pathLst>
                <a:path h="74295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808" r="0" b="-19980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9525000" cy="80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Target output is intermediate representation (IR) for a stack-based virtual machine, not native machine code.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40105" y="7669530"/>
            <a:ext cx="7943850" cy="1185862"/>
            <a:chOff x="0" y="0"/>
            <a:chExt cx="10591800" cy="15811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5918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591800">
                  <a:moveTo>
                    <a:pt x="76200" y="0"/>
                  </a:moveTo>
                  <a:lnTo>
                    <a:pt x="10439400" y="0"/>
                  </a:lnTo>
                  <a:cubicBezTo>
                    <a:pt x="10523601" y="0"/>
                    <a:pt x="10591800" y="68199"/>
                    <a:pt x="10591800" y="152400"/>
                  </a:cubicBezTo>
                  <a:lnTo>
                    <a:pt x="10591800" y="1428750"/>
                  </a:lnTo>
                  <a:cubicBezTo>
                    <a:pt x="10591800" y="1512951"/>
                    <a:pt x="10523601" y="1581150"/>
                    <a:pt x="10439400" y="1581150"/>
                  </a:cubicBezTo>
                  <a:lnTo>
                    <a:pt x="76200" y="1581150"/>
                  </a:lnTo>
                  <a:cubicBezTo>
                    <a:pt x="34163" y="1581150"/>
                    <a:pt x="0" y="1546987"/>
                    <a:pt x="0" y="15049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40105" y="7669530"/>
            <a:ext cx="57150" cy="1185862"/>
            <a:chOff x="0" y="0"/>
            <a:chExt cx="76200" cy="15811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62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76200">
                  <a:moveTo>
                    <a:pt x="76200" y="0"/>
                  </a:moveTo>
                  <a:lnTo>
                    <a:pt x="76200" y="1581150"/>
                  </a:lnTo>
                  <a:cubicBezTo>
                    <a:pt x="34163" y="1581150"/>
                    <a:pt x="0" y="1546987"/>
                    <a:pt x="0" y="15049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40130" y="7869555"/>
            <a:ext cx="342900" cy="342900"/>
            <a:chOff x="0" y="0"/>
            <a:chExt cx="457200" cy="457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87171">
                <a:alpha val="784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62107" y="7926705"/>
            <a:ext cx="185738" cy="228600"/>
            <a:chOff x="0" y="0"/>
            <a:chExt cx="247650" cy="304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7650" cy="304800"/>
            </a:xfrm>
            <a:custGeom>
              <a:avLst/>
              <a:gdLst/>
              <a:ahLst/>
              <a:cxnLst/>
              <a:rect r="r" b="b" t="t" l="l"/>
              <a:pathLst>
                <a:path h="3048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912" t="0" r="-107912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247650" cy="32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F87171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5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54480" y="7840980"/>
            <a:ext cx="7158038" cy="285750"/>
            <a:chOff x="0" y="0"/>
            <a:chExt cx="9544050" cy="381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544050" cy="381000"/>
            </a:xfrm>
            <a:custGeom>
              <a:avLst/>
              <a:gdLst/>
              <a:ahLst/>
              <a:cxnLst/>
              <a:rect r="r" b="b" t="t" l="l"/>
              <a:pathLst>
                <a:path h="381000" w="9544050">
                  <a:moveTo>
                    <a:pt x="0" y="0"/>
                  </a:moveTo>
                  <a:lnTo>
                    <a:pt x="9544050" y="0"/>
                  </a:lnTo>
                  <a:lnTo>
                    <a:pt x="9544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100" r="0" b="-43810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544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No Forward Declarations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554480" y="8126730"/>
            <a:ext cx="7143750" cy="557212"/>
            <a:chOff x="0" y="0"/>
            <a:chExt cx="9525000" cy="74295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525000" cy="742950"/>
            </a:xfrm>
            <a:custGeom>
              <a:avLst/>
              <a:gdLst/>
              <a:ahLst/>
              <a:cxnLst/>
              <a:rect r="r" b="b" t="t" l="l"/>
              <a:pathLst>
                <a:path h="74295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808" r="0" b="-19980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66675"/>
              <a:ext cx="9525000" cy="80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35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Functions must be declared before use. No forward declarations required, enabling single-pass compilation.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9256395" y="1655445"/>
            <a:ext cx="8456295" cy="5598795"/>
          </a:xfrm>
          <a:custGeom>
            <a:avLst/>
            <a:gdLst/>
            <a:ahLst/>
            <a:cxnLst/>
            <a:rect r="r" b="b" t="t" l="l"/>
            <a:pathLst>
              <a:path h="5598795" w="8456295">
                <a:moveTo>
                  <a:pt x="0" y="0"/>
                </a:moveTo>
                <a:lnTo>
                  <a:pt x="8456295" y="0"/>
                </a:lnTo>
                <a:lnTo>
                  <a:pt x="8456295" y="5598795"/>
                </a:lnTo>
                <a:lnTo>
                  <a:pt x="0" y="55987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9498330" y="1954530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8" y="0"/>
                </a:lnTo>
                <a:lnTo>
                  <a:pt x="35718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0026968" y="1897380"/>
            <a:ext cx="2343150" cy="400050"/>
            <a:chOff x="0" y="0"/>
            <a:chExt cx="3124200" cy="5334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124200" cy="533400"/>
            </a:xfrm>
            <a:custGeom>
              <a:avLst/>
              <a:gdLst/>
              <a:ahLst/>
              <a:cxnLst/>
              <a:rect r="r" b="b" t="t" l="l"/>
              <a:pathLst>
                <a:path h="5334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76200"/>
              <a:ext cx="31242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Trade-offs Analysis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9496425" y="2466975"/>
            <a:ext cx="7984807" cy="2169795"/>
          </a:xfrm>
          <a:custGeom>
            <a:avLst/>
            <a:gdLst/>
            <a:ahLst/>
            <a:cxnLst/>
            <a:rect r="r" b="b" t="t" l="l"/>
            <a:pathLst>
              <a:path h="2169795" w="7984807">
                <a:moveTo>
                  <a:pt x="0" y="0"/>
                </a:moveTo>
                <a:lnTo>
                  <a:pt x="7984807" y="0"/>
                </a:lnTo>
                <a:lnTo>
                  <a:pt x="7984807" y="2169795"/>
                </a:lnTo>
                <a:lnTo>
                  <a:pt x="0" y="21697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9709785" y="2680335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10081260" y="2651760"/>
            <a:ext cx="1157288" cy="285750"/>
            <a:chOff x="0" y="0"/>
            <a:chExt cx="1543050" cy="3810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543050" cy="381000"/>
            </a:xfrm>
            <a:custGeom>
              <a:avLst/>
              <a:gdLst/>
              <a:ahLst/>
              <a:cxnLst/>
              <a:rect r="r" b="b" t="t" l="l"/>
              <a:pathLst>
                <a:path h="381000" w="1543050">
                  <a:moveTo>
                    <a:pt x="0" y="0"/>
                  </a:moveTo>
                  <a:lnTo>
                    <a:pt x="1543050" y="0"/>
                  </a:lnTo>
                  <a:lnTo>
                    <a:pt x="1543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543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Advantages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713357" y="3108960"/>
            <a:ext cx="150019" cy="171450"/>
            <a:chOff x="0" y="0"/>
            <a:chExt cx="200025" cy="228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27" y="28500"/>
              <a:ext cx="199973" cy="185679"/>
            </a:xfrm>
            <a:custGeom>
              <a:avLst/>
              <a:gdLst/>
              <a:ahLst/>
              <a:cxnLst/>
              <a:rect r="r" b="b" t="t" l="l"/>
              <a:pathLst>
                <a:path h="185679" w="199973">
                  <a:moveTo>
                    <a:pt x="194056" y="2742"/>
                  </a:moveTo>
                  <a:cubicBezTo>
                    <a:pt x="200406" y="7441"/>
                    <a:pt x="201930" y="16331"/>
                    <a:pt x="197231" y="22681"/>
                  </a:cubicBezTo>
                  <a:lnTo>
                    <a:pt x="82931" y="179780"/>
                  </a:lnTo>
                  <a:cubicBezTo>
                    <a:pt x="80518" y="183209"/>
                    <a:pt x="76708" y="185241"/>
                    <a:pt x="72517" y="185622"/>
                  </a:cubicBezTo>
                  <a:cubicBezTo>
                    <a:pt x="68326" y="186003"/>
                    <a:pt x="64262" y="184479"/>
                    <a:pt x="61341" y="181431"/>
                  </a:cubicBezTo>
                  <a:lnTo>
                    <a:pt x="4191" y="124281"/>
                  </a:lnTo>
                  <a:cubicBezTo>
                    <a:pt x="-1397" y="118693"/>
                    <a:pt x="-1397" y="109676"/>
                    <a:pt x="4191" y="104088"/>
                  </a:cubicBezTo>
                  <a:cubicBezTo>
                    <a:pt x="9779" y="98500"/>
                    <a:pt x="18796" y="98500"/>
                    <a:pt x="24384" y="104088"/>
                  </a:cubicBezTo>
                  <a:lnTo>
                    <a:pt x="69723" y="149427"/>
                  </a:lnTo>
                  <a:lnTo>
                    <a:pt x="174117" y="5917"/>
                  </a:lnTo>
                  <a:cubicBezTo>
                    <a:pt x="178816" y="-433"/>
                    <a:pt x="187706" y="-1957"/>
                    <a:pt x="194056" y="2742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009822" y="3051810"/>
            <a:ext cx="6986588" cy="285750"/>
            <a:chOff x="0" y="0"/>
            <a:chExt cx="9315450" cy="3810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315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15450">
                  <a:moveTo>
                    <a:pt x="0" y="0"/>
                  </a:moveTo>
                  <a:lnTo>
                    <a:pt x="9315450" y="0"/>
                  </a:lnTo>
                  <a:lnTo>
                    <a:pt x="9315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409" r="0" b="-42640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93154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Reduced Memory: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Single-pass uses 50% less memory than multi-pass designs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713357" y="3480435"/>
            <a:ext cx="150019" cy="171450"/>
            <a:chOff x="0" y="0"/>
            <a:chExt cx="200025" cy="2286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27" y="28500"/>
              <a:ext cx="199973" cy="185679"/>
            </a:xfrm>
            <a:custGeom>
              <a:avLst/>
              <a:gdLst/>
              <a:ahLst/>
              <a:cxnLst/>
              <a:rect r="r" b="b" t="t" l="l"/>
              <a:pathLst>
                <a:path h="185679" w="199973">
                  <a:moveTo>
                    <a:pt x="194056" y="2742"/>
                  </a:moveTo>
                  <a:cubicBezTo>
                    <a:pt x="200406" y="7441"/>
                    <a:pt x="201930" y="16331"/>
                    <a:pt x="197231" y="22681"/>
                  </a:cubicBezTo>
                  <a:lnTo>
                    <a:pt x="82931" y="179780"/>
                  </a:lnTo>
                  <a:cubicBezTo>
                    <a:pt x="80518" y="183209"/>
                    <a:pt x="76708" y="185241"/>
                    <a:pt x="72517" y="185622"/>
                  </a:cubicBezTo>
                  <a:cubicBezTo>
                    <a:pt x="68326" y="186003"/>
                    <a:pt x="64262" y="184479"/>
                    <a:pt x="61341" y="181431"/>
                  </a:cubicBezTo>
                  <a:lnTo>
                    <a:pt x="4191" y="124281"/>
                  </a:lnTo>
                  <a:cubicBezTo>
                    <a:pt x="-1397" y="118693"/>
                    <a:pt x="-1397" y="109676"/>
                    <a:pt x="4191" y="104088"/>
                  </a:cubicBezTo>
                  <a:cubicBezTo>
                    <a:pt x="9779" y="98500"/>
                    <a:pt x="18796" y="98500"/>
                    <a:pt x="24384" y="104088"/>
                  </a:cubicBezTo>
                  <a:lnTo>
                    <a:pt x="69723" y="149427"/>
                  </a:lnTo>
                  <a:lnTo>
                    <a:pt x="174117" y="5917"/>
                  </a:lnTo>
                  <a:cubicBezTo>
                    <a:pt x="178816" y="-433"/>
                    <a:pt x="187706" y="-1957"/>
                    <a:pt x="194056" y="2742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0009822" y="3423285"/>
            <a:ext cx="6172200" cy="285750"/>
            <a:chOff x="0" y="0"/>
            <a:chExt cx="8229600" cy="3810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229600" cy="381000"/>
            </a:xfrm>
            <a:custGeom>
              <a:avLst/>
              <a:gdLst/>
              <a:ahLst/>
              <a:cxnLst/>
              <a:rect r="r" b="b" t="t" l="l"/>
              <a:pathLst>
                <a:path h="3810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82296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Faster Compilation: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Sub-millisecond compilation for typical programs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713357" y="3851910"/>
            <a:ext cx="150019" cy="171450"/>
            <a:chOff x="0" y="0"/>
            <a:chExt cx="200025" cy="228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27" y="28500"/>
              <a:ext cx="199973" cy="185679"/>
            </a:xfrm>
            <a:custGeom>
              <a:avLst/>
              <a:gdLst/>
              <a:ahLst/>
              <a:cxnLst/>
              <a:rect r="r" b="b" t="t" l="l"/>
              <a:pathLst>
                <a:path h="185679" w="199973">
                  <a:moveTo>
                    <a:pt x="194056" y="2742"/>
                  </a:moveTo>
                  <a:cubicBezTo>
                    <a:pt x="200406" y="7441"/>
                    <a:pt x="201930" y="16331"/>
                    <a:pt x="197231" y="22681"/>
                  </a:cubicBezTo>
                  <a:lnTo>
                    <a:pt x="82931" y="179780"/>
                  </a:lnTo>
                  <a:cubicBezTo>
                    <a:pt x="80518" y="183209"/>
                    <a:pt x="76708" y="185241"/>
                    <a:pt x="72517" y="185622"/>
                  </a:cubicBezTo>
                  <a:cubicBezTo>
                    <a:pt x="68326" y="186003"/>
                    <a:pt x="64262" y="184479"/>
                    <a:pt x="61341" y="181431"/>
                  </a:cubicBezTo>
                  <a:lnTo>
                    <a:pt x="4191" y="124281"/>
                  </a:lnTo>
                  <a:cubicBezTo>
                    <a:pt x="-1397" y="118693"/>
                    <a:pt x="-1397" y="109676"/>
                    <a:pt x="4191" y="104088"/>
                  </a:cubicBezTo>
                  <a:cubicBezTo>
                    <a:pt x="9779" y="98500"/>
                    <a:pt x="18796" y="98500"/>
                    <a:pt x="24384" y="104088"/>
                  </a:cubicBezTo>
                  <a:lnTo>
                    <a:pt x="69723" y="149427"/>
                  </a:lnTo>
                  <a:lnTo>
                    <a:pt x="174117" y="5917"/>
                  </a:lnTo>
                  <a:cubicBezTo>
                    <a:pt x="178816" y="-433"/>
                    <a:pt x="187706" y="-1957"/>
                    <a:pt x="194056" y="2742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009822" y="3794760"/>
            <a:ext cx="5257800" cy="285750"/>
            <a:chOff x="0" y="0"/>
            <a:chExt cx="7010400" cy="3810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010400" cy="381000"/>
            </a:xfrm>
            <a:custGeom>
              <a:avLst/>
              <a:gdLst/>
              <a:ahLst/>
              <a:cxnLst/>
              <a:rect r="r" b="b" t="t" l="l"/>
              <a:pathLst>
                <a:path h="3810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70104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Simpler Implementation: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Easier to understand and maintain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713357" y="4223385"/>
            <a:ext cx="150019" cy="171450"/>
            <a:chOff x="0" y="0"/>
            <a:chExt cx="200025" cy="2286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27" y="28500"/>
              <a:ext cx="199973" cy="185679"/>
            </a:xfrm>
            <a:custGeom>
              <a:avLst/>
              <a:gdLst/>
              <a:ahLst/>
              <a:cxnLst/>
              <a:rect r="r" b="b" t="t" l="l"/>
              <a:pathLst>
                <a:path h="185679" w="199973">
                  <a:moveTo>
                    <a:pt x="194056" y="2742"/>
                  </a:moveTo>
                  <a:cubicBezTo>
                    <a:pt x="200406" y="7441"/>
                    <a:pt x="201930" y="16331"/>
                    <a:pt x="197231" y="22681"/>
                  </a:cubicBezTo>
                  <a:lnTo>
                    <a:pt x="82931" y="179780"/>
                  </a:lnTo>
                  <a:cubicBezTo>
                    <a:pt x="80518" y="183209"/>
                    <a:pt x="76708" y="185241"/>
                    <a:pt x="72517" y="185622"/>
                  </a:cubicBezTo>
                  <a:cubicBezTo>
                    <a:pt x="68326" y="186003"/>
                    <a:pt x="64262" y="184479"/>
                    <a:pt x="61341" y="181431"/>
                  </a:cubicBezTo>
                  <a:lnTo>
                    <a:pt x="4191" y="124281"/>
                  </a:lnTo>
                  <a:cubicBezTo>
                    <a:pt x="-1397" y="118693"/>
                    <a:pt x="-1397" y="109676"/>
                    <a:pt x="4191" y="104088"/>
                  </a:cubicBezTo>
                  <a:cubicBezTo>
                    <a:pt x="9779" y="98500"/>
                    <a:pt x="18796" y="98500"/>
                    <a:pt x="24384" y="104088"/>
                  </a:cubicBezTo>
                  <a:lnTo>
                    <a:pt x="69723" y="149427"/>
                  </a:lnTo>
                  <a:lnTo>
                    <a:pt x="174117" y="5917"/>
                  </a:lnTo>
                  <a:cubicBezTo>
                    <a:pt x="178816" y="-433"/>
                    <a:pt x="187706" y="-1957"/>
                    <a:pt x="194056" y="2742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009822" y="4166235"/>
            <a:ext cx="5286375" cy="285750"/>
            <a:chOff x="0" y="0"/>
            <a:chExt cx="7048500" cy="3810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048500" cy="381000"/>
            </a:xfrm>
            <a:custGeom>
              <a:avLst/>
              <a:gdLst/>
              <a:ahLst/>
              <a:cxnLst/>
              <a:rect r="r" b="b" t="t" l="l"/>
              <a:pathLst>
                <a:path h="38100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7048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Embedded Suitable: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Ideal for resource-constrained devices</a:t>
              </a:r>
            </a:p>
          </p:txBody>
        </p:sp>
      </p:grpSp>
      <p:sp>
        <p:nvSpPr>
          <p:cNvPr name="Freeform 118" id="118"/>
          <p:cNvSpPr/>
          <p:nvPr/>
        </p:nvSpPr>
        <p:spPr>
          <a:xfrm flipH="false" flipV="false" rot="0">
            <a:off x="9496425" y="4747260"/>
            <a:ext cx="7984807" cy="2169795"/>
          </a:xfrm>
          <a:custGeom>
            <a:avLst/>
            <a:gdLst/>
            <a:ahLst/>
            <a:cxnLst/>
            <a:rect r="r" b="b" t="t" l="l"/>
            <a:pathLst>
              <a:path h="2169795" w="7984807">
                <a:moveTo>
                  <a:pt x="0" y="0"/>
                </a:moveTo>
                <a:lnTo>
                  <a:pt x="7984807" y="0"/>
                </a:lnTo>
                <a:lnTo>
                  <a:pt x="7984807" y="2169795"/>
                </a:lnTo>
                <a:lnTo>
                  <a:pt x="0" y="21697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9" id="119"/>
          <p:cNvGrpSpPr/>
          <p:nvPr/>
        </p:nvGrpSpPr>
        <p:grpSpPr>
          <a:xfrm rot="0">
            <a:off x="9709785" y="4960620"/>
            <a:ext cx="228600" cy="228600"/>
            <a:chOff x="0" y="0"/>
            <a:chExt cx="304800" cy="3048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99949" y="138049"/>
                  </a:moveTo>
                  <a:lnTo>
                    <a:pt x="204724" y="138049"/>
                  </a:lnTo>
                  <a:cubicBezTo>
                    <a:pt x="212598" y="138049"/>
                    <a:pt x="218948" y="144399"/>
                    <a:pt x="218948" y="152400"/>
                  </a:cubicBezTo>
                  <a:cubicBezTo>
                    <a:pt x="218948" y="160401"/>
                    <a:pt x="212598" y="166751"/>
                    <a:pt x="204724" y="166751"/>
                  </a:cubicBezTo>
                  <a:lnTo>
                    <a:pt x="99949" y="166751"/>
                  </a:lnTo>
                  <a:cubicBezTo>
                    <a:pt x="92075" y="166751"/>
                    <a:pt x="85725" y="160401"/>
                    <a:pt x="85725" y="152400"/>
                  </a:cubicBezTo>
                  <a:cubicBezTo>
                    <a:pt x="85725" y="144399"/>
                    <a:pt x="92075" y="138049"/>
                    <a:pt x="99949" y="138049"/>
                  </a:cubicBez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081260" y="4932045"/>
            <a:ext cx="1085850" cy="285750"/>
            <a:chOff x="0" y="0"/>
            <a:chExt cx="1447800" cy="3810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4478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14478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87171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Limitations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724072" y="5389245"/>
            <a:ext cx="128588" cy="171450"/>
            <a:chOff x="0" y="0"/>
            <a:chExt cx="171450" cy="2286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27" y="28575"/>
              <a:ext cx="171577" cy="171450"/>
            </a:xfrm>
            <a:custGeom>
              <a:avLst/>
              <a:gdLst/>
              <a:ahLst/>
              <a:cxnLst/>
              <a:rect r="r" b="b" t="t" l="l"/>
              <a:pathLst>
                <a:path h="171450" w="171577">
                  <a:moveTo>
                    <a:pt x="24511" y="4191"/>
                  </a:moveTo>
                  <a:cubicBezTo>
                    <a:pt x="18923" y="-1397"/>
                    <a:pt x="9779" y="-1397"/>
                    <a:pt x="4191" y="4191"/>
                  </a:cubicBezTo>
                  <a:cubicBezTo>
                    <a:pt x="-1397" y="9779"/>
                    <a:pt x="-1397" y="18796"/>
                    <a:pt x="4191" y="24384"/>
                  </a:cubicBezTo>
                  <a:lnTo>
                    <a:pt x="65532" y="85725"/>
                  </a:lnTo>
                  <a:lnTo>
                    <a:pt x="4318" y="147066"/>
                  </a:lnTo>
                  <a:cubicBezTo>
                    <a:pt x="-1270" y="152654"/>
                    <a:pt x="-1270" y="161671"/>
                    <a:pt x="4318" y="167259"/>
                  </a:cubicBezTo>
                  <a:cubicBezTo>
                    <a:pt x="9906" y="172847"/>
                    <a:pt x="18923" y="172847"/>
                    <a:pt x="24511" y="167259"/>
                  </a:cubicBezTo>
                  <a:lnTo>
                    <a:pt x="85852" y="105918"/>
                  </a:lnTo>
                  <a:lnTo>
                    <a:pt x="147193" y="167259"/>
                  </a:lnTo>
                  <a:cubicBezTo>
                    <a:pt x="152781" y="172847"/>
                    <a:pt x="161798" y="172847"/>
                    <a:pt x="167386" y="167259"/>
                  </a:cubicBezTo>
                  <a:cubicBezTo>
                    <a:pt x="172974" y="161671"/>
                    <a:pt x="172974" y="152654"/>
                    <a:pt x="167386" y="147066"/>
                  </a:cubicBezTo>
                  <a:lnTo>
                    <a:pt x="106045" y="85725"/>
                  </a:lnTo>
                  <a:lnTo>
                    <a:pt x="167386" y="24384"/>
                  </a:lnTo>
                  <a:cubicBezTo>
                    <a:pt x="172974" y="18796"/>
                    <a:pt x="172974" y="9779"/>
                    <a:pt x="167386" y="4191"/>
                  </a:cubicBezTo>
                  <a:cubicBezTo>
                    <a:pt x="161798" y="-1397"/>
                    <a:pt x="152781" y="-1397"/>
                    <a:pt x="147193" y="4191"/>
                  </a:cubicBezTo>
                  <a:lnTo>
                    <a:pt x="85852" y="65532"/>
                  </a:lnTo>
                  <a:lnTo>
                    <a:pt x="24511" y="4191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0009822" y="5332095"/>
            <a:ext cx="6886575" cy="285750"/>
            <a:chOff x="0" y="0"/>
            <a:chExt cx="9182100" cy="3810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9182100" cy="381000"/>
            </a:xfrm>
            <a:custGeom>
              <a:avLst/>
              <a:gdLst/>
              <a:ahLst/>
              <a:cxnLst/>
              <a:rect r="r" b="b" t="t" l="l"/>
              <a:pathLst>
                <a:path h="381000" w="9182100">
                  <a:moveTo>
                    <a:pt x="0" y="0"/>
                  </a:moveTo>
                  <a:lnTo>
                    <a:pt x="9182100" y="0"/>
                  </a:lnTo>
                  <a:lnTo>
                    <a:pt x="9182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9589" r="0" b="-419589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91821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No Optimizer: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IR is un-optimized; no dead code elimination or constant folding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724072" y="5760720"/>
            <a:ext cx="128588" cy="171450"/>
            <a:chOff x="0" y="0"/>
            <a:chExt cx="171450" cy="2286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127" y="28575"/>
              <a:ext cx="171577" cy="171450"/>
            </a:xfrm>
            <a:custGeom>
              <a:avLst/>
              <a:gdLst/>
              <a:ahLst/>
              <a:cxnLst/>
              <a:rect r="r" b="b" t="t" l="l"/>
              <a:pathLst>
                <a:path h="171450" w="171577">
                  <a:moveTo>
                    <a:pt x="24511" y="4191"/>
                  </a:moveTo>
                  <a:cubicBezTo>
                    <a:pt x="18923" y="-1397"/>
                    <a:pt x="9779" y="-1397"/>
                    <a:pt x="4191" y="4191"/>
                  </a:cubicBezTo>
                  <a:cubicBezTo>
                    <a:pt x="-1397" y="9779"/>
                    <a:pt x="-1397" y="18796"/>
                    <a:pt x="4191" y="24384"/>
                  </a:cubicBezTo>
                  <a:lnTo>
                    <a:pt x="65532" y="85725"/>
                  </a:lnTo>
                  <a:lnTo>
                    <a:pt x="4318" y="147066"/>
                  </a:lnTo>
                  <a:cubicBezTo>
                    <a:pt x="-1270" y="152654"/>
                    <a:pt x="-1270" y="161671"/>
                    <a:pt x="4318" y="167259"/>
                  </a:cubicBezTo>
                  <a:cubicBezTo>
                    <a:pt x="9906" y="172847"/>
                    <a:pt x="18923" y="172847"/>
                    <a:pt x="24511" y="167259"/>
                  </a:cubicBezTo>
                  <a:lnTo>
                    <a:pt x="85852" y="105918"/>
                  </a:lnTo>
                  <a:lnTo>
                    <a:pt x="147193" y="167259"/>
                  </a:lnTo>
                  <a:cubicBezTo>
                    <a:pt x="152781" y="172847"/>
                    <a:pt x="161798" y="172847"/>
                    <a:pt x="167386" y="167259"/>
                  </a:cubicBezTo>
                  <a:cubicBezTo>
                    <a:pt x="172974" y="161671"/>
                    <a:pt x="172974" y="152654"/>
                    <a:pt x="167386" y="147066"/>
                  </a:cubicBezTo>
                  <a:lnTo>
                    <a:pt x="106045" y="85725"/>
                  </a:lnTo>
                  <a:lnTo>
                    <a:pt x="167386" y="24384"/>
                  </a:lnTo>
                  <a:cubicBezTo>
                    <a:pt x="172974" y="18796"/>
                    <a:pt x="172974" y="9779"/>
                    <a:pt x="167386" y="4191"/>
                  </a:cubicBezTo>
                  <a:cubicBezTo>
                    <a:pt x="161798" y="-1397"/>
                    <a:pt x="152781" y="-1397"/>
                    <a:pt x="147193" y="4191"/>
                  </a:cubicBezTo>
                  <a:lnTo>
                    <a:pt x="85852" y="65532"/>
                  </a:lnTo>
                  <a:lnTo>
                    <a:pt x="24511" y="4191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009822" y="5703570"/>
            <a:ext cx="6115050" cy="285750"/>
            <a:chOff x="0" y="0"/>
            <a:chExt cx="8153400" cy="3810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8153400" cy="381000"/>
            </a:xfrm>
            <a:custGeom>
              <a:avLst/>
              <a:gdLst/>
              <a:ahLst/>
              <a:cxnLst/>
              <a:rect r="r" b="b" t="t" l="l"/>
              <a:pathLst>
                <a:path h="381000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979" r="0" b="-36697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81534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Limited Types: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Only int and bool; no arrays, pointers, or floating-point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724072" y="6132195"/>
            <a:ext cx="128588" cy="171450"/>
            <a:chOff x="0" y="0"/>
            <a:chExt cx="171450" cy="2286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27" y="28575"/>
              <a:ext cx="171577" cy="171450"/>
            </a:xfrm>
            <a:custGeom>
              <a:avLst/>
              <a:gdLst/>
              <a:ahLst/>
              <a:cxnLst/>
              <a:rect r="r" b="b" t="t" l="l"/>
              <a:pathLst>
                <a:path h="171450" w="171577">
                  <a:moveTo>
                    <a:pt x="24511" y="4191"/>
                  </a:moveTo>
                  <a:cubicBezTo>
                    <a:pt x="18923" y="-1397"/>
                    <a:pt x="9779" y="-1397"/>
                    <a:pt x="4191" y="4191"/>
                  </a:cubicBezTo>
                  <a:cubicBezTo>
                    <a:pt x="-1397" y="9779"/>
                    <a:pt x="-1397" y="18796"/>
                    <a:pt x="4191" y="24384"/>
                  </a:cubicBezTo>
                  <a:lnTo>
                    <a:pt x="65532" y="85725"/>
                  </a:lnTo>
                  <a:lnTo>
                    <a:pt x="4318" y="147066"/>
                  </a:lnTo>
                  <a:cubicBezTo>
                    <a:pt x="-1270" y="152654"/>
                    <a:pt x="-1270" y="161671"/>
                    <a:pt x="4318" y="167259"/>
                  </a:cubicBezTo>
                  <a:cubicBezTo>
                    <a:pt x="9906" y="172847"/>
                    <a:pt x="18923" y="172847"/>
                    <a:pt x="24511" y="167259"/>
                  </a:cubicBezTo>
                  <a:lnTo>
                    <a:pt x="85852" y="105918"/>
                  </a:lnTo>
                  <a:lnTo>
                    <a:pt x="147193" y="167259"/>
                  </a:lnTo>
                  <a:cubicBezTo>
                    <a:pt x="152781" y="172847"/>
                    <a:pt x="161798" y="172847"/>
                    <a:pt x="167386" y="167259"/>
                  </a:cubicBezTo>
                  <a:cubicBezTo>
                    <a:pt x="172974" y="161671"/>
                    <a:pt x="172974" y="152654"/>
                    <a:pt x="167386" y="147066"/>
                  </a:cubicBezTo>
                  <a:lnTo>
                    <a:pt x="106045" y="85725"/>
                  </a:lnTo>
                  <a:lnTo>
                    <a:pt x="167386" y="24384"/>
                  </a:lnTo>
                  <a:cubicBezTo>
                    <a:pt x="172974" y="18796"/>
                    <a:pt x="172974" y="9779"/>
                    <a:pt x="167386" y="4191"/>
                  </a:cubicBezTo>
                  <a:cubicBezTo>
                    <a:pt x="161798" y="-1397"/>
                    <a:pt x="152781" y="-1397"/>
                    <a:pt x="147193" y="4191"/>
                  </a:cubicBezTo>
                  <a:lnTo>
                    <a:pt x="85852" y="65532"/>
                  </a:lnTo>
                  <a:lnTo>
                    <a:pt x="24511" y="4191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0009822" y="6075045"/>
            <a:ext cx="6586538" cy="285750"/>
            <a:chOff x="0" y="0"/>
            <a:chExt cx="8782050" cy="3810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8782050" cy="381000"/>
            </a:xfrm>
            <a:custGeom>
              <a:avLst/>
              <a:gdLst/>
              <a:ahLst/>
              <a:cxnLst/>
              <a:rect r="r" b="b" t="t" l="l"/>
              <a:pathLst>
                <a:path h="381000" w="8782050">
                  <a:moveTo>
                    <a:pt x="0" y="0"/>
                  </a:moveTo>
                  <a:lnTo>
                    <a:pt x="8782050" y="0"/>
                  </a:lnTo>
                  <a:lnTo>
                    <a:pt x="8782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130" r="0" b="-39913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8782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Pseudo-Assembly: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Not directly assemblable without ABI/linkage additions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724072" y="6503670"/>
            <a:ext cx="128588" cy="171450"/>
            <a:chOff x="0" y="0"/>
            <a:chExt cx="171450" cy="2286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127" y="28575"/>
              <a:ext cx="171577" cy="171450"/>
            </a:xfrm>
            <a:custGeom>
              <a:avLst/>
              <a:gdLst/>
              <a:ahLst/>
              <a:cxnLst/>
              <a:rect r="r" b="b" t="t" l="l"/>
              <a:pathLst>
                <a:path h="171450" w="171577">
                  <a:moveTo>
                    <a:pt x="24511" y="4191"/>
                  </a:moveTo>
                  <a:cubicBezTo>
                    <a:pt x="18923" y="-1397"/>
                    <a:pt x="9779" y="-1397"/>
                    <a:pt x="4191" y="4191"/>
                  </a:cubicBezTo>
                  <a:cubicBezTo>
                    <a:pt x="-1397" y="9779"/>
                    <a:pt x="-1397" y="18796"/>
                    <a:pt x="4191" y="24384"/>
                  </a:cubicBezTo>
                  <a:lnTo>
                    <a:pt x="65532" y="85725"/>
                  </a:lnTo>
                  <a:lnTo>
                    <a:pt x="4318" y="147066"/>
                  </a:lnTo>
                  <a:cubicBezTo>
                    <a:pt x="-1270" y="152654"/>
                    <a:pt x="-1270" y="161671"/>
                    <a:pt x="4318" y="167259"/>
                  </a:cubicBezTo>
                  <a:cubicBezTo>
                    <a:pt x="9906" y="172847"/>
                    <a:pt x="18923" y="172847"/>
                    <a:pt x="24511" y="167259"/>
                  </a:cubicBezTo>
                  <a:lnTo>
                    <a:pt x="85852" y="105918"/>
                  </a:lnTo>
                  <a:lnTo>
                    <a:pt x="147193" y="167259"/>
                  </a:lnTo>
                  <a:cubicBezTo>
                    <a:pt x="152781" y="172847"/>
                    <a:pt x="161798" y="172847"/>
                    <a:pt x="167386" y="167259"/>
                  </a:cubicBezTo>
                  <a:cubicBezTo>
                    <a:pt x="172974" y="161671"/>
                    <a:pt x="172974" y="152654"/>
                    <a:pt x="167386" y="147066"/>
                  </a:cubicBezTo>
                  <a:lnTo>
                    <a:pt x="106045" y="85725"/>
                  </a:lnTo>
                  <a:lnTo>
                    <a:pt x="167386" y="24384"/>
                  </a:lnTo>
                  <a:cubicBezTo>
                    <a:pt x="172974" y="18796"/>
                    <a:pt x="172974" y="9779"/>
                    <a:pt x="167386" y="4191"/>
                  </a:cubicBezTo>
                  <a:cubicBezTo>
                    <a:pt x="161798" y="-1397"/>
                    <a:pt x="152781" y="-1397"/>
                    <a:pt x="147193" y="4191"/>
                  </a:cubicBezTo>
                  <a:lnTo>
                    <a:pt x="85852" y="65532"/>
                  </a:lnTo>
                  <a:lnTo>
                    <a:pt x="24511" y="4191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0009822" y="6446520"/>
            <a:ext cx="3929062" cy="285750"/>
            <a:chOff x="0" y="0"/>
            <a:chExt cx="5238750" cy="3810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238750" cy="381000"/>
            </a:xfrm>
            <a:custGeom>
              <a:avLst/>
              <a:gdLst/>
              <a:ahLst/>
              <a:cxnLst/>
              <a:rect r="r" b="b" t="t" l="l"/>
              <a:pathLst>
                <a:path h="381000" w="5238750">
                  <a:moveTo>
                    <a:pt x="0" y="0"/>
                  </a:moveTo>
                  <a:lnTo>
                    <a:pt x="5238750" y="0"/>
                  </a:lnTo>
                  <a:lnTo>
                    <a:pt x="5238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52387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No Modules: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All code must be in a single file</a:t>
              </a:r>
            </a:p>
          </p:txBody>
        </p:sp>
      </p:grpSp>
      <p:sp>
        <p:nvSpPr>
          <p:cNvPr name="Freeform 144" id="144"/>
          <p:cNvSpPr/>
          <p:nvPr/>
        </p:nvSpPr>
        <p:spPr>
          <a:xfrm flipH="false" flipV="false" rot="0">
            <a:off x="9256395" y="7419022"/>
            <a:ext cx="8456295" cy="2298383"/>
          </a:xfrm>
          <a:custGeom>
            <a:avLst/>
            <a:gdLst/>
            <a:ahLst/>
            <a:cxnLst/>
            <a:rect r="r" b="b" t="t" l="l"/>
            <a:pathLst>
              <a:path h="2298383" w="8456295">
                <a:moveTo>
                  <a:pt x="0" y="0"/>
                </a:moveTo>
                <a:lnTo>
                  <a:pt x="8456295" y="0"/>
                </a:lnTo>
                <a:lnTo>
                  <a:pt x="8456295" y="2298383"/>
                </a:lnTo>
                <a:lnTo>
                  <a:pt x="0" y="229838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5" id="145"/>
          <p:cNvSpPr/>
          <p:nvPr/>
        </p:nvSpPr>
        <p:spPr>
          <a:xfrm flipH="false" flipV="false" rot="0">
            <a:off x="9569768" y="7718107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6" id="146"/>
          <p:cNvGrpSpPr/>
          <p:nvPr/>
        </p:nvGrpSpPr>
        <p:grpSpPr>
          <a:xfrm rot="0">
            <a:off x="10026968" y="7660957"/>
            <a:ext cx="2228850" cy="400050"/>
            <a:chOff x="0" y="0"/>
            <a:chExt cx="2971800" cy="5334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971800" cy="533400"/>
            </a:xfrm>
            <a:custGeom>
              <a:avLst/>
              <a:gdLst/>
              <a:ahLst/>
              <a:cxnLst/>
              <a:rect r="r" b="b" t="t" l="l"/>
              <a:pathLst>
                <a:path h="533400" w="2971800">
                  <a:moveTo>
                    <a:pt x="0" y="0"/>
                  </a:moveTo>
                  <a:lnTo>
                    <a:pt x="2971800" y="0"/>
                  </a:lnTo>
                  <a:lnTo>
                    <a:pt x="2971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76200"/>
              <a:ext cx="29718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Design Philosophy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498330" y="8175307"/>
            <a:ext cx="8072438" cy="1300162"/>
            <a:chOff x="0" y="0"/>
            <a:chExt cx="10763250" cy="173355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763250" cy="1733550"/>
            </a:xfrm>
            <a:custGeom>
              <a:avLst/>
              <a:gdLst/>
              <a:ahLst/>
              <a:cxnLst/>
              <a:rect r="r" b="b" t="t" l="l"/>
              <a:pathLst>
                <a:path h="17335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1733550"/>
                  </a:lnTo>
                  <a:lnTo>
                    <a:pt x="0" y="17335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78" r="0" b="-70978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76200"/>
              <a:ext cx="10763250" cy="1809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The ABC Tech Lightweight Compiler prioritizes </a:t>
              </a:r>
              <a:r>
                <a:rPr lang="en-US" sz="15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simplicity, memory efficiency, and educational clarity</a:t>
              </a:r>
              <a:r>
                <a:rPr lang="en-US" sz="1575">
                  <a:solidFill>
                    <a:srgbClr val="94A3B8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 over feature completeness. Every design decision trades advanced capabilities for understandability and embedded system suitability — making it an ideal teaching tool and a practical foundation for resource-constrained environments.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7954" y="547954"/>
            <a:ext cx="17287980" cy="273977"/>
            <a:chOff x="0" y="0"/>
            <a:chExt cx="23050640" cy="3653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50643" cy="365304"/>
            </a:xfrm>
            <a:custGeom>
              <a:avLst/>
              <a:gdLst/>
              <a:ahLst/>
              <a:cxnLst/>
              <a:rect r="r" b="b" t="t" l="l"/>
              <a:pathLst>
                <a:path h="365304" w="23050643">
                  <a:moveTo>
                    <a:pt x="0" y="0"/>
                  </a:moveTo>
                  <a:lnTo>
                    <a:pt x="23050643" y="0"/>
                  </a:lnTo>
                  <a:lnTo>
                    <a:pt x="23050643" y="365304"/>
                  </a:lnTo>
                  <a:lnTo>
                    <a:pt x="0" y="365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503" r="0" b="-11795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050640" cy="40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5"/>
                </a:lnSpc>
              </a:pPr>
              <a:r>
                <a:rPr lang="en-US" b="true" sz="1510" spc="75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Interactive Showcase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4667" y="4771331"/>
            <a:ext cx="17438665" cy="1054241"/>
            <a:chOff x="0" y="0"/>
            <a:chExt cx="23251554" cy="14056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51561" cy="1405654"/>
            </a:xfrm>
            <a:custGeom>
              <a:avLst/>
              <a:gdLst/>
              <a:ahLst/>
              <a:cxnLst/>
              <a:rect r="r" b="b" t="t" l="l"/>
              <a:pathLst>
                <a:path h="1405654" w="23251561">
                  <a:moveTo>
                    <a:pt x="0" y="0"/>
                  </a:moveTo>
                  <a:lnTo>
                    <a:pt x="23251561" y="0"/>
                  </a:lnTo>
                  <a:lnTo>
                    <a:pt x="23251561" y="1405654"/>
                  </a:lnTo>
                  <a:lnTo>
                    <a:pt x="0" y="1405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322" r="0" b="-2482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23251554" cy="1348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22"/>
                </a:lnSpc>
              </a:pPr>
              <a:r>
                <a:rPr lang="en-US" sz="5483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Live Demo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5954" y="9655054"/>
            <a:ext cx="1450886" cy="409765"/>
          </a:xfrm>
          <a:custGeom>
            <a:avLst/>
            <a:gdLst/>
            <a:ahLst/>
            <a:cxnLst/>
            <a:rect r="r" b="b" t="t" l="l"/>
            <a:pathLst>
              <a:path h="409765" w="1450886">
                <a:moveTo>
                  <a:pt x="0" y="0"/>
                </a:moveTo>
                <a:lnTo>
                  <a:pt x="1450886" y="0"/>
                </a:lnTo>
                <a:lnTo>
                  <a:pt x="1450886" y="409766"/>
                </a:lnTo>
                <a:lnTo>
                  <a:pt x="0" y="409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78097" y="9657197"/>
            <a:ext cx="1520571" cy="383572"/>
            <a:chOff x="0" y="0"/>
            <a:chExt cx="2027428" cy="5114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7434" cy="511424"/>
            </a:xfrm>
            <a:custGeom>
              <a:avLst/>
              <a:gdLst/>
              <a:ahLst/>
              <a:cxnLst/>
              <a:rect r="r" b="b" t="t" l="l"/>
              <a:pathLst>
                <a:path h="511424" w="2027434">
                  <a:moveTo>
                    <a:pt x="0" y="0"/>
                  </a:moveTo>
                  <a:lnTo>
                    <a:pt x="2027434" y="0"/>
                  </a:lnTo>
                  <a:lnTo>
                    <a:pt x="2027434" y="511424"/>
                  </a:lnTo>
                  <a:lnTo>
                    <a:pt x="0" y="511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43" r="0" b="-272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7428" cy="5495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5"/>
                </a:lnSpc>
              </a:pPr>
              <a:r>
                <a:rPr lang="en-US" sz="1510">
                  <a:solidFill>
                    <a:srgbClr val="34D39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AST explorer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as2.ftcdn.net/3e5338944d45e5a2ad1e01d4e724fa4a4ae1fbdb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-3368" t="0" r="-336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F172A">
                    <a:alpha val="95000"/>
                  </a:srgbClr>
                </a:gs>
                <a:gs pos="50000">
                  <a:srgbClr val="0F172A">
                    <a:alpha val="90000"/>
                  </a:srgbClr>
                </a:gs>
                <a:gs pos="100000">
                  <a:srgbClr val="0F172A">
                    <a:alpha val="80000"/>
                  </a:srgbClr>
                </a:gs>
              </a:gsLst>
              <a:lin ang="3638535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731260" y="804100"/>
            <a:ext cx="4827270" cy="769620"/>
          </a:xfrm>
          <a:custGeom>
            <a:avLst/>
            <a:gdLst/>
            <a:ahLst/>
            <a:cxnLst/>
            <a:rect r="r" b="b" t="t" l="l"/>
            <a:pathLst>
              <a:path h="769620" w="4827270">
                <a:moveTo>
                  <a:pt x="0" y="0"/>
                </a:moveTo>
                <a:lnTo>
                  <a:pt x="4827270" y="0"/>
                </a:lnTo>
                <a:lnTo>
                  <a:pt x="4827270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087495" y="1103176"/>
            <a:ext cx="171450" cy="171450"/>
            <a:chOff x="0" y="0"/>
            <a:chExt cx="228600" cy="228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66102" y="988876"/>
            <a:ext cx="3900488" cy="400050"/>
            <a:chOff x="0" y="0"/>
            <a:chExt cx="5200650" cy="533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00650" cy="533400"/>
            </a:xfrm>
            <a:custGeom>
              <a:avLst/>
              <a:gdLst/>
              <a:ahLst/>
              <a:cxnLst/>
              <a:rect r="r" b="b" t="t" l="l"/>
              <a:pathLst>
                <a:path h="533400" w="5200650">
                  <a:moveTo>
                    <a:pt x="0" y="0"/>
                  </a:moveTo>
                  <a:lnTo>
                    <a:pt x="5200650" y="0"/>
                  </a:lnTo>
                  <a:lnTo>
                    <a:pt x="5200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52006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b="true" sz="2025" spc="102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COMPILER DESIGN — CT-465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18853" y="1914706"/>
            <a:ext cx="5243512" cy="857250"/>
            <a:chOff x="0" y="0"/>
            <a:chExt cx="6991350" cy="114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91350" cy="1143000"/>
            </a:xfrm>
            <a:custGeom>
              <a:avLst/>
              <a:gdLst/>
              <a:ahLst/>
              <a:cxnLst/>
              <a:rect r="r" b="b" t="t" l="l"/>
              <a:pathLst>
                <a:path h="1143000" w="6991350">
                  <a:moveTo>
                    <a:pt x="0" y="0"/>
                  </a:moveTo>
                  <a:lnTo>
                    <a:pt x="6991350" y="0"/>
                  </a:lnTo>
                  <a:lnTo>
                    <a:pt x="699135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9183" r="0" b="-6918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52400"/>
              <a:ext cx="699135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75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Thank You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47440" y="3000556"/>
            <a:ext cx="4986338" cy="457200"/>
            <a:chOff x="0" y="0"/>
            <a:chExt cx="664845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48450" cy="609600"/>
            </a:xfrm>
            <a:custGeom>
              <a:avLst/>
              <a:gdLst/>
              <a:ahLst/>
              <a:cxnLst/>
              <a:rect r="r" b="b" t="t" l="l"/>
              <a:pathLst>
                <a:path h="609600" w="6648450">
                  <a:moveTo>
                    <a:pt x="0" y="0"/>
                  </a:moveTo>
                  <a:lnTo>
                    <a:pt x="6648450" y="0"/>
                  </a:lnTo>
                  <a:lnTo>
                    <a:pt x="66484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2508" r="0" b="-1625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664845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Questions &amp; Discussion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655695" y="4255770"/>
            <a:ext cx="10970895" cy="4484370"/>
          </a:xfrm>
          <a:custGeom>
            <a:avLst/>
            <a:gdLst/>
            <a:ahLst/>
            <a:cxnLst/>
            <a:rect r="r" b="b" t="t" l="l"/>
            <a:pathLst>
              <a:path h="4484370" w="10970895">
                <a:moveTo>
                  <a:pt x="0" y="0"/>
                </a:moveTo>
                <a:lnTo>
                  <a:pt x="10970895" y="0"/>
                </a:lnTo>
                <a:lnTo>
                  <a:pt x="10970895" y="4484370"/>
                </a:lnTo>
                <a:lnTo>
                  <a:pt x="0" y="44843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040505" y="4726305"/>
            <a:ext cx="10201275" cy="518655"/>
            <a:chOff x="0" y="0"/>
            <a:chExt cx="13601700" cy="6915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601700" cy="691540"/>
            </a:xfrm>
            <a:custGeom>
              <a:avLst/>
              <a:gdLst/>
              <a:ahLst/>
              <a:cxnLst/>
              <a:rect r="r" b="b" t="t" l="l"/>
              <a:pathLst>
                <a:path h="691540" w="13601700">
                  <a:moveTo>
                    <a:pt x="0" y="0"/>
                  </a:moveTo>
                  <a:lnTo>
                    <a:pt x="13601700" y="0"/>
                  </a:lnTo>
                  <a:lnTo>
                    <a:pt x="13601700" y="691540"/>
                  </a:lnTo>
                  <a:lnTo>
                    <a:pt x="0" y="6915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9169" r="0" b="-32732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3601700" cy="7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 Lightweight Compiler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069080" y="5411934"/>
            <a:ext cx="10144125" cy="742950"/>
            <a:chOff x="0" y="0"/>
            <a:chExt cx="13525500" cy="990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525500" cy="990600"/>
            </a:xfrm>
            <a:custGeom>
              <a:avLst/>
              <a:gdLst/>
              <a:ahLst/>
              <a:cxnLst/>
              <a:rect r="r" b="b" t="t" l="l"/>
              <a:pathLst>
                <a:path h="990600" w="13525500">
                  <a:moveTo>
                    <a:pt x="0" y="0"/>
                  </a:moveTo>
                  <a:lnTo>
                    <a:pt x="13525500" y="0"/>
                  </a:lnTo>
                  <a:lnTo>
                    <a:pt x="135255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6045" r="0" b="-2160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35255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1800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A complete 6-phase compiler for a C++ subset language — from lexical analysis to virtual machine execution. Built with a single-pass architecture for embedded system efficiency.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602968" y="6497784"/>
            <a:ext cx="1700212" cy="514350"/>
            <a:chOff x="0" y="0"/>
            <a:chExt cx="2266950" cy="685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66950" cy="685800"/>
            </a:xfrm>
            <a:custGeom>
              <a:avLst/>
              <a:gdLst/>
              <a:ahLst/>
              <a:cxnLst/>
              <a:rect r="r" b="b" t="t" l="l"/>
              <a:pathLst>
                <a:path h="685800" w="2266950">
                  <a:moveTo>
                    <a:pt x="0" y="0"/>
                  </a:moveTo>
                  <a:lnTo>
                    <a:pt x="2266950" y="0"/>
                  </a:lnTo>
                  <a:lnTo>
                    <a:pt x="226695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08" r="0" b="-144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26695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38BDF8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6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660118" y="7012134"/>
            <a:ext cx="1585912" cy="285750"/>
            <a:chOff x="0" y="0"/>
            <a:chExt cx="2114550" cy="38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14550" cy="381000"/>
            </a:xfrm>
            <a:custGeom>
              <a:avLst/>
              <a:gdLst/>
              <a:ahLst/>
              <a:cxnLst/>
              <a:rect r="r" b="b" t="t" l="l"/>
              <a:pathLst>
                <a:path h="381000" w="2114550">
                  <a:moveTo>
                    <a:pt x="0" y="0"/>
                  </a:moveTo>
                  <a:lnTo>
                    <a:pt x="2114550" y="0"/>
                  </a:lnTo>
                  <a:lnTo>
                    <a:pt x="21145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141" r="0" b="-5814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145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Compiler Phases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542858" y="6497784"/>
            <a:ext cx="1385888" cy="514350"/>
            <a:chOff x="0" y="0"/>
            <a:chExt cx="1847850" cy="685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47850" cy="685800"/>
            </a:xfrm>
            <a:custGeom>
              <a:avLst/>
              <a:gdLst/>
              <a:ahLst/>
              <a:cxnLst/>
              <a:rect r="r" b="b" t="t" l="l"/>
              <a:pathLst>
                <a:path h="6858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01" r="0" b="-250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84785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34D39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100%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600008" y="7012134"/>
            <a:ext cx="1271588" cy="285750"/>
            <a:chOff x="0" y="0"/>
            <a:chExt cx="1695450" cy="38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95450" cy="381000"/>
            </a:xfrm>
            <a:custGeom>
              <a:avLst/>
              <a:gdLst/>
              <a:ahLst/>
              <a:cxnLst/>
              <a:rect r="r" b="b" t="t" l="l"/>
              <a:pathLst>
                <a:path h="381000" w="1695450">
                  <a:moveTo>
                    <a:pt x="0" y="0"/>
                  </a:moveTo>
                  <a:lnTo>
                    <a:pt x="1695450" y="0"/>
                  </a:lnTo>
                  <a:lnTo>
                    <a:pt x="1695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708" r="0" b="-367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954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Tests Passed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173948" y="6497784"/>
            <a:ext cx="1514475" cy="514350"/>
            <a:chOff x="0" y="0"/>
            <a:chExt cx="2019300" cy="685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19300" cy="685800"/>
            </a:xfrm>
            <a:custGeom>
              <a:avLst/>
              <a:gdLst/>
              <a:ahLst/>
              <a:cxnLst/>
              <a:rect r="r" b="b" t="t" l="l"/>
              <a:pathLst>
                <a:path h="6858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372" r="0" b="-737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0193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A78BFA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&lt; 4ms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31098" y="7012134"/>
            <a:ext cx="1400175" cy="285750"/>
            <a:chOff x="0" y="0"/>
            <a:chExt cx="1866900" cy="381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66900" cy="381000"/>
            </a:xfrm>
            <a:custGeom>
              <a:avLst/>
              <a:gdLst/>
              <a:ahLst/>
              <a:cxnLst/>
              <a:rect r="r" b="b" t="t" l="l"/>
              <a:pathLst>
                <a:path h="381000" w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8669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Max Execution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547247" y="7640784"/>
            <a:ext cx="1528762" cy="342900"/>
            <a:chOff x="0" y="0"/>
            <a:chExt cx="2038350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38350" cy="457200"/>
            </a:xfrm>
            <a:custGeom>
              <a:avLst/>
              <a:gdLst/>
              <a:ahLst/>
              <a:cxnLst/>
              <a:rect r="r" b="b" t="t" l="l"/>
              <a:pathLst>
                <a:path h="457200" w="2038350">
                  <a:moveTo>
                    <a:pt x="0" y="0"/>
                  </a:moveTo>
                  <a:lnTo>
                    <a:pt x="2038350" y="0"/>
                  </a:lnTo>
                  <a:lnTo>
                    <a:pt x="20383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870" r="0" b="-3687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20383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Areeba Batool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554391" y="7983684"/>
            <a:ext cx="1514475" cy="285750"/>
            <a:chOff x="0" y="0"/>
            <a:chExt cx="2019300" cy="381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19300" cy="381000"/>
            </a:xfrm>
            <a:custGeom>
              <a:avLst/>
              <a:gdLst/>
              <a:ahLst/>
              <a:cxnLst/>
              <a:rect r="r" b="b" t="t" l="l"/>
              <a:pathLst>
                <a:path h="3810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193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CT-22059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304971" y="7640784"/>
            <a:ext cx="2085975" cy="342900"/>
            <a:chOff x="0" y="0"/>
            <a:chExt cx="2781300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781300" cy="457200"/>
            </a:xfrm>
            <a:custGeom>
              <a:avLst/>
              <a:gdLst/>
              <a:ahLst/>
              <a:cxnLst/>
              <a:rect r="r" b="b" t="t" l="l"/>
              <a:pathLst>
                <a:path h="457200" w="2781300">
                  <a:moveTo>
                    <a:pt x="0" y="0"/>
                  </a:moveTo>
                  <a:lnTo>
                    <a:pt x="2781300" y="0"/>
                  </a:lnTo>
                  <a:lnTo>
                    <a:pt x="27813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8533" r="0" b="-6853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27813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Syeda Shinza Wasif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312115" y="7983684"/>
            <a:ext cx="2071688" cy="285750"/>
            <a:chOff x="0" y="0"/>
            <a:chExt cx="2762250" cy="381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62250" cy="381000"/>
            </a:xfrm>
            <a:custGeom>
              <a:avLst/>
              <a:gdLst/>
              <a:ahLst/>
              <a:cxnLst/>
              <a:rect r="r" b="b" t="t" l="l"/>
              <a:pathLst>
                <a:path h="381000" w="2762250">
                  <a:moveTo>
                    <a:pt x="0" y="0"/>
                  </a:moveTo>
                  <a:lnTo>
                    <a:pt x="2762250" y="0"/>
                  </a:lnTo>
                  <a:lnTo>
                    <a:pt x="2762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7622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CT-22063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626509" y="7640784"/>
            <a:ext cx="1114425" cy="342900"/>
            <a:chOff x="0" y="0"/>
            <a:chExt cx="1485900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85900" cy="457200"/>
            </a:xfrm>
            <a:custGeom>
              <a:avLst/>
              <a:gdLst/>
              <a:ahLst/>
              <a:cxnLst/>
              <a:rect r="r" b="b" t="t" l="l"/>
              <a:pathLst>
                <a:path h="4572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14859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1F5F9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Asifa Siraj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633653" y="7983684"/>
            <a:ext cx="1100138" cy="285750"/>
            <a:chOff x="0" y="0"/>
            <a:chExt cx="1466850" cy="381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6850" cy="381000"/>
            </a:xfrm>
            <a:custGeom>
              <a:avLst/>
              <a:gdLst/>
              <a:ahLst/>
              <a:cxnLst/>
              <a:rect r="r" b="b" t="t" l="l"/>
              <a:pathLst>
                <a:path h="381000" w="1466850">
                  <a:moveTo>
                    <a:pt x="0" y="0"/>
                  </a:moveTo>
                  <a:lnTo>
                    <a:pt x="1466850" y="0"/>
                  </a:lnTo>
                  <a:lnTo>
                    <a:pt x="1466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017" r="0" b="-2501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466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CT-22070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909310" y="9195264"/>
            <a:ext cx="6472238" cy="285750"/>
            <a:chOff x="0" y="0"/>
            <a:chExt cx="8629650" cy="381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629650" cy="381000"/>
            </a:xfrm>
            <a:custGeom>
              <a:avLst/>
              <a:gdLst/>
              <a:ahLst/>
              <a:cxnLst/>
              <a:rect r="r" b="b" t="t" l="l"/>
              <a:pathLst>
                <a:path h="381000" w="8629650">
                  <a:moveTo>
                    <a:pt x="0" y="0"/>
                  </a:moveTo>
                  <a:lnTo>
                    <a:pt x="8629650" y="0"/>
                  </a:lnTo>
                  <a:lnTo>
                    <a:pt x="86296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1336" r="0" b="-39133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6296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F1F5F9"/>
                  </a:solidFill>
                  <a:latin typeface="Literaturnaya"/>
                  <a:ea typeface="Literaturnaya"/>
                  <a:cs typeface="Literaturnaya"/>
                  <a:sym typeface="Literaturnaya"/>
                </a:rPr>
                <a:t>Department of Computer Science &amp; Information Technology • April 2026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DAHHTwJ07bw</dc:identifier>
  <dcterms:modified xsi:type="dcterms:W3CDTF">2011-08-01T06:04:30Z</dcterms:modified>
  <cp:revision>1</cp:revision>
  <dc:title>ABC Tech Lightweight Compiler (2) (1).pptx</dc:title>
</cp:coreProperties>
</file>